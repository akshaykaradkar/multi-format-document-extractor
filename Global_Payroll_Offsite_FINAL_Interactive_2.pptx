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s/slide28.xml" ContentType="application/vnd.openxmlformats-officedocument.presentationml.slide+xml"/>
  <Override PartName="/ppt/slides/slide29.xml" ContentType="application/vnd.openxmlformats-officedocument.presentationml.slide+xml"/>
  <Override PartName="/ppt/notesSlides/notesSlide28.xml" ContentType="application/vnd.openxmlformats-officedocument.presentationml.notesSlid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1"/>
  </p:notesMasterIdLst>
  <p:sldIdLst>
    <p:sldId id="256" r:id="rId2"/>
    <p:sldId id="257" r:id="rId26"/>
    <p:sldId id="258" r:id="rId3"/>
    <p:sldId id="259" r:id="rId4"/>
    <p:sldId id="260" r:id="rId5"/>
    <p:sldId id="261" r:id="rId6"/>
    <p:sldId id="262" r:id="rId7"/>
    <p:sldId id="263" r:id="rId34"/>
    <p:sldId id="264" r:id="rId10"/>
    <p:sldId id="265" r:id="rId27"/>
    <p:sldId id="266" r:id="rId28"/>
    <p:sldId id="267" r:id="rId11"/>
    <p:sldId id="268" r:id="rId12"/>
    <p:sldId id="269" r:id="rId13"/>
    <p:sldId id="270" r:id="rId35"/>
    <p:sldId id="271" r:id="rId16"/>
    <p:sldId id="272" r:id="rId29"/>
    <p:sldId id="273" r:id="rId32"/>
    <p:sldId id="274" r:id="rId33"/>
    <p:sldId id="275" r:id="rId17"/>
    <p:sldId id="276" r:id="rId18"/>
    <p:sldId id="277" r:id="rId19"/>
    <p:sldId id="278" r:id="rId8"/>
    <p:sldId id="279" r:id="rId9"/>
    <p:sldId id="280" r:id="rId14"/>
    <p:sldId id="281" r:id="rId15"/>
    <p:sldId id="282" r:id="rId20"/>
    <p:sldId id="283" r:id="rId30"/>
    <p:sldId id="284" r:id="rId31"/>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Open BEFORE the clicker: 'Show of hands - who checked their salary landed this month? Nobody? That's the point. Payroll's greatest achievement is going unnoticed.' Announce the prize AND the format up front: 'One big quiz at the very END, three rounds, real prize - no pens needed until then. Everything in between is shout-outs and hands.' Two halves today: the payroll month behind the scenes, then the automation journey.</a:t>
            </a: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THE REVEAL. Go fast, reveal left to right. Save '1 payroll team' for LAST - it's the punchline: 13 geographies, 9 currencies, 10 platforms... one team. 'This slide is why the rest of this presentation exists.'</a:t>
            </a:r>
          </a:p>
        </p:txBody>
      </p:sp>
      <p:sp>
        <p:nvSpPr>
          <p:cNvPr id="34" name="Google Shape;3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Fun icebreaker. From beer wages in Egypt to salt money in Rome - payroll is one of humanity's oldest professions. And it has always been about trust: people show up because payday is a promise.</a:t>
            </a:r>
            <a:endParaRPr/>
          </a:p>
        </p:txBody>
      </p:sp>
      <p:sp>
        <p:nvSpPr>
          <p:cNvPr id="80" name="Google Shape;8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Ask first: 'What's the FIRST date in our payroll month?' Most guess the 1st - it's the 16th of the PREVIOUS month. The payroll 'day' is a rolling month; the loop never stops, which is why every hour automation saves comes back every single month. Every date is a hard deadline.</a:t>
            </a:r>
          </a:p>
        </p:txBody>
      </p:sp>
      <p:sp>
        <p:nvSpPr>
          <p:cNvPr id="120" name="Google Shape;12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Payroll quality is decided here, before any calculation. One anonymised story: tiny input, big consequence (a wrong effective date creating months of arrears). Tone is 'this is why we verify', never blame. Raise of hands: 'Who has submitted an input after cutoff and hoped nobody would notice?'</a:t>
            </a:r>
          </a:p>
        </p:txBody>
      </p:sp>
      <p:sp>
        <p:nvSpPr>
          <p:cNvPr id="149" name="Google Shape;14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Poll before highlighting: 'Which model eats the most team hours?' Frame as risk/control trade-off: outsource the work, keep the accountability. Nuance if asked: EOR/admin models don't move legal obligations - e.g. in Spain, statutory filings and deadlines remain legally ours even with Remote administering payroll.</a:t>
            </a:r>
          </a:p>
        </p:txBody>
      </p:sp>
      <p:sp>
        <p:nvSpPr>
          <p:cNvPr id="182" name="Google Shape;18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ROUND 1 of the Big Quiz - hand out answer sheets NOW (first and only time pens appear). Teams get 2 minutes to match all five clues; the country list is on the slide. Belgium reveal on the next slide is the flex moment.</a:t>
            </a:r>
          </a:p>
        </p:txBody>
      </p:sp>
      <p:sp>
        <p:nvSpPr>
          <p:cNvPr id="204" name="Google Shape;20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Bonus fact for the room: all of this lives in the Nivoda Global Payroll FAQ on Drive - one page per country.</a:t>
            </a:r>
            <a:endParaRPr/>
          </a:p>
        </p:txBody>
      </p:sp>
      <p:sp>
        <p:nvSpPr>
          <p:cNvPr id="238" name="Google Shape;23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quality gate. Taxes are cross-checked against official government sources, and headcount is reconciled to HiBob so nobody is missed.</a:t>
            </a:r>
            <a:endParaRPr/>
          </a:p>
        </p:txBody>
      </p:sp>
      <p:sp>
        <p:nvSpPr>
          <p:cNvPr id="271" name="Google Shape;2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Remote and Native Teams invoices are paid per invoice date on top of these. Multiple currencies per account (e.g., NatWest holds GBP, EUR, USD).</a:t>
            </a:r>
            <a:endParaRPr/>
          </a:p>
        </p:txBody>
      </p:sp>
      <p:sp>
        <p:nvSpPr>
          <p:cNvPr id="306" name="Google Shape;30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where payroll meets Finance &amp; Fin-OS directly: journals, cost booking and ledgers. Steps 2 and 3 are exactly what we plan to automate next.</a:t>
            </a:r>
            <a:endParaRPr/>
          </a:p>
        </p:txBody>
      </p:sp>
      <p:sp>
        <p:nvSpPr>
          <p:cNvPr id="346" name="Google Shape;34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takeaway for cross-functional teams: deadlines and the FAQ. The Nivoda Global Payroll FAQ answers 90% of questions before they reach the payroll inbox.</a:t>
            </a:r>
            <a:endParaRPr/>
          </a:p>
        </p:txBody>
      </p:sp>
      <p:sp>
        <p:nvSpPr>
          <p:cNvPr id="373" name="Google Shape;37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Quick-fire, 30 seconds. Q3 caveat if asked: unlimited at the policy level; statutory minimums still apply per country and can carry termination-payout implications - log leave on HiBob. Q4 catches almost everyone.</a:t>
            </a:r>
          </a:p>
        </p:txBody>
      </p:sp>
      <p:sp>
        <p:nvSpPr>
          <p:cNvPr id="401" name="Google Shape;40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Number 4 catches almost everyone. Hong Kong employees settle salaries tax directly with the IRD once a year.</a:t>
            </a:r>
            <a:endParaRPr/>
          </a:p>
        </p:txBody>
      </p:sp>
      <p:sp>
        <p:nvSpPr>
          <p:cNvPr id="435" name="Google Shape;43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Chapter 1 is live: contractor invoice data collation. The lesson - automate the collation, keep the human on review - is the template for everything that follows.</a:t>
            </a:r>
            <a:endParaRPr/>
          </a:p>
        </p:txBody>
      </p:sp>
      <p:sp>
        <p:nvSpPr>
          <p:cNvPr id="463" name="Google Shape;46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Why India first: fully in-house on Paybooks, standardised format, monthly cycle. Why USA second: highest frequency, clean structured Gusto exports, and the error catalogue from the previous slide becomes the validation rule-set. Nothing posts anywhere without a named human approving.</a:t>
            </a:r>
          </a:p>
        </p:txBody>
      </p:sp>
      <p:sp>
        <p:nvSpPr>
          <p:cNvPr id="481" name="Google Shape;48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1" name="Google Shape;50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Pre-empt the two real questions: (1) Audit trail - journals land as drafts/pending approval, NetSuite's native approval workflow and audit log untouched; automation changes who PREPARES, never who APPROVES. Say the guardrail twice. (2) What if the working is wrong - same as today: review catches it, with full attention available.</a:t>
            </a:r>
          </a:p>
        </p:txBody>
      </p:sp>
      <p:sp>
        <p:nvSpPr>
          <p:cNvPr id="502" name="Google Shape;50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Call back: 'Remember the slide I asked you to remember? Steps 2 and 3? This is the plan that retires them.' Then the direct ask by name: Fin-OS partnership on the NetSuite pilot; Finance input on journal formats and controls. Reflection seed: 'What's the most repetitive thing YOUR team does monthly? This recipe isn't payroll-specific.'</a:t>
            </a:r>
          </a:p>
        </p:txBody>
      </p:sp>
      <p:sp>
        <p:nvSpPr>
          <p:cNvPr id="526" name="Google Shape;52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9" name="Google Shape;55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ROUND 3 - rapid recap, same sheets. All six answers were on today's slides. After this round, teams swap sheets, mark all three rounds together, and the winner is crowned before the closing slide.</a:t>
            </a:r>
          </a:p>
        </p:txBody>
      </p:sp>
      <p:sp>
        <p:nvSpPr>
          <p:cNvPr id="560" name="Google Shape;56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GUESSING GAME: cover-reveal. Ask the room to shout guesses for each stat before revealing on the next slide. 15 seconds per number. Milk the gap between guesses and reality ('Someone said five currencies. Bless you.'). Do NOT reveal answers here.</a:t>
            </a: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SPOT THE ERROR - the ONLY mid-deck game, so give it energy. No pens: shout-outs only. 60 seconds, teams call out line numbers. Answers: line 1 (June has 30 days), line 2 (leaver must be prorated), line 4 (employer pension cannot be zero). Landing line: 'You just did our afternoon - now imagine every employee, every entity, every month.'</a:t>
            </a: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Reveal one at a time. Emphasise: none of these were calculation errors - all caught by a human reading line by line. 'Hold that thought for the automation section.'</a:t>
            </a: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Ground this in this year's USA reconciliation work (keep it nameless): reconciling the Gusto consolidated working against NetSuite across six GLs, month by month, the SAME three fault patterns kept recurring. Punchline: 'When you can name the error before you open the file, you've written the automation spec without meaning to.' Quick maths moment: 'Monthly = 12 closes a year. Bi-weekly = ?' - let the room say 26.</a:t>
            </a: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Score fast: teams swap sheets and mark each other. Reveal Q5&amp;6 LAST and land on the golden rule - the room recites the thesis to win a prize. Then: 'Half one: payday is a promise. Half two: the control stays human, the drudgery doesn't. That's the whole talk.'</a:t>
            </a: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Thirty seconds. Don't read the lines - point at each, one sentence each. End on the ask (Fin-OS pilot partnership, Finance journal formats), then applause and out. No jokes on this slide - jokes near the ask undercut it.</a:t>
            </a: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INTERACTIVE opener: 'Guess - how many pay runs does the USA have in a month?' Most say two. Answer: 3-4 - two bi-weekly runs PLUS off-cycles (severances, joiner corrections, fix-runs). Then the before/after. Emphasise the column-mapping point: Gusto genuinely reorders and inserts columns between exports, so the automation maps by HEADER NAME, never position - a human doing this by eye is exactly where errors crept in. Joke: 'The pipeline has one hard rule - if it meets a name it doesn't recognise, it stops and asks. Which makes it more cautious than most of us on a Friday.'</a:t>
            </a: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Walk the four outputs left to right: Working (per-employee restructure), NS JV (sub-department pivot + journal that ties debits = credits = Gusto employer cost), Consolidated (all runs merged monthly - this is what we reconcile to the NetSuite GL), Headcount (joiners/leavers flagged; unknown names halt the pipeline). Land the strip question, then the answer: three hard checks EVERY run, and a human still reviews and approves before anything posts. Bridge to next slide: 'This recipe is now the template - India is next.'</a:t>
            </a: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MEME BREAK - read two or three aloud, let the room read the rest. The CTC vs in-hand card is the guaranteed laugh with an Indian audience; pause on it. January panic is the second-biggest hit. Keep it moving - 60 to 90 seconds total, this is a palate cleanser between the operating models and the verification section. No scoring, no pens.</a:t>
            </a: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a:t>PAYROLL BINGO - hands up per square, count the best scores out loud. Scoring patter: '3 or more squares - you are the reason cut-offs exist. All six - please come collect your commemorative pen after the session.' Great post-content energy lift before the automation act. Total time: 2 minutes. No paper - hands only.</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4.png"/><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15"/>
        <p:cNvGrpSpPr/>
        <p:nvPr/>
      </p:nvGrpSpPr>
      <p:grpSpPr>
        <a:xfrm>
          <a:off x="0" y="0"/>
          <a:ext cx="0" cy="0"/>
          <a:chOff x="0" y="0"/>
          <a:chExt cx="0" cy="0"/>
        </a:xfrm>
      </p:grpSpPr>
      <p:sp>
        <p:nvSpPr>
          <p:cNvPr id="16" name="Google Shape;16;p3"/>
          <p:cNvSpPr/>
          <p:nvPr/>
        </p:nvSpPr>
        <p:spPr>
          <a:xfrm>
            <a:off x="6537960" y="-1371600"/>
            <a:ext cx="4206240" cy="4206240"/>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1188720" y="3657600"/>
            <a:ext cx="3108960" cy="3108960"/>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6126480" y="4206240"/>
            <a:ext cx="118872" cy="118872"/>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6492240" y="822960"/>
            <a:ext cx="118872" cy="118872"/>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5897880" y="1554480"/>
            <a:ext cx="118872" cy="118872"/>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778240" y="4297680"/>
            <a:ext cx="118872" cy="118872"/>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8138160" y="4709160"/>
            <a:ext cx="118872" cy="118872"/>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6309360" y="4572000"/>
            <a:ext cx="118872" cy="118872"/>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Google Shape;24;p3" descr="preencoded.png"/>
          <p:cNvPicPr preferRelativeResize="0"/>
          <p:nvPr/>
        </p:nvPicPr>
        <p:blipFill rotWithShape="1">
          <a:blip r:embed="rId3">
            <a:alphaModFix/>
          </a:blip>
          <a:srcRect/>
          <a:stretch/>
        </p:blipFill>
        <p:spPr>
          <a:xfrm>
            <a:off x="6446520" y="1417320"/>
            <a:ext cx="2377440" cy="2157984"/>
          </a:xfrm>
          <a:prstGeom prst="rect">
            <a:avLst/>
          </a:prstGeom>
          <a:noFill/>
          <a:ln>
            <a:noFill/>
          </a:ln>
        </p:spPr>
      </p:pic>
      <p:sp>
        <p:nvSpPr>
          <p:cNvPr id="25" name="Google Shape;25;p3"/>
          <p:cNvSpPr/>
          <p:nvPr/>
        </p:nvSpPr>
        <p:spPr>
          <a:xfrm>
            <a:off x="502920" y="566928"/>
            <a:ext cx="777240" cy="777240"/>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 name="Google Shape;26;p3" descr="preencoded.png"/>
          <p:cNvPicPr preferRelativeResize="0"/>
          <p:nvPr/>
        </p:nvPicPr>
        <p:blipFill rotWithShape="1">
          <a:blip r:embed="rId4">
            <a:alphaModFix/>
          </a:blip>
          <a:srcRect/>
          <a:stretch/>
        </p:blipFill>
        <p:spPr>
          <a:xfrm>
            <a:off x="690372" y="754380"/>
            <a:ext cx="402336" cy="402336"/>
          </a:xfrm>
          <a:prstGeom prst="rect">
            <a:avLst/>
          </a:prstGeom>
          <a:noFill/>
          <a:ln>
            <a:noFill/>
          </a:ln>
        </p:spPr>
      </p:pic>
      <p:sp>
        <p:nvSpPr>
          <p:cNvPr id="27" name="Google Shape;27;p3"/>
          <p:cNvSpPr/>
          <p:nvPr/>
        </p:nvSpPr>
        <p:spPr>
          <a:xfrm>
            <a:off x="502920" y="1627632"/>
            <a:ext cx="81381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300"/>
              <a:buFont typeface="Calibri"/>
              <a:buNone/>
            </a:pPr>
            <a:r>
              <a:rPr lang="en-US" sz="1300" b="1" i="0" u="none" strike="noStrike" cap="none">
                <a:solidFill>
                  <a:srgbClr val="C9A227"/>
                </a:solidFill>
                <a:latin typeface="Calibri"/>
                <a:ea typeface="Calibri"/>
                <a:cs typeface="Calibri"/>
                <a:sym typeface="Calibri"/>
              </a:rPr>
              <a:t>FINANCE &amp; FIN-OS OFFSITE  |  JULY 2026</a:t>
            </a:r>
            <a:endParaRPr sz="1300" b="0" i="0" u="none" strike="noStrike" cap="none">
              <a:solidFill>
                <a:schemeClr val="dk1"/>
              </a:solidFill>
              <a:latin typeface="Calibri"/>
              <a:ea typeface="Calibri"/>
              <a:cs typeface="Calibri"/>
              <a:sym typeface="Calibri"/>
            </a:endParaRPr>
          </a:p>
        </p:txBody>
      </p:sp>
      <p:sp>
        <p:nvSpPr>
          <p:cNvPr id="28" name="Google Shape;28;p3"/>
          <p:cNvSpPr/>
          <p:nvPr/>
        </p:nvSpPr>
        <p:spPr>
          <a:xfrm>
            <a:off x="502920" y="1938528"/>
            <a:ext cx="6035040" cy="14813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400"/>
              <a:buFont typeface="Cambria"/>
              <a:buNone/>
            </a:pPr>
            <a:r>
              <a:rPr lang="en-US" sz="4400" b="1" i="0" u="none" strike="noStrike" cap="none">
                <a:solidFill>
                  <a:srgbClr val="FFFFFF"/>
                </a:solidFill>
                <a:latin typeface="Cambria"/>
                <a:ea typeface="Cambria"/>
                <a:cs typeface="Cambria"/>
                <a:sym typeface="Cambria"/>
              </a:rPr>
              <a:t>A Day in the Life of</a:t>
            </a:r>
            <a:endParaRPr sz="4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4400"/>
              <a:buFont typeface="Cambria"/>
              <a:buNone/>
            </a:pPr>
            <a:r>
              <a:rPr lang="en-US" sz="4400" b="1" i="0" u="none" strike="noStrike" cap="none">
                <a:solidFill>
                  <a:srgbClr val="FFFFFF"/>
                </a:solidFill>
                <a:latin typeface="Cambria"/>
                <a:ea typeface="Cambria"/>
                <a:cs typeface="Cambria"/>
                <a:sym typeface="Cambria"/>
              </a:rPr>
              <a:t>Global Payroll</a:t>
            </a:r>
            <a:endParaRPr sz="4400" b="0" i="0" u="none" strike="noStrike" cap="none">
              <a:solidFill>
                <a:schemeClr val="dk1"/>
              </a:solidFill>
              <a:latin typeface="Calibri"/>
              <a:ea typeface="Calibri"/>
              <a:cs typeface="Calibri"/>
              <a:sym typeface="Calibri"/>
            </a:endParaRPr>
          </a:p>
        </p:txBody>
      </p:sp>
      <p:sp>
        <p:nvSpPr>
          <p:cNvPr id="29" name="Google Shape;29;p3"/>
          <p:cNvSpPr/>
          <p:nvPr/>
        </p:nvSpPr>
        <p:spPr>
          <a:xfrm>
            <a:off x="502920" y="3474720"/>
            <a:ext cx="60350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2200"/>
              <a:buFont typeface="Cambria"/>
              <a:buNone/>
            </a:pPr>
            <a:r>
              <a:rPr lang="en-US" sz="2200" b="0" i="1" u="none" strike="noStrike" cap="none">
                <a:solidFill>
                  <a:srgbClr val="CADCFC"/>
                </a:solidFill>
                <a:latin typeface="Cambria"/>
                <a:ea typeface="Cambria"/>
                <a:cs typeface="Cambria"/>
                <a:sym typeface="Cambria"/>
              </a:rPr>
              <a:t>...and our Payroll Automation Journey</a:t>
            </a:r>
            <a:endParaRPr sz="2200" b="0" i="0" u="none" strike="noStrike" cap="none">
              <a:solidFill>
                <a:schemeClr val="dk1"/>
              </a:solidFill>
              <a:latin typeface="Calibri"/>
              <a:ea typeface="Calibri"/>
              <a:cs typeface="Calibri"/>
              <a:sym typeface="Calibri"/>
            </a:endParaRPr>
          </a:p>
        </p:txBody>
      </p:sp>
      <p:sp>
        <p:nvSpPr>
          <p:cNvPr id="30" name="Google Shape;30;p3"/>
          <p:cNvSpPr/>
          <p:nvPr/>
        </p:nvSpPr>
        <p:spPr>
          <a:xfrm>
            <a:off x="502920" y="4315968"/>
            <a:ext cx="81381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300"/>
              <a:buFont typeface="Calibri"/>
              <a:buNone/>
            </a:pPr>
            <a:r>
              <a:rPr lang="en-US" sz="1300" b="0" i="0" u="none" strike="noStrike" cap="none">
                <a:solidFill>
                  <a:srgbClr val="CADCFC"/>
                </a:solidFill>
                <a:latin typeface="Calibri"/>
                <a:ea typeface="Calibri"/>
                <a:cs typeface="Calibri"/>
                <a:sym typeface="Calibri"/>
              </a:rPr>
              <a:t>Prabha Gupta  ·  Senior Manager - Payroll  ·  Nivoda</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
        <p:cNvGrpSpPr/>
        <p:nvPr/>
      </p:nvGrpSpPr>
      <p:grpSpPr>
        <a:xfrm>
          <a:off x="0" y="0"/>
          <a:ext cx="0" cy="0"/>
          <a:chOff x="0" y="0"/>
          <a:chExt cx="0" cy="0"/>
        </a:xfrm>
      </p:grpSpPr>
      <p:sp>
        <p:nvSpPr>
          <p:cNvPr id="36" name="Google Shape;36;p4"/>
          <p:cNvSpPr/>
          <p:nvPr/>
        </p:nvSpPr>
        <p:spPr>
          <a:xfrm>
            <a:off x="457200" y="384048"/>
            <a:ext cx="566928" cy="566928"/>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4"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8" name="Google Shape;38;p4"/>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WARM-UP · THE REVEAL</a:t>
            </a:r>
            <a:endParaRPr sz="1100" b="0" i="0" u="none" strike="noStrike" cap="none">
              <a:solidFill>
                <a:schemeClr val="dk1"/>
              </a:solidFill>
              <a:latin typeface="Calibri"/>
              <a:ea typeface="Calibri"/>
              <a:cs typeface="Calibri"/>
              <a:sym typeface="Calibri"/>
            </a:endParaRPr>
          </a:p>
        </p:txBody>
      </p:sp>
      <p:sp>
        <p:nvSpPr>
          <p:cNvPr id="39" name="Google Shape;39;p4"/>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Global Payroll, by the Numbers</a:t>
            </a:r>
            <a:endParaRPr sz="2900" b="0" i="0" u="none" strike="noStrike" cap="none">
              <a:solidFill>
                <a:schemeClr val="dk1"/>
              </a:solidFill>
              <a:latin typeface="Calibri"/>
              <a:ea typeface="Calibri"/>
              <a:cs typeface="Calibri"/>
              <a:sym typeface="Calibri"/>
            </a:endParaRPr>
          </a:p>
        </p:txBody>
      </p:sp>
      <p:sp>
        <p:nvSpPr>
          <p:cNvPr id="40" name="Google Shape;40;p4"/>
          <p:cNvSpPr/>
          <p:nvPr/>
        </p:nvSpPr>
        <p:spPr>
          <a:xfrm>
            <a:off x="502920" y="1481328"/>
            <a:ext cx="2606040" cy="1481328"/>
          </a:xfrm>
          <a:prstGeom prst="roundRect">
            <a:avLst>
              <a:gd name="adj" fmla="val 5556"/>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667512" y="1591056"/>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4000"/>
              <a:buFont typeface="Cambria"/>
              <a:buNone/>
            </a:pPr>
            <a:r>
              <a:rPr lang="en-US" sz="4000" b="1" i="0" u="none" strike="noStrike" cap="none">
                <a:solidFill>
                  <a:srgbClr val="028090"/>
                </a:solidFill>
                <a:latin typeface="Cambria"/>
                <a:ea typeface="Cambria"/>
                <a:cs typeface="Cambria"/>
                <a:sym typeface="Cambria"/>
              </a:rPr>
              <a:t>13</a:t>
            </a:r>
            <a:endParaRPr sz="4000" b="0" i="0" u="none" strike="noStrike" cap="none">
              <a:solidFill>
                <a:schemeClr val="dk1"/>
              </a:solidFill>
              <a:latin typeface="Calibri"/>
              <a:ea typeface="Calibri"/>
              <a:cs typeface="Calibri"/>
              <a:sym typeface="Calibri"/>
            </a:endParaRPr>
          </a:p>
        </p:txBody>
      </p:sp>
      <p:sp>
        <p:nvSpPr>
          <p:cNvPr id="42" name="Google Shape;42;p4"/>
          <p:cNvSpPr/>
          <p:nvPr/>
        </p:nvSpPr>
        <p:spPr>
          <a:xfrm>
            <a:off x="2532888" y="1645920"/>
            <a:ext cx="420624" cy="42062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 name="Google Shape;43;p4" descr="preencoded.png"/>
          <p:cNvPicPr preferRelativeResize="0"/>
          <p:nvPr/>
        </p:nvPicPr>
        <p:blipFill rotWithShape="1">
          <a:blip r:embed="rId3">
            <a:alphaModFix/>
          </a:blip>
          <a:srcRect/>
          <a:stretch/>
        </p:blipFill>
        <p:spPr>
          <a:xfrm>
            <a:off x="2638044" y="1751076"/>
            <a:ext cx="210312" cy="210312"/>
          </a:xfrm>
          <a:prstGeom prst="rect">
            <a:avLst/>
          </a:prstGeom>
          <a:noFill/>
          <a:ln>
            <a:noFill/>
          </a:ln>
        </p:spPr>
      </p:pic>
      <p:sp>
        <p:nvSpPr>
          <p:cNvPr id="44" name="Google Shape;44;p4"/>
          <p:cNvSpPr/>
          <p:nvPr/>
        </p:nvSpPr>
        <p:spPr>
          <a:xfrm>
            <a:off x="667512" y="2249424"/>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payroll geographies</a:t>
            </a:r>
            <a:endParaRPr sz="1300" b="0" i="0" u="none" strike="noStrike" cap="none">
              <a:solidFill>
                <a:schemeClr val="dk1"/>
              </a:solidFill>
              <a:latin typeface="Calibri"/>
              <a:ea typeface="Calibri"/>
              <a:cs typeface="Calibri"/>
              <a:sym typeface="Calibri"/>
            </a:endParaRPr>
          </a:p>
        </p:txBody>
      </p:sp>
      <p:sp>
        <p:nvSpPr>
          <p:cNvPr id="45" name="Google Shape;45;p4"/>
          <p:cNvSpPr/>
          <p:nvPr/>
        </p:nvSpPr>
        <p:spPr>
          <a:xfrm>
            <a:off x="667512" y="2514600"/>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from India to South Africa</a:t>
            </a:r>
            <a:endParaRPr sz="1000" b="0" i="0" u="none" strike="noStrike" cap="none">
              <a:solidFill>
                <a:schemeClr val="dk1"/>
              </a:solidFill>
              <a:latin typeface="Calibri"/>
              <a:ea typeface="Calibri"/>
              <a:cs typeface="Calibri"/>
              <a:sym typeface="Calibri"/>
            </a:endParaRPr>
          </a:p>
        </p:txBody>
      </p:sp>
      <p:sp>
        <p:nvSpPr>
          <p:cNvPr id="46" name="Google Shape;46;p4"/>
          <p:cNvSpPr/>
          <p:nvPr/>
        </p:nvSpPr>
        <p:spPr>
          <a:xfrm>
            <a:off x="3291840" y="1481328"/>
            <a:ext cx="2606040" cy="1481328"/>
          </a:xfrm>
          <a:prstGeom prst="roundRect">
            <a:avLst>
              <a:gd name="adj" fmla="val 5556"/>
            </a:avLst>
          </a:prstGeom>
          <a:solidFill>
            <a:srgbClr val="FBF6E7"/>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3456432" y="1591056"/>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4000"/>
              <a:buFont typeface="Cambria"/>
              <a:buNone/>
            </a:pPr>
            <a:r>
              <a:rPr lang="en-US" sz="4000" b="1" i="0" u="none" strike="noStrike" cap="none">
                <a:solidFill>
                  <a:srgbClr val="8F7115"/>
                </a:solidFill>
                <a:latin typeface="Cambria"/>
                <a:ea typeface="Cambria"/>
                <a:cs typeface="Cambria"/>
                <a:sym typeface="Cambria"/>
              </a:rPr>
              <a:t>9+</a:t>
            </a:r>
            <a:endParaRPr sz="4000" b="0" i="0" u="none" strike="noStrike" cap="none">
              <a:solidFill>
                <a:schemeClr val="dk1"/>
              </a:solidFill>
              <a:latin typeface="Calibri"/>
              <a:ea typeface="Calibri"/>
              <a:cs typeface="Calibri"/>
              <a:sym typeface="Calibri"/>
            </a:endParaRPr>
          </a:p>
        </p:txBody>
      </p:sp>
      <p:sp>
        <p:nvSpPr>
          <p:cNvPr id="48" name="Google Shape;48;p4"/>
          <p:cNvSpPr/>
          <p:nvPr/>
        </p:nvSpPr>
        <p:spPr>
          <a:xfrm>
            <a:off x="5321808" y="1645920"/>
            <a:ext cx="420624" cy="42062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Google Shape;49;p4" descr="preencoded.png"/>
          <p:cNvPicPr preferRelativeResize="0"/>
          <p:nvPr/>
        </p:nvPicPr>
        <p:blipFill rotWithShape="1">
          <a:blip r:embed="rId4">
            <a:alphaModFix/>
          </a:blip>
          <a:srcRect/>
          <a:stretch/>
        </p:blipFill>
        <p:spPr>
          <a:xfrm>
            <a:off x="5426964" y="1751076"/>
            <a:ext cx="210312" cy="210312"/>
          </a:xfrm>
          <a:prstGeom prst="rect">
            <a:avLst/>
          </a:prstGeom>
          <a:noFill/>
          <a:ln>
            <a:noFill/>
          </a:ln>
        </p:spPr>
      </p:pic>
      <p:sp>
        <p:nvSpPr>
          <p:cNvPr id="50" name="Google Shape;50;p4"/>
          <p:cNvSpPr/>
          <p:nvPr/>
        </p:nvSpPr>
        <p:spPr>
          <a:xfrm>
            <a:off x="3456432" y="2249424"/>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currencies paid</a:t>
            </a:r>
            <a:endParaRPr sz="1300" b="0" i="0" u="none" strike="noStrike" cap="none">
              <a:solidFill>
                <a:schemeClr val="dk1"/>
              </a:solidFill>
              <a:latin typeface="Calibri"/>
              <a:ea typeface="Calibri"/>
              <a:cs typeface="Calibri"/>
              <a:sym typeface="Calibri"/>
            </a:endParaRPr>
          </a:p>
        </p:txBody>
      </p:sp>
      <p:sp>
        <p:nvSpPr>
          <p:cNvPr id="51" name="Google Shape;51;p4"/>
          <p:cNvSpPr/>
          <p:nvPr/>
        </p:nvSpPr>
        <p:spPr>
          <a:xfrm>
            <a:off x="3456432" y="2514600"/>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INR · GBP · USD · EUR · AUD · HKD &amp; more</a:t>
            </a:r>
            <a:endParaRPr sz="1000" b="0" i="0" u="none" strike="noStrike" cap="none">
              <a:solidFill>
                <a:schemeClr val="dk1"/>
              </a:solidFill>
              <a:latin typeface="Calibri"/>
              <a:ea typeface="Calibri"/>
              <a:cs typeface="Calibri"/>
              <a:sym typeface="Calibri"/>
            </a:endParaRPr>
          </a:p>
        </p:txBody>
      </p:sp>
      <p:sp>
        <p:nvSpPr>
          <p:cNvPr id="52" name="Google Shape;52;p4"/>
          <p:cNvSpPr/>
          <p:nvPr/>
        </p:nvSpPr>
        <p:spPr>
          <a:xfrm>
            <a:off x="6080760" y="1481328"/>
            <a:ext cx="2606040" cy="1481328"/>
          </a:xfrm>
          <a:prstGeom prst="roundRect">
            <a:avLst>
              <a:gd name="adj" fmla="val 5556"/>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6245352" y="1591056"/>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AB6"/>
              </a:buClr>
              <a:buSzPts val="4000"/>
              <a:buFont typeface="Cambria"/>
              <a:buNone/>
            </a:pPr>
            <a:r>
              <a:rPr lang="en-US" sz="4000" b="1" i="0" u="none" strike="noStrike" cap="none">
                <a:solidFill>
                  <a:srgbClr val="6C4AB6"/>
                </a:solidFill>
                <a:latin typeface="Cambria"/>
                <a:ea typeface="Cambria"/>
                <a:cs typeface="Cambria"/>
                <a:sym typeface="Cambria"/>
              </a:rPr>
              <a:t>10</a:t>
            </a:r>
            <a:endParaRPr sz="4000" b="0" i="0" u="none" strike="noStrike" cap="none">
              <a:solidFill>
                <a:schemeClr val="dk1"/>
              </a:solidFill>
              <a:latin typeface="Calibri"/>
              <a:ea typeface="Calibri"/>
              <a:cs typeface="Calibri"/>
              <a:sym typeface="Calibri"/>
            </a:endParaRPr>
          </a:p>
        </p:txBody>
      </p:sp>
      <p:sp>
        <p:nvSpPr>
          <p:cNvPr id="54" name="Google Shape;54;p4"/>
          <p:cNvSpPr/>
          <p:nvPr/>
        </p:nvSpPr>
        <p:spPr>
          <a:xfrm>
            <a:off x="8110728" y="1645920"/>
            <a:ext cx="420624" cy="42062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 name="Google Shape;55;p4" descr="preencoded.png"/>
          <p:cNvPicPr preferRelativeResize="0"/>
          <p:nvPr/>
        </p:nvPicPr>
        <p:blipFill rotWithShape="1">
          <a:blip r:embed="rId5">
            <a:alphaModFix/>
          </a:blip>
          <a:srcRect/>
          <a:stretch/>
        </p:blipFill>
        <p:spPr>
          <a:xfrm>
            <a:off x="8215884" y="1751076"/>
            <a:ext cx="210312" cy="210312"/>
          </a:xfrm>
          <a:prstGeom prst="rect">
            <a:avLst/>
          </a:prstGeom>
          <a:noFill/>
          <a:ln>
            <a:noFill/>
          </a:ln>
        </p:spPr>
      </p:pic>
      <p:sp>
        <p:nvSpPr>
          <p:cNvPr id="56" name="Google Shape;56;p4"/>
          <p:cNvSpPr/>
          <p:nvPr/>
        </p:nvSpPr>
        <p:spPr>
          <a:xfrm>
            <a:off x="6245352" y="2249424"/>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payroll platforms</a:t>
            </a:r>
            <a:endParaRPr sz="1300" b="0" i="0" u="none" strike="noStrike" cap="none">
              <a:solidFill>
                <a:schemeClr val="dk1"/>
              </a:solidFill>
              <a:latin typeface="Calibri"/>
              <a:ea typeface="Calibri"/>
              <a:cs typeface="Calibri"/>
              <a:sym typeface="Calibri"/>
            </a:endParaRPr>
          </a:p>
        </p:txBody>
      </p:sp>
      <p:sp>
        <p:nvSpPr>
          <p:cNvPr id="57" name="Google Shape;57;p4"/>
          <p:cNvSpPr/>
          <p:nvPr/>
        </p:nvSpPr>
        <p:spPr>
          <a:xfrm>
            <a:off x="6245352" y="2514600"/>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Paybooks, Gusto, NMBRS, Paycircle &amp; more</a:t>
            </a:r>
            <a:endParaRPr sz="1000" b="0" i="0" u="none" strike="noStrike" cap="none">
              <a:solidFill>
                <a:schemeClr val="dk1"/>
              </a:solidFill>
              <a:latin typeface="Calibri"/>
              <a:ea typeface="Calibri"/>
              <a:cs typeface="Calibri"/>
              <a:sym typeface="Calibri"/>
            </a:endParaRPr>
          </a:p>
        </p:txBody>
      </p:sp>
      <p:sp>
        <p:nvSpPr>
          <p:cNvPr id="58" name="Google Shape;58;p4"/>
          <p:cNvSpPr/>
          <p:nvPr/>
        </p:nvSpPr>
        <p:spPr>
          <a:xfrm>
            <a:off x="502920" y="3145536"/>
            <a:ext cx="2606040" cy="1481328"/>
          </a:xfrm>
          <a:prstGeom prst="roundRect">
            <a:avLst>
              <a:gd name="adj" fmla="val 5556"/>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667512" y="3255264"/>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6167"/>
              </a:buClr>
              <a:buSzPts val="4000"/>
              <a:buFont typeface="Cambria"/>
              <a:buNone/>
            </a:pPr>
            <a:r>
              <a:rPr lang="en-US" sz="4000" b="1" i="0" u="none" strike="noStrike" cap="none">
                <a:solidFill>
                  <a:srgbClr val="F96167"/>
                </a:solidFill>
                <a:latin typeface="Cambria"/>
                <a:ea typeface="Cambria"/>
                <a:cs typeface="Cambria"/>
                <a:sym typeface="Cambria"/>
              </a:rPr>
              <a:t>9</a:t>
            </a:r>
            <a:endParaRPr sz="4000" b="0" i="0" u="none" strike="noStrike" cap="none">
              <a:solidFill>
                <a:schemeClr val="dk1"/>
              </a:solidFill>
              <a:latin typeface="Calibri"/>
              <a:ea typeface="Calibri"/>
              <a:cs typeface="Calibri"/>
              <a:sym typeface="Calibri"/>
            </a:endParaRPr>
          </a:p>
        </p:txBody>
      </p:sp>
      <p:sp>
        <p:nvSpPr>
          <p:cNvPr id="60" name="Google Shape;60;p4"/>
          <p:cNvSpPr/>
          <p:nvPr/>
        </p:nvSpPr>
        <p:spPr>
          <a:xfrm>
            <a:off x="2532888" y="3310128"/>
            <a:ext cx="420624" cy="42062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 name="Google Shape;61;p4" descr="preencoded.png"/>
          <p:cNvPicPr preferRelativeResize="0"/>
          <p:nvPr/>
        </p:nvPicPr>
        <p:blipFill rotWithShape="1">
          <a:blip r:embed="rId6">
            <a:alphaModFix/>
          </a:blip>
          <a:srcRect/>
          <a:stretch/>
        </p:blipFill>
        <p:spPr>
          <a:xfrm>
            <a:off x="2638044" y="3415284"/>
            <a:ext cx="210312" cy="210312"/>
          </a:xfrm>
          <a:prstGeom prst="rect">
            <a:avLst/>
          </a:prstGeom>
          <a:noFill/>
          <a:ln>
            <a:noFill/>
          </a:ln>
        </p:spPr>
      </p:pic>
      <p:sp>
        <p:nvSpPr>
          <p:cNvPr id="62" name="Google Shape;62;p4"/>
          <p:cNvSpPr/>
          <p:nvPr/>
        </p:nvSpPr>
        <p:spPr>
          <a:xfrm>
            <a:off x="667512" y="3913632"/>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bank accounts</a:t>
            </a:r>
            <a:endParaRPr sz="1300" b="0" i="0" u="none" strike="noStrike" cap="none">
              <a:solidFill>
                <a:schemeClr val="dk1"/>
              </a:solidFill>
              <a:latin typeface="Calibri"/>
              <a:ea typeface="Calibri"/>
              <a:cs typeface="Calibri"/>
              <a:sym typeface="Calibri"/>
            </a:endParaRPr>
          </a:p>
        </p:txBody>
      </p:sp>
      <p:sp>
        <p:nvSpPr>
          <p:cNvPr id="63" name="Google Shape;63;p4"/>
          <p:cNvSpPr/>
          <p:nvPr/>
        </p:nvSpPr>
        <p:spPr>
          <a:xfrm>
            <a:off x="667512" y="4178808"/>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NatWest, HSBC, ING, Kotak, BoA, Wise...</a:t>
            </a:r>
            <a:endParaRPr sz="1000" b="0" i="0" u="none" strike="noStrike" cap="none">
              <a:solidFill>
                <a:schemeClr val="dk1"/>
              </a:solidFill>
              <a:latin typeface="Calibri"/>
              <a:ea typeface="Calibri"/>
              <a:cs typeface="Calibri"/>
              <a:sym typeface="Calibri"/>
            </a:endParaRPr>
          </a:p>
        </p:txBody>
      </p:sp>
      <p:sp>
        <p:nvSpPr>
          <p:cNvPr id="64" name="Google Shape;64;p4"/>
          <p:cNvSpPr/>
          <p:nvPr/>
        </p:nvSpPr>
        <p:spPr>
          <a:xfrm>
            <a:off x="3291840" y="3145536"/>
            <a:ext cx="2606040" cy="1481328"/>
          </a:xfrm>
          <a:prstGeom prst="roundRect">
            <a:avLst>
              <a:gd name="adj" fmla="val 5556"/>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3456432" y="3255264"/>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4000"/>
              <a:buFont typeface="Cambria"/>
              <a:buNone/>
            </a:pPr>
            <a:r>
              <a:rPr lang="en-US" sz="4000" b="1" i="0" u="none" strike="noStrike" cap="none">
                <a:solidFill>
                  <a:srgbClr val="2E9E6B"/>
                </a:solidFill>
                <a:latin typeface="Cambria"/>
                <a:ea typeface="Cambria"/>
                <a:cs typeface="Cambria"/>
                <a:sym typeface="Cambria"/>
              </a:rPr>
              <a:t>26</a:t>
            </a:r>
            <a:endParaRPr sz="4000" b="0" i="0" u="none" strike="noStrike" cap="none">
              <a:solidFill>
                <a:schemeClr val="dk1"/>
              </a:solidFill>
              <a:latin typeface="Calibri"/>
              <a:ea typeface="Calibri"/>
              <a:cs typeface="Calibri"/>
              <a:sym typeface="Calibri"/>
            </a:endParaRPr>
          </a:p>
        </p:txBody>
      </p:sp>
      <p:sp>
        <p:nvSpPr>
          <p:cNvPr id="66" name="Google Shape;66;p4"/>
          <p:cNvSpPr/>
          <p:nvPr/>
        </p:nvSpPr>
        <p:spPr>
          <a:xfrm>
            <a:off x="5321808" y="3310128"/>
            <a:ext cx="420624" cy="42062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Google Shape;67;p4" descr="preencoded.png"/>
          <p:cNvPicPr preferRelativeResize="0"/>
          <p:nvPr/>
        </p:nvPicPr>
        <p:blipFill rotWithShape="1">
          <a:blip r:embed="rId7">
            <a:alphaModFix/>
          </a:blip>
          <a:srcRect/>
          <a:stretch/>
        </p:blipFill>
        <p:spPr>
          <a:xfrm>
            <a:off x="5426964" y="3415284"/>
            <a:ext cx="210312" cy="210312"/>
          </a:xfrm>
          <a:prstGeom prst="rect">
            <a:avLst/>
          </a:prstGeom>
          <a:noFill/>
          <a:ln>
            <a:noFill/>
          </a:ln>
        </p:spPr>
      </p:pic>
      <p:sp>
        <p:nvSpPr>
          <p:cNvPr id="68" name="Google Shape;68;p4"/>
          <p:cNvSpPr/>
          <p:nvPr/>
        </p:nvSpPr>
        <p:spPr>
          <a:xfrm>
            <a:off x="3456432" y="3913632"/>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US pay runs a year</a:t>
            </a:r>
            <a:endParaRPr sz="1300" b="0" i="0" u="none" strike="noStrike" cap="none">
              <a:solidFill>
                <a:schemeClr val="dk1"/>
              </a:solidFill>
              <a:latin typeface="Calibri"/>
              <a:ea typeface="Calibri"/>
              <a:cs typeface="Calibri"/>
              <a:sym typeface="Calibri"/>
            </a:endParaRPr>
          </a:p>
        </p:txBody>
      </p:sp>
      <p:sp>
        <p:nvSpPr>
          <p:cNvPr id="69" name="Google Shape;69;p4"/>
          <p:cNvSpPr/>
          <p:nvPr/>
        </p:nvSpPr>
        <p:spPr>
          <a:xfrm>
            <a:off x="3456432" y="4178808"/>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bi-weekly, every alternate Friday</a:t>
            </a:r>
            <a:endParaRPr sz="1000" b="0" i="0" u="none" strike="noStrike" cap="none">
              <a:solidFill>
                <a:schemeClr val="dk1"/>
              </a:solidFill>
              <a:latin typeface="Calibri"/>
              <a:ea typeface="Calibri"/>
              <a:cs typeface="Calibri"/>
              <a:sym typeface="Calibri"/>
            </a:endParaRPr>
          </a:p>
        </p:txBody>
      </p:sp>
      <p:sp>
        <p:nvSpPr>
          <p:cNvPr id="70" name="Google Shape;70;p4"/>
          <p:cNvSpPr/>
          <p:nvPr/>
        </p:nvSpPr>
        <p:spPr>
          <a:xfrm>
            <a:off x="6080760" y="3145536"/>
            <a:ext cx="2606040" cy="1481328"/>
          </a:xfrm>
          <a:prstGeom prst="roundRect">
            <a:avLst>
              <a:gd name="adj" fmla="val 5556"/>
            </a:avLst>
          </a:prstGeom>
          <a:solidFill>
            <a:srgbClr val="FDF1E4"/>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6245352" y="3255264"/>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67E22"/>
              </a:buClr>
              <a:buSzPts val="4000"/>
              <a:buFont typeface="Cambria"/>
              <a:buNone/>
            </a:pPr>
            <a:r>
              <a:rPr lang="en-US" sz="4000" b="1" i="0" u="none" strike="noStrike" cap="none">
                <a:solidFill>
                  <a:srgbClr val="E67E22"/>
                </a:solidFill>
                <a:latin typeface="Cambria"/>
                <a:ea typeface="Cambria"/>
                <a:cs typeface="Cambria"/>
                <a:sym typeface="Cambria"/>
              </a:rPr>
              <a:t>1</a:t>
            </a:r>
            <a:endParaRPr sz="4000" b="0" i="0" u="none" strike="noStrike" cap="none">
              <a:solidFill>
                <a:schemeClr val="dk1"/>
              </a:solidFill>
              <a:latin typeface="Calibri"/>
              <a:ea typeface="Calibri"/>
              <a:cs typeface="Calibri"/>
              <a:sym typeface="Calibri"/>
            </a:endParaRPr>
          </a:p>
        </p:txBody>
      </p:sp>
      <p:sp>
        <p:nvSpPr>
          <p:cNvPr id="72" name="Google Shape;72;p4"/>
          <p:cNvSpPr/>
          <p:nvPr/>
        </p:nvSpPr>
        <p:spPr>
          <a:xfrm>
            <a:off x="8110728" y="3310128"/>
            <a:ext cx="420624" cy="420624"/>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3" name="Google Shape;73;p4" descr="preencoded.png"/>
          <p:cNvPicPr preferRelativeResize="0"/>
          <p:nvPr/>
        </p:nvPicPr>
        <p:blipFill rotWithShape="1">
          <a:blip r:embed="rId8">
            <a:alphaModFix/>
          </a:blip>
          <a:srcRect/>
          <a:stretch/>
        </p:blipFill>
        <p:spPr>
          <a:xfrm>
            <a:off x="8215884" y="3415284"/>
            <a:ext cx="210312" cy="210312"/>
          </a:xfrm>
          <a:prstGeom prst="rect">
            <a:avLst/>
          </a:prstGeom>
          <a:noFill/>
          <a:ln>
            <a:noFill/>
          </a:ln>
        </p:spPr>
      </p:pic>
      <p:sp>
        <p:nvSpPr>
          <p:cNvPr id="74" name="Google Shape;74;p4"/>
          <p:cNvSpPr/>
          <p:nvPr/>
        </p:nvSpPr>
        <p:spPr>
          <a:xfrm>
            <a:off x="6245352" y="3913632"/>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payroll team</a:t>
            </a:r>
            <a:endParaRPr sz="1300" b="0" i="0" u="none" strike="noStrike" cap="none">
              <a:solidFill>
                <a:schemeClr val="dk1"/>
              </a:solidFill>
              <a:latin typeface="Calibri"/>
              <a:ea typeface="Calibri"/>
              <a:cs typeface="Calibri"/>
              <a:sym typeface="Calibri"/>
            </a:endParaRPr>
          </a:p>
        </p:txBody>
      </p:sp>
      <p:sp>
        <p:nvSpPr>
          <p:cNvPr id="75" name="Google Shape;75;p4"/>
          <p:cNvSpPr/>
          <p:nvPr/>
        </p:nvSpPr>
        <p:spPr>
          <a:xfrm>
            <a:off x="6245352" y="4178808"/>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keeping every payday on time, worldwide</a:t>
            </a:r>
            <a:endParaRPr sz="1000" b="0" i="0" u="none" strike="noStrike" cap="none">
              <a:solidFill>
                <a:schemeClr val="dk1"/>
              </a:solidFill>
              <a:latin typeface="Calibri"/>
              <a:ea typeface="Calibri"/>
              <a:cs typeface="Calibri"/>
              <a:sym typeface="Calibri"/>
            </a:endParaRPr>
          </a:p>
        </p:txBody>
      </p:sp>
      <p:sp>
        <p:nvSpPr>
          <p:cNvPr id="76" name="Google Shape;76;p4"/>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
        <p:cNvGrpSpPr/>
        <p:nvPr/>
      </p:nvGrpSpPr>
      <p:grpSpPr>
        <a:xfrm>
          <a:off x="0" y="0"/>
          <a:ext cx="0" cy="0"/>
          <a:chOff x="0" y="0"/>
          <a:chExt cx="0" cy="0"/>
        </a:xfrm>
      </p:grpSpPr>
      <p:sp>
        <p:nvSpPr>
          <p:cNvPr id="82" name="Google Shape;82;p5"/>
          <p:cNvSpPr/>
          <p:nvPr/>
        </p:nvSpPr>
        <p:spPr>
          <a:xfrm>
            <a:off x="457200" y="384048"/>
            <a:ext cx="566928" cy="566928"/>
          </a:xfrm>
          <a:prstGeom prst="ellipse">
            <a:avLst/>
          </a:prstGeom>
          <a:solidFill>
            <a:srgbClr val="D63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 name="Google Shape;83;p5"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84" name="Google Shape;84;p5"/>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TIME TRAVEL BREAK</a:t>
            </a:r>
            <a:endParaRPr sz="1100" b="0" i="0" u="none" strike="noStrike" cap="none">
              <a:solidFill>
                <a:schemeClr val="dk1"/>
              </a:solidFill>
              <a:latin typeface="Calibri"/>
              <a:ea typeface="Calibri"/>
              <a:cs typeface="Calibri"/>
              <a:sym typeface="Calibri"/>
            </a:endParaRPr>
          </a:p>
        </p:txBody>
      </p:sp>
      <p:sp>
        <p:nvSpPr>
          <p:cNvPr id="85" name="Google Shape;85;p5"/>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Payroll Fun Facts, Through the Ages</a:t>
            </a:r>
            <a:endParaRPr sz="2900" b="0" i="0" u="none" strike="noStrike" cap="none">
              <a:solidFill>
                <a:schemeClr val="dk1"/>
              </a:solidFill>
              <a:latin typeface="Calibri"/>
              <a:ea typeface="Calibri"/>
              <a:cs typeface="Calibri"/>
              <a:sym typeface="Calibri"/>
            </a:endParaRPr>
          </a:p>
        </p:txBody>
      </p:sp>
      <p:sp>
        <p:nvSpPr>
          <p:cNvPr id="86" name="Google Shape;86;p5"/>
          <p:cNvSpPr/>
          <p:nvPr/>
        </p:nvSpPr>
        <p:spPr>
          <a:xfrm>
            <a:off x="502920" y="1481328"/>
            <a:ext cx="2633472" cy="1481328"/>
          </a:xfrm>
          <a:prstGeom prst="roundRect">
            <a:avLst>
              <a:gd name="adj" fmla="val 5556"/>
            </a:avLst>
          </a:prstGeom>
          <a:solidFill>
            <a:srgbClr val="FDF1E4"/>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649224" y="1609344"/>
            <a:ext cx="384048" cy="384048"/>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 name="Google Shape;88;p5" descr="preencoded.png"/>
          <p:cNvPicPr preferRelativeResize="0"/>
          <p:nvPr/>
        </p:nvPicPr>
        <p:blipFill rotWithShape="1">
          <a:blip r:embed="rId4">
            <a:alphaModFix/>
          </a:blip>
          <a:srcRect/>
          <a:stretch/>
        </p:blipFill>
        <p:spPr>
          <a:xfrm>
            <a:off x="745236" y="1705356"/>
            <a:ext cx="192024" cy="192024"/>
          </a:xfrm>
          <a:prstGeom prst="rect">
            <a:avLst/>
          </a:prstGeom>
          <a:noFill/>
          <a:ln>
            <a:noFill/>
          </a:ln>
        </p:spPr>
      </p:pic>
      <p:sp>
        <p:nvSpPr>
          <p:cNvPr id="89" name="Google Shape;89;p5"/>
          <p:cNvSpPr/>
          <p:nvPr/>
        </p:nvSpPr>
        <p:spPr>
          <a:xfrm>
            <a:off x="1143000" y="1609344"/>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67E22"/>
              </a:buClr>
              <a:buSzPts val="1300"/>
              <a:buFont typeface="Calibri"/>
              <a:buNone/>
            </a:pPr>
            <a:r>
              <a:rPr lang="en-US" sz="1300" b="1" i="0" u="none" strike="noStrike" cap="none">
                <a:solidFill>
                  <a:srgbClr val="E67E22"/>
                </a:solidFill>
                <a:latin typeface="Calibri"/>
                <a:ea typeface="Calibri"/>
                <a:cs typeface="Calibri"/>
                <a:sym typeface="Calibri"/>
              </a:rPr>
              <a:t>Paid in beer</a:t>
            </a:r>
            <a:endParaRPr sz="1300" b="0" i="0" u="none" strike="noStrike" cap="none">
              <a:solidFill>
                <a:schemeClr val="dk1"/>
              </a:solidFill>
              <a:latin typeface="Calibri"/>
              <a:ea typeface="Calibri"/>
              <a:cs typeface="Calibri"/>
              <a:sym typeface="Calibri"/>
            </a:endParaRPr>
          </a:p>
        </p:txBody>
      </p:sp>
      <p:sp>
        <p:nvSpPr>
          <p:cNvPr id="90" name="Google Shape;90;p5"/>
          <p:cNvSpPr/>
          <p:nvPr/>
        </p:nvSpPr>
        <p:spPr>
          <a:xfrm>
            <a:off x="649224" y="2048256"/>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Ancient Egypt kept the first payroll records - pyramid workers earned 4-5 litres of beer &amp; bread per day.</a:t>
            </a:r>
            <a:endParaRPr sz="1000" b="0" i="0" u="none" strike="noStrike" cap="none">
              <a:solidFill>
                <a:schemeClr val="dk1"/>
              </a:solidFill>
              <a:latin typeface="Calibri"/>
              <a:ea typeface="Calibri"/>
              <a:cs typeface="Calibri"/>
              <a:sym typeface="Calibri"/>
            </a:endParaRPr>
          </a:p>
        </p:txBody>
      </p:sp>
      <p:sp>
        <p:nvSpPr>
          <p:cNvPr id="91" name="Google Shape;91;p5"/>
          <p:cNvSpPr/>
          <p:nvPr/>
        </p:nvSpPr>
        <p:spPr>
          <a:xfrm>
            <a:off x="3319272" y="1481328"/>
            <a:ext cx="2633472" cy="1481328"/>
          </a:xfrm>
          <a:prstGeom prst="roundRect">
            <a:avLst>
              <a:gd name="adj" fmla="val 5556"/>
            </a:avLst>
          </a:prstGeom>
          <a:solidFill>
            <a:srgbClr val="FBF6E7"/>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3465576" y="1609344"/>
            <a:ext cx="384048" cy="384048"/>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 name="Google Shape;93;p5" descr="preencoded.png"/>
          <p:cNvPicPr preferRelativeResize="0"/>
          <p:nvPr/>
        </p:nvPicPr>
        <p:blipFill rotWithShape="1">
          <a:blip r:embed="rId5">
            <a:alphaModFix/>
          </a:blip>
          <a:srcRect/>
          <a:stretch/>
        </p:blipFill>
        <p:spPr>
          <a:xfrm>
            <a:off x="3561588" y="1705356"/>
            <a:ext cx="192024" cy="192024"/>
          </a:xfrm>
          <a:prstGeom prst="rect">
            <a:avLst/>
          </a:prstGeom>
          <a:noFill/>
          <a:ln>
            <a:noFill/>
          </a:ln>
        </p:spPr>
      </p:pic>
      <p:sp>
        <p:nvSpPr>
          <p:cNvPr id="94" name="Google Shape;94;p5"/>
          <p:cNvSpPr/>
          <p:nvPr/>
        </p:nvSpPr>
        <p:spPr>
          <a:xfrm>
            <a:off x="3959352" y="1609344"/>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300"/>
              <a:buFont typeface="Calibri"/>
              <a:buNone/>
            </a:pPr>
            <a:r>
              <a:rPr lang="en-US" sz="1300" b="1" i="0" u="none" strike="noStrike" cap="none">
                <a:solidFill>
                  <a:srgbClr val="8F7115"/>
                </a:solidFill>
                <a:latin typeface="Calibri"/>
                <a:ea typeface="Calibri"/>
                <a:cs typeface="Calibri"/>
                <a:sym typeface="Calibri"/>
              </a:rPr>
              <a:t>Salt-ary</a:t>
            </a:r>
            <a:endParaRPr sz="1300" b="0" i="0" u="none" strike="noStrike" cap="none">
              <a:solidFill>
                <a:schemeClr val="dk1"/>
              </a:solidFill>
              <a:latin typeface="Calibri"/>
              <a:ea typeface="Calibri"/>
              <a:cs typeface="Calibri"/>
              <a:sym typeface="Calibri"/>
            </a:endParaRPr>
          </a:p>
        </p:txBody>
      </p:sp>
      <p:sp>
        <p:nvSpPr>
          <p:cNvPr id="95" name="Google Shape;95;p5"/>
          <p:cNvSpPr/>
          <p:nvPr/>
        </p:nvSpPr>
        <p:spPr>
          <a:xfrm>
            <a:off x="3465576" y="2048256"/>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'Salary' comes from salarium - the Roman soldier's allowance, traditionally said to be for salt.</a:t>
            </a:r>
            <a:endParaRPr sz="1000" b="0" i="0" u="none" strike="noStrike" cap="none">
              <a:solidFill>
                <a:schemeClr val="dk1"/>
              </a:solidFill>
              <a:latin typeface="Calibri"/>
              <a:ea typeface="Calibri"/>
              <a:cs typeface="Calibri"/>
              <a:sym typeface="Calibri"/>
            </a:endParaRPr>
          </a:p>
        </p:txBody>
      </p:sp>
      <p:sp>
        <p:nvSpPr>
          <p:cNvPr id="96" name="Google Shape;96;p5"/>
          <p:cNvSpPr/>
          <p:nvPr/>
        </p:nvSpPr>
        <p:spPr>
          <a:xfrm>
            <a:off x="6135624" y="1481328"/>
            <a:ext cx="2633472" cy="1481328"/>
          </a:xfrm>
          <a:prstGeom prst="roundRect">
            <a:avLst>
              <a:gd name="adj" fmla="val 5556"/>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6281928" y="1609344"/>
            <a:ext cx="384048" cy="384048"/>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 name="Google Shape;98;p5" descr="preencoded.png"/>
          <p:cNvPicPr preferRelativeResize="0"/>
          <p:nvPr/>
        </p:nvPicPr>
        <p:blipFill rotWithShape="1">
          <a:blip r:embed="rId6">
            <a:alphaModFix/>
          </a:blip>
          <a:srcRect/>
          <a:stretch/>
        </p:blipFill>
        <p:spPr>
          <a:xfrm>
            <a:off x="6377940" y="1705356"/>
            <a:ext cx="192024" cy="192024"/>
          </a:xfrm>
          <a:prstGeom prst="rect">
            <a:avLst/>
          </a:prstGeom>
          <a:noFill/>
          <a:ln>
            <a:noFill/>
          </a:ln>
        </p:spPr>
      </p:pic>
      <p:sp>
        <p:nvSpPr>
          <p:cNvPr id="99" name="Google Shape;99;p5"/>
          <p:cNvSpPr/>
          <p:nvPr/>
        </p:nvSpPr>
        <p:spPr>
          <a:xfrm>
            <a:off x="6775704" y="1609344"/>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1300"/>
              <a:buFont typeface="Calibri"/>
              <a:buNone/>
            </a:pPr>
            <a:r>
              <a:rPr lang="en-US" sz="1300" b="1" i="0" u="none" strike="noStrike" cap="none">
                <a:solidFill>
                  <a:srgbClr val="2E9E6B"/>
                </a:solidFill>
                <a:latin typeface="Calibri"/>
                <a:ea typeface="Calibri"/>
                <a:cs typeface="Calibri"/>
                <a:sym typeface="Calibri"/>
              </a:rPr>
              <a:t>The 13th month</a:t>
            </a:r>
            <a:endParaRPr sz="1300" b="0" i="0" u="none" strike="noStrike" cap="none">
              <a:solidFill>
                <a:schemeClr val="dk1"/>
              </a:solidFill>
              <a:latin typeface="Calibri"/>
              <a:ea typeface="Calibri"/>
              <a:cs typeface="Calibri"/>
              <a:sym typeface="Calibri"/>
            </a:endParaRPr>
          </a:p>
        </p:txBody>
      </p:sp>
      <p:sp>
        <p:nvSpPr>
          <p:cNvPr id="100" name="Google Shape;100;p5"/>
          <p:cNvSpPr/>
          <p:nvPr/>
        </p:nvSpPr>
        <p:spPr>
          <a:xfrm>
            <a:off x="6281928" y="2048256"/>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In 50+ countries a '13th-month salary' is standard - and mandatory in many, like Brazil &amp; the Philippines.</a:t>
            </a:r>
            <a:endParaRPr sz="1000" b="0" i="0" u="none" strike="noStrike" cap="none">
              <a:solidFill>
                <a:schemeClr val="dk1"/>
              </a:solidFill>
              <a:latin typeface="Calibri"/>
              <a:ea typeface="Calibri"/>
              <a:cs typeface="Calibri"/>
              <a:sym typeface="Calibri"/>
            </a:endParaRPr>
          </a:p>
        </p:txBody>
      </p:sp>
      <p:sp>
        <p:nvSpPr>
          <p:cNvPr id="101" name="Google Shape;101;p5"/>
          <p:cNvSpPr/>
          <p:nvPr/>
        </p:nvSpPr>
        <p:spPr>
          <a:xfrm>
            <a:off x="502920" y="3108960"/>
            <a:ext cx="2633472" cy="1481328"/>
          </a:xfrm>
          <a:prstGeom prst="roundRect">
            <a:avLst>
              <a:gd name="adj" fmla="val 5556"/>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649224" y="3236976"/>
            <a:ext cx="384048" cy="384048"/>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 name="Google Shape;103;p5" descr="preencoded.png"/>
          <p:cNvPicPr preferRelativeResize="0"/>
          <p:nvPr/>
        </p:nvPicPr>
        <p:blipFill rotWithShape="1">
          <a:blip r:embed="rId7">
            <a:alphaModFix/>
          </a:blip>
          <a:srcRect/>
          <a:stretch/>
        </p:blipFill>
        <p:spPr>
          <a:xfrm>
            <a:off x="745236" y="3332988"/>
            <a:ext cx="192024" cy="192024"/>
          </a:xfrm>
          <a:prstGeom prst="rect">
            <a:avLst/>
          </a:prstGeom>
          <a:noFill/>
          <a:ln>
            <a:noFill/>
          </a:ln>
        </p:spPr>
      </p:pic>
      <p:sp>
        <p:nvSpPr>
          <p:cNvPr id="104" name="Google Shape;104;p5"/>
          <p:cNvSpPr/>
          <p:nvPr/>
        </p:nvSpPr>
        <p:spPr>
          <a:xfrm>
            <a:off x="1143000" y="3236976"/>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Calibri"/>
              <a:buNone/>
            </a:pPr>
            <a:r>
              <a:rPr lang="en-US" sz="1300" b="1" i="0" u="none" strike="noStrike" cap="none">
                <a:solidFill>
                  <a:srgbClr val="028090"/>
                </a:solidFill>
                <a:latin typeface="Calibri"/>
                <a:ea typeface="Calibri"/>
                <a:cs typeface="Calibri"/>
                <a:sym typeface="Calibri"/>
              </a:rPr>
              <a:t>Nothing to hide</a:t>
            </a:r>
            <a:endParaRPr sz="1300" b="0" i="0" u="none" strike="noStrike" cap="none">
              <a:solidFill>
                <a:schemeClr val="dk1"/>
              </a:solidFill>
              <a:latin typeface="Calibri"/>
              <a:ea typeface="Calibri"/>
              <a:cs typeface="Calibri"/>
              <a:sym typeface="Calibri"/>
            </a:endParaRPr>
          </a:p>
        </p:txBody>
      </p:sp>
      <p:sp>
        <p:nvSpPr>
          <p:cNvPr id="105" name="Google Shape;105;p5"/>
          <p:cNvSpPr/>
          <p:nvPr/>
        </p:nvSpPr>
        <p:spPr>
          <a:xfrm>
            <a:off x="649224" y="3675888"/>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In Sweden, Norway &amp; Finland, anyone can look up anyone else's tax return. Awkward!</a:t>
            </a:r>
            <a:endParaRPr sz="1000" b="0" i="0" u="none" strike="noStrike" cap="none">
              <a:solidFill>
                <a:schemeClr val="dk1"/>
              </a:solidFill>
              <a:latin typeface="Calibri"/>
              <a:ea typeface="Calibri"/>
              <a:cs typeface="Calibri"/>
              <a:sym typeface="Calibri"/>
            </a:endParaRPr>
          </a:p>
        </p:txBody>
      </p:sp>
      <p:sp>
        <p:nvSpPr>
          <p:cNvPr id="106" name="Google Shape;106;p5"/>
          <p:cNvSpPr/>
          <p:nvPr/>
        </p:nvSpPr>
        <p:spPr>
          <a:xfrm>
            <a:off x="3319272" y="3108960"/>
            <a:ext cx="2633472" cy="1481328"/>
          </a:xfrm>
          <a:prstGeom prst="roundRect">
            <a:avLst>
              <a:gd name="adj" fmla="val 5556"/>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3465576" y="3236976"/>
            <a:ext cx="384048" cy="384048"/>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8" name="Google Shape;108;p5" descr="preencoded.png"/>
          <p:cNvPicPr preferRelativeResize="0"/>
          <p:nvPr/>
        </p:nvPicPr>
        <p:blipFill rotWithShape="1">
          <a:blip r:embed="rId8">
            <a:alphaModFix/>
          </a:blip>
          <a:srcRect/>
          <a:stretch/>
        </p:blipFill>
        <p:spPr>
          <a:xfrm>
            <a:off x="3561588" y="3332988"/>
            <a:ext cx="192024" cy="192024"/>
          </a:xfrm>
          <a:prstGeom prst="rect">
            <a:avLst/>
          </a:prstGeom>
          <a:noFill/>
          <a:ln>
            <a:noFill/>
          </a:ln>
        </p:spPr>
      </p:pic>
      <p:sp>
        <p:nvSpPr>
          <p:cNvPr id="109" name="Google Shape;109;p5"/>
          <p:cNvSpPr/>
          <p:nvPr/>
        </p:nvSpPr>
        <p:spPr>
          <a:xfrm>
            <a:off x="3959352" y="3236976"/>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AB6"/>
              </a:buClr>
              <a:buSzPts val="1300"/>
              <a:buFont typeface="Calibri"/>
              <a:buNone/>
            </a:pPr>
            <a:r>
              <a:rPr lang="en-US" sz="1300" b="1" i="0" u="none" strike="noStrike" cap="none">
                <a:solidFill>
                  <a:srgbClr val="6C4AB6"/>
                </a:solidFill>
                <a:latin typeface="Calibri"/>
                <a:ea typeface="Calibri"/>
                <a:cs typeface="Calibri"/>
                <a:sym typeface="Calibri"/>
              </a:rPr>
              <a:t>Bonus season x2</a:t>
            </a:r>
            <a:endParaRPr sz="1300" b="0" i="0" u="none" strike="noStrike" cap="none">
              <a:solidFill>
                <a:schemeClr val="dk1"/>
              </a:solidFill>
              <a:latin typeface="Calibri"/>
              <a:ea typeface="Calibri"/>
              <a:cs typeface="Calibri"/>
              <a:sym typeface="Calibri"/>
            </a:endParaRPr>
          </a:p>
        </p:txBody>
      </p:sp>
      <p:sp>
        <p:nvSpPr>
          <p:cNvPr id="110" name="Google Shape;110;p5"/>
          <p:cNvSpPr/>
          <p:nvPr/>
        </p:nvSpPr>
        <p:spPr>
          <a:xfrm>
            <a:off x="3465576" y="3675888"/>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In Japan, bonuses land twice a year and can equal 2-4 months of salary each time.</a:t>
            </a:r>
            <a:endParaRPr sz="1000" b="0" i="0" u="none" strike="noStrike" cap="none">
              <a:solidFill>
                <a:schemeClr val="dk1"/>
              </a:solidFill>
              <a:latin typeface="Calibri"/>
              <a:ea typeface="Calibri"/>
              <a:cs typeface="Calibri"/>
              <a:sym typeface="Calibri"/>
            </a:endParaRPr>
          </a:p>
        </p:txBody>
      </p:sp>
      <p:sp>
        <p:nvSpPr>
          <p:cNvPr id="111" name="Google Shape;111;p5"/>
          <p:cNvSpPr/>
          <p:nvPr/>
        </p:nvSpPr>
        <p:spPr>
          <a:xfrm>
            <a:off x="6135624" y="3108960"/>
            <a:ext cx="2633472" cy="1481328"/>
          </a:xfrm>
          <a:prstGeom prst="roundRect">
            <a:avLst>
              <a:gd name="adj" fmla="val 5556"/>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6281928" y="3236976"/>
            <a:ext cx="384048" cy="384048"/>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 name="Google Shape;113;p5" descr="preencoded.png"/>
          <p:cNvPicPr preferRelativeResize="0"/>
          <p:nvPr/>
        </p:nvPicPr>
        <p:blipFill rotWithShape="1">
          <a:blip r:embed="rId9">
            <a:alphaModFix/>
          </a:blip>
          <a:srcRect/>
          <a:stretch/>
        </p:blipFill>
        <p:spPr>
          <a:xfrm>
            <a:off x="6377940" y="3332988"/>
            <a:ext cx="192024" cy="192024"/>
          </a:xfrm>
          <a:prstGeom prst="rect">
            <a:avLst/>
          </a:prstGeom>
          <a:noFill/>
          <a:ln>
            <a:noFill/>
          </a:ln>
        </p:spPr>
      </p:pic>
      <p:sp>
        <p:nvSpPr>
          <p:cNvPr id="114" name="Google Shape;114;p5"/>
          <p:cNvSpPr/>
          <p:nvPr/>
        </p:nvSpPr>
        <p:spPr>
          <a:xfrm>
            <a:off x="6775704" y="3236976"/>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6167"/>
              </a:buClr>
              <a:buSzPts val="1300"/>
              <a:buFont typeface="Calibri"/>
              <a:buNone/>
            </a:pPr>
            <a:r>
              <a:rPr lang="en-US" sz="1300" b="1" i="0" u="none" strike="noStrike" cap="none">
                <a:solidFill>
                  <a:srgbClr val="F96167"/>
                </a:solidFill>
                <a:latin typeface="Calibri"/>
                <a:ea typeface="Calibri"/>
                <a:cs typeface="Calibri"/>
                <a:sym typeface="Calibri"/>
              </a:rPr>
              <a:t>Meanwhile at Nivoda</a:t>
            </a:r>
            <a:endParaRPr sz="1300" b="0" i="0" u="none" strike="noStrike" cap="none">
              <a:solidFill>
                <a:schemeClr val="dk1"/>
              </a:solidFill>
              <a:latin typeface="Calibri"/>
              <a:ea typeface="Calibri"/>
              <a:cs typeface="Calibri"/>
              <a:sym typeface="Calibri"/>
            </a:endParaRPr>
          </a:p>
        </p:txBody>
      </p:sp>
      <p:sp>
        <p:nvSpPr>
          <p:cNvPr id="115" name="Google Shape;115;p5"/>
          <p:cNvSpPr/>
          <p:nvPr/>
        </p:nvSpPr>
        <p:spPr>
          <a:xfrm>
            <a:off x="6281928" y="3675888"/>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We pay salaries in 9+ currencies across 13 geographies - before most people finish breakfast.</a:t>
            </a:r>
            <a:endParaRPr sz="1000" b="0" i="0" u="none" strike="noStrike" cap="none">
              <a:solidFill>
                <a:schemeClr val="dk1"/>
              </a:solidFill>
              <a:latin typeface="Calibri"/>
              <a:ea typeface="Calibri"/>
              <a:cs typeface="Calibri"/>
              <a:sym typeface="Calibri"/>
            </a:endParaRPr>
          </a:p>
        </p:txBody>
      </p:sp>
      <p:sp>
        <p:nvSpPr>
          <p:cNvPr id="116" name="Google Shape;116;p5"/>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sp>
        <p:nvSpPr>
          <p:cNvPr id="122" name="Google Shape;122;p6"/>
          <p:cNvSpPr/>
          <p:nvPr/>
        </p:nvSpPr>
        <p:spPr>
          <a:xfrm>
            <a:off x="457200" y="384048"/>
            <a:ext cx="566928" cy="566928"/>
          </a:xfrm>
          <a:prstGeom prst="ellipse">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3" name="Google Shape;123;p6"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124" name="Google Shape;124;p6"/>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A DAY IN THE LIFE</a:t>
            </a:r>
            <a:endParaRPr sz="1100" b="0" i="0" u="none" strike="noStrike" cap="none">
              <a:solidFill>
                <a:schemeClr val="dk1"/>
              </a:solidFill>
              <a:latin typeface="Calibri"/>
              <a:ea typeface="Calibri"/>
              <a:cs typeface="Calibri"/>
              <a:sym typeface="Calibri"/>
            </a:endParaRPr>
          </a:p>
        </p:txBody>
      </p:sp>
      <p:sp>
        <p:nvSpPr>
          <p:cNvPr id="125" name="Google Shape;125;p6"/>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One Payroll 'Day' Lasts a Whole Month</a:t>
            </a:r>
            <a:endParaRPr sz="2900" b="0" i="0" u="none" strike="noStrike" cap="none">
              <a:solidFill>
                <a:schemeClr val="dk1"/>
              </a:solidFill>
              <a:latin typeface="Calibri"/>
              <a:ea typeface="Calibri"/>
              <a:cs typeface="Calibri"/>
              <a:sym typeface="Calibri"/>
            </a:endParaRPr>
          </a:p>
        </p:txBody>
      </p:sp>
      <p:cxnSp>
        <p:nvCxnSpPr>
          <p:cNvPr id="126" name="Google Shape;126;p6"/>
          <p:cNvCxnSpPr/>
          <p:nvPr/>
        </p:nvCxnSpPr>
        <p:spPr>
          <a:xfrm>
            <a:off x="1481328" y="1645920"/>
            <a:ext cx="0" cy="2880360"/>
          </a:xfrm>
          <a:prstGeom prst="straightConnector1">
            <a:avLst/>
          </a:prstGeom>
          <a:noFill/>
          <a:ln w="38100" cap="flat" cmpd="sng">
            <a:solidFill>
              <a:srgbClr val="CADCFC"/>
            </a:solidFill>
            <a:prstDash val="solid"/>
            <a:round/>
            <a:headEnd type="none" w="sm" len="sm"/>
            <a:tailEnd type="none" w="sm" len="sm"/>
          </a:ln>
        </p:spPr>
      </p:cxnSp>
      <p:sp>
        <p:nvSpPr>
          <p:cNvPr id="127" name="Google Shape;127;p6"/>
          <p:cNvSpPr/>
          <p:nvPr/>
        </p:nvSpPr>
        <p:spPr>
          <a:xfrm>
            <a:off x="1371600" y="1554480"/>
            <a:ext cx="219456" cy="21945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a:off x="365760" y="1499616"/>
            <a:ext cx="91440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761"/>
              </a:buClr>
              <a:buSzPts val="1400"/>
              <a:buFont typeface="Cambria"/>
              <a:buNone/>
            </a:pPr>
            <a:r>
              <a:rPr lang="en-US" sz="1400" b="1" i="0" u="none" strike="noStrike" cap="none">
                <a:solidFill>
                  <a:srgbClr val="1E2761"/>
                </a:solidFill>
                <a:latin typeface="Cambria"/>
                <a:ea typeface="Cambria"/>
                <a:cs typeface="Cambria"/>
                <a:sym typeface="Cambria"/>
              </a:rPr>
              <a:t>16th</a:t>
            </a:r>
            <a:endParaRPr sz="1400" b="0" i="0" u="none" strike="noStrike" cap="none">
              <a:solidFill>
                <a:schemeClr val="dk1"/>
              </a:solidFill>
              <a:latin typeface="Calibri"/>
              <a:ea typeface="Calibri"/>
              <a:cs typeface="Calibri"/>
              <a:sym typeface="Calibri"/>
            </a:endParaRPr>
          </a:p>
        </p:txBody>
      </p:sp>
      <p:sp>
        <p:nvSpPr>
          <p:cNvPr id="129" name="Google Shape;129;p6"/>
          <p:cNvSpPr/>
          <p:nvPr/>
        </p:nvSpPr>
        <p:spPr>
          <a:xfrm>
            <a:off x="1783080" y="1499616"/>
            <a:ext cx="6858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50"/>
              <a:buFont typeface="Calibri"/>
              <a:buNone/>
            </a:pPr>
            <a:r>
              <a:rPr lang="en-US" sz="1350" b="0" i="0" u="none" strike="noStrike" cap="none">
                <a:solidFill>
                  <a:srgbClr val="23283F"/>
                </a:solidFill>
                <a:latin typeface="Calibri"/>
                <a:ea typeface="Calibri"/>
                <a:cs typeface="Calibri"/>
                <a:sym typeface="Calibri"/>
              </a:rPr>
              <a:t>VDT reports land from HiBob - joiners, leavers, variances</a:t>
            </a:r>
            <a:endParaRPr sz="1350" b="0" i="0" u="none" strike="noStrike" cap="none">
              <a:solidFill>
                <a:schemeClr val="dk1"/>
              </a:solidFill>
              <a:latin typeface="Calibri"/>
              <a:ea typeface="Calibri"/>
              <a:cs typeface="Calibri"/>
              <a:sym typeface="Calibri"/>
            </a:endParaRPr>
          </a:p>
        </p:txBody>
      </p:sp>
      <p:sp>
        <p:nvSpPr>
          <p:cNvPr id="130" name="Google Shape;130;p6"/>
          <p:cNvSpPr/>
          <p:nvPr/>
        </p:nvSpPr>
        <p:spPr>
          <a:xfrm>
            <a:off x="1371600" y="2130552"/>
            <a:ext cx="219456" cy="219456"/>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365760" y="2075688"/>
            <a:ext cx="91440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761"/>
              </a:buClr>
              <a:buSzPts val="1400"/>
              <a:buFont typeface="Cambria"/>
              <a:buNone/>
            </a:pPr>
            <a:r>
              <a:rPr lang="en-US" sz="1400" b="1" i="0" u="none" strike="noStrike" cap="none">
                <a:solidFill>
                  <a:srgbClr val="1E2761"/>
                </a:solidFill>
                <a:latin typeface="Cambria"/>
                <a:ea typeface="Cambria"/>
                <a:cs typeface="Cambria"/>
                <a:sym typeface="Cambria"/>
              </a:rPr>
              <a:t>17th</a:t>
            </a:r>
            <a:endParaRPr sz="1400" b="0" i="0" u="none" strike="noStrike" cap="none">
              <a:solidFill>
                <a:schemeClr val="dk1"/>
              </a:solidFill>
              <a:latin typeface="Calibri"/>
              <a:ea typeface="Calibri"/>
              <a:cs typeface="Calibri"/>
              <a:sym typeface="Calibri"/>
            </a:endParaRPr>
          </a:p>
        </p:txBody>
      </p:sp>
      <p:sp>
        <p:nvSpPr>
          <p:cNvPr id="132" name="Google Shape;132;p6"/>
          <p:cNvSpPr/>
          <p:nvPr/>
        </p:nvSpPr>
        <p:spPr>
          <a:xfrm>
            <a:off x="1783080" y="2075688"/>
            <a:ext cx="6858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50"/>
              <a:buFont typeface="Calibri"/>
              <a:buNone/>
            </a:pPr>
            <a:r>
              <a:rPr lang="en-US" sz="1350" b="0" i="0" u="none" strike="noStrike" cap="none">
                <a:solidFill>
                  <a:srgbClr val="23283F"/>
                </a:solidFill>
                <a:latin typeface="Calibri"/>
                <a:ea typeface="Calibri"/>
                <a:cs typeface="Calibri"/>
                <a:sym typeface="Calibri"/>
              </a:rPr>
              <a:t>Inputs prepared &amp; shared with consultants (UK, SA, AU, BE)</a:t>
            </a:r>
            <a:endParaRPr sz="1350" b="0" i="0" u="none" strike="noStrike" cap="none">
              <a:solidFill>
                <a:schemeClr val="dk1"/>
              </a:solidFill>
              <a:latin typeface="Calibri"/>
              <a:ea typeface="Calibri"/>
              <a:cs typeface="Calibri"/>
              <a:sym typeface="Calibri"/>
            </a:endParaRPr>
          </a:p>
        </p:txBody>
      </p:sp>
      <p:sp>
        <p:nvSpPr>
          <p:cNvPr id="133" name="Google Shape;133;p6"/>
          <p:cNvSpPr/>
          <p:nvPr/>
        </p:nvSpPr>
        <p:spPr>
          <a:xfrm>
            <a:off x="1371600" y="2706624"/>
            <a:ext cx="219456" cy="219456"/>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365760" y="2651760"/>
            <a:ext cx="91440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761"/>
              </a:buClr>
              <a:buSzPts val="1400"/>
              <a:buFont typeface="Cambria"/>
              <a:buNone/>
            </a:pPr>
            <a:r>
              <a:rPr lang="en-US" sz="1400" b="1" i="0" u="none" strike="noStrike" cap="none">
                <a:solidFill>
                  <a:srgbClr val="1E2761"/>
                </a:solidFill>
                <a:latin typeface="Cambria"/>
                <a:ea typeface="Cambria"/>
                <a:cs typeface="Cambria"/>
                <a:sym typeface="Cambria"/>
              </a:rPr>
              <a:t>7-20th</a:t>
            </a:r>
            <a:endParaRPr sz="1400" b="0" i="0" u="none" strike="noStrike" cap="none">
              <a:solidFill>
                <a:schemeClr val="dk1"/>
              </a:solidFill>
              <a:latin typeface="Calibri"/>
              <a:ea typeface="Calibri"/>
              <a:cs typeface="Calibri"/>
              <a:sym typeface="Calibri"/>
            </a:endParaRPr>
          </a:p>
        </p:txBody>
      </p:sp>
      <p:sp>
        <p:nvSpPr>
          <p:cNvPr id="135" name="Google Shape;135;p6"/>
          <p:cNvSpPr/>
          <p:nvPr/>
        </p:nvSpPr>
        <p:spPr>
          <a:xfrm>
            <a:off x="1783080" y="2651760"/>
            <a:ext cx="6858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50"/>
              <a:buFont typeface="Calibri"/>
              <a:buNone/>
            </a:pPr>
            <a:r>
              <a:rPr lang="en-US" sz="1350" b="0" i="0" u="none" strike="noStrike" cap="none">
                <a:solidFill>
                  <a:srgbClr val="23283F"/>
                </a:solidFill>
                <a:latin typeface="Calibri"/>
                <a:ea typeface="Calibri"/>
                <a:cs typeface="Calibri"/>
                <a:sym typeface="Calibri"/>
              </a:rPr>
              <a:t>Cut-off cascade: Remote 7th · NL/PT 10th · HK/Dubai 18th · India 20th</a:t>
            </a:r>
            <a:endParaRPr sz="1350" b="0" i="0" u="none" strike="noStrike" cap="none">
              <a:solidFill>
                <a:schemeClr val="dk1"/>
              </a:solidFill>
              <a:latin typeface="Calibri"/>
              <a:ea typeface="Calibri"/>
              <a:cs typeface="Calibri"/>
              <a:sym typeface="Calibri"/>
            </a:endParaRPr>
          </a:p>
        </p:txBody>
      </p:sp>
      <p:sp>
        <p:nvSpPr>
          <p:cNvPr id="136" name="Google Shape;136;p6"/>
          <p:cNvSpPr/>
          <p:nvPr/>
        </p:nvSpPr>
        <p:spPr>
          <a:xfrm>
            <a:off x="1371600" y="3282696"/>
            <a:ext cx="219456" cy="219456"/>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365760" y="3227832"/>
            <a:ext cx="91440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761"/>
              </a:buClr>
              <a:buSzPts val="1400"/>
              <a:buFont typeface="Cambria"/>
              <a:buNone/>
            </a:pPr>
            <a:r>
              <a:rPr lang="en-US" sz="1400" b="1" i="0" u="none" strike="noStrike" cap="none">
                <a:solidFill>
                  <a:srgbClr val="1E2761"/>
                </a:solidFill>
                <a:latin typeface="Cambria"/>
                <a:ea typeface="Cambria"/>
                <a:cs typeface="Cambria"/>
                <a:sym typeface="Cambria"/>
              </a:rPr>
              <a:t>23rd</a:t>
            </a:r>
            <a:endParaRPr sz="1400" b="0" i="0" u="none" strike="noStrike" cap="none">
              <a:solidFill>
                <a:schemeClr val="dk1"/>
              </a:solidFill>
              <a:latin typeface="Calibri"/>
              <a:ea typeface="Calibri"/>
              <a:cs typeface="Calibri"/>
              <a:sym typeface="Calibri"/>
            </a:endParaRPr>
          </a:p>
        </p:txBody>
      </p:sp>
      <p:sp>
        <p:nvSpPr>
          <p:cNvPr id="138" name="Google Shape;138;p6"/>
          <p:cNvSpPr/>
          <p:nvPr/>
        </p:nvSpPr>
        <p:spPr>
          <a:xfrm>
            <a:off x="1783080" y="3227832"/>
            <a:ext cx="6858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50"/>
              <a:buFont typeface="Calibri"/>
              <a:buNone/>
            </a:pPr>
            <a:r>
              <a:rPr lang="en-US" sz="1350" b="0" i="0" u="none" strike="noStrike" cap="none">
                <a:solidFill>
                  <a:srgbClr val="23283F"/>
                </a:solidFill>
                <a:latin typeface="Calibri"/>
                <a:ea typeface="Calibri"/>
                <a:cs typeface="Calibri"/>
                <a:sym typeface="Calibri"/>
              </a:rPr>
              <a:t>Review call - Senior Payroll Manager approves final salaries</a:t>
            </a:r>
            <a:endParaRPr sz="1350" b="0" i="0" u="none" strike="noStrike" cap="none">
              <a:solidFill>
                <a:schemeClr val="dk1"/>
              </a:solidFill>
              <a:latin typeface="Calibri"/>
              <a:ea typeface="Calibri"/>
              <a:cs typeface="Calibri"/>
              <a:sym typeface="Calibri"/>
            </a:endParaRPr>
          </a:p>
        </p:txBody>
      </p:sp>
      <p:sp>
        <p:nvSpPr>
          <p:cNvPr id="139" name="Google Shape;139;p6"/>
          <p:cNvSpPr/>
          <p:nvPr/>
        </p:nvSpPr>
        <p:spPr>
          <a:xfrm>
            <a:off x="1371600" y="3858768"/>
            <a:ext cx="219456" cy="219456"/>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365760" y="3803904"/>
            <a:ext cx="91440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761"/>
              </a:buClr>
              <a:buSzPts val="1400"/>
              <a:buFont typeface="Cambria"/>
              <a:buNone/>
            </a:pPr>
            <a:r>
              <a:rPr lang="en-US" sz="1400" b="1" i="0" u="none" strike="noStrike" cap="none">
                <a:solidFill>
                  <a:srgbClr val="1E2761"/>
                </a:solidFill>
                <a:latin typeface="Cambria"/>
                <a:ea typeface="Cambria"/>
                <a:cs typeface="Cambria"/>
                <a:sym typeface="Cambria"/>
              </a:rPr>
              <a:t>24-25th</a:t>
            </a:r>
            <a:endParaRPr sz="1400" b="0" i="0" u="none" strike="noStrike" cap="none">
              <a:solidFill>
                <a:schemeClr val="dk1"/>
              </a:solidFill>
              <a:latin typeface="Calibri"/>
              <a:ea typeface="Calibri"/>
              <a:cs typeface="Calibri"/>
              <a:sym typeface="Calibri"/>
            </a:endParaRPr>
          </a:p>
        </p:txBody>
      </p:sp>
      <p:sp>
        <p:nvSpPr>
          <p:cNvPr id="141" name="Google Shape;141;p6"/>
          <p:cNvSpPr/>
          <p:nvPr/>
        </p:nvSpPr>
        <p:spPr>
          <a:xfrm>
            <a:off x="1783080" y="3803904"/>
            <a:ext cx="6858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350"/>
              <a:buFont typeface="Calibri"/>
              <a:buNone/>
            </a:pPr>
            <a:r>
              <a:rPr lang="en-US" sz="1350" b="1" i="0" u="none" strike="noStrike" cap="none">
                <a:solidFill>
                  <a:srgbClr val="8F7115"/>
                </a:solidFill>
                <a:latin typeface="Calibri"/>
                <a:ea typeface="Calibri"/>
                <a:cs typeface="Calibri"/>
                <a:sym typeface="Calibri"/>
              </a:rPr>
              <a:t>PAYDAY - batch payments from 9 bank accounts worldwide</a:t>
            </a:r>
            <a:endParaRPr sz="1350" b="0" i="0" u="none" strike="noStrike" cap="none">
              <a:solidFill>
                <a:schemeClr val="dk1"/>
              </a:solidFill>
              <a:latin typeface="Calibri"/>
              <a:ea typeface="Calibri"/>
              <a:cs typeface="Calibri"/>
              <a:sym typeface="Calibri"/>
            </a:endParaRPr>
          </a:p>
        </p:txBody>
      </p:sp>
      <p:sp>
        <p:nvSpPr>
          <p:cNvPr id="142" name="Google Shape;142;p6"/>
          <p:cNvSpPr/>
          <p:nvPr/>
        </p:nvSpPr>
        <p:spPr>
          <a:xfrm>
            <a:off x="1371600" y="4434840"/>
            <a:ext cx="219456" cy="219456"/>
          </a:xfrm>
          <a:prstGeom prst="ellipse">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365760" y="4379976"/>
            <a:ext cx="914400" cy="32918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761"/>
              </a:buClr>
              <a:buSzPts val="1400"/>
              <a:buFont typeface="Cambria"/>
              <a:buNone/>
            </a:pPr>
            <a:r>
              <a:rPr lang="en-US" sz="1400" b="1" i="0" u="none" strike="noStrike" cap="none">
                <a:solidFill>
                  <a:srgbClr val="1E2761"/>
                </a:solidFill>
                <a:latin typeface="Cambria"/>
                <a:ea typeface="Cambria"/>
                <a:cs typeface="Cambria"/>
                <a:sym typeface="Cambria"/>
              </a:rPr>
              <a:t>Month end</a:t>
            </a:r>
            <a:endParaRPr sz="1400" b="0" i="0" u="none" strike="noStrike" cap="none">
              <a:solidFill>
                <a:schemeClr val="dk1"/>
              </a:solidFill>
              <a:latin typeface="Calibri"/>
              <a:ea typeface="Calibri"/>
              <a:cs typeface="Calibri"/>
              <a:sym typeface="Calibri"/>
            </a:endParaRPr>
          </a:p>
        </p:txBody>
      </p:sp>
      <p:sp>
        <p:nvSpPr>
          <p:cNvPr id="144" name="Google Shape;144;p6"/>
          <p:cNvSpPr/>
          <p:nvPr/>
        </p:nvSpPr>
        <p:spPr>
          <a:xfrm>
            <a:off x="1783080" y="4379976"/>
            <a:ext cx="6858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50"/>
              <a:buFont typeface="Calibri"/>
              <a:buNone/>
            </a:pPr>
            <a:r>
              <a:rPr lang="en-US" sz="1350" b="0" i="0" u="none" strike="noStrike" cap="none">
                <a:solidFill>
                  <a:srgbClr val="23283F"/>
                </a:solidFill>
                <a:latin typeface="Calibri"/>
                <a:ea typeface="Calibri"/>
                <a:cs typeface="Calibri"/>
                <a:sym typeface="Calibri"/>
              </a:rPr>
              <a:t>Bank rec in NetSuite (2-3 days) + salary cost booking &amp; journals</a:t>
            </a:r>
            <a:endParaRPr sz="1350" b="0" i="0" u="none" strike="noStrike" cap="none">
              <a:solidFill>
                <a:schemeClr val="dk1"/>
              </a:solidFill>
              <a:latin typeface="Calibri"/>
              <a:ea typeface="Calibri"/>
              <a:cs typeface="Calibri"/>
              <a:sym typeface="Calibri"/>
            </a:endParaRPr>
          </a:p>
        </p:txBody>
      </p:sp>
      <p:sp>
        <p:nvSpPr>
          <p:cNvPr id="145" name="Google Shape;145;p6"/>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5</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0"/>
        <p:cNvGrpSpPr/>
        <p:nvPr/>
      </p:nvGrpSpPr>
      <p:grpSpPr>
        <a:xfrm>
          <a:off x="0" y="0"/>
          <a:ext cx="0" cy="0"/>
          <a:chOff x="0" y="0"/>
          <a:chExt cx="0" cy="0"/>
        </a:xfrm>
      </p:grpSpPr>
      <p:sp>
        <p:nvSpPr>
          <p:cNvPr id="151" name="Google Shape;151;p7"/>
          <p:cNvSpPr/>
          <p:nvPr/>
        </p:nvSpPr>
        <p:spPr>
          <a:xfrm>
            <a:off x="457200" y="384048"/>
            <a:ext cx="566928" cy="566928"/>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2" name="Google Shape;152;p7"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153" name="Google Shape;153;p7"/>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STAGE 1 · THE MORNING</a:t>
            </a:r>
            <a:endParaRPr sz="1100" b="0" i="0" u="none" strike="noStrike" cap="none">
              <a:solidFill>
                <a:schemeClr val="dk1"/>
              </a:solidFill>
              <a:latin typeface="Calibri"/>
              <a:ea typeface="Calibri"/>
              <a:cs typeface="Calibri"/>
              <a:sym typeface="Calibri"/>
            </a:endParaRPr>
          </a:p>
        </p:txBody>
      </p:sp>
      <p:sp>
        <p:nvSpPr>
          <p:cNvPr id="154" name="Google Shape;154;p7"/>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It All Starts With Clean Inputs</a:t>
            </a:r>
            <a:endParaRPr sz="2900" b="0" i="0" u="none" strike="noStrike" cap="none">
              <a:solidFill>
                <a:schemeClr val="dk1"/>
              </a:solidFill>
              <a:latin typeface="Calibri"/>
              <a:ea typeface="Calibri"/>
              <a:cs typeface="Calibri"/>
              <a:sym typeface="Calibri"/>
            </a:endParaRPr>
          </a:p>
        </p:txBody>
      </p:sp>
      <p:sp>
        <p:nvSpPr>
          <p:cNvPr id="155" name="Google Shape;155;p7"/>
          <p:cNvSpPr/>
          <p:nvPr/>
        </p:nvSpPr>
        <p:spPr>
          <a:xfrm>
            <a:off x="502920" y="1481328"/>
            <a:ext cx="4023360" cy="1207008"/>
          </a:xfrm>
          <a:prstGeom prst="roundRect">
            <a:avLst>
              <a:gd name="adj" fmla="val 6818"/>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a:off x="667512" y="1627632"/>
            <a:ext cx="384048" cy="384048"/>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7" name="Google Shape;157;p7" descr="preencoded.png"/>
          <p:cNvPicPr preferRelativeResize="0"/>
          <p:nvPr/>
        </p:nvPicPr>
        <p:blipFill rotWithShape="1">
          <a:blip r:embed="rId4">
            <a:alphaModFix/>
          </a:blip>
          <a:srcRect/>
          <a:stretch/>
        </p:blipFill>
        <p:spPr>
          <a:xfrm>
            <a:off x="763524" y="1723644"/>
            <a:ext cx="192024" cy="192024"/>
          </a:xfrm>
          <a:prstGeom prst="rect">
            <a:avLst/>
          </a:prstGeom>
          <a:noFill/>
          <a:ln>
            <a:noFill/>
          </a:ln>
        </p:spPr>
      </p:pic>
      <p:sp>
        <p:nvSpPr>
          <p:cNvPr id="158" name="Google Shape;158;p7"/>
          <p:cNvSpPr/>
          <p:nvPr/>
        </p:nvSpPr>
        <p:spPr>
          <a:xfrm>
            <a:off x="1179576" y="1627632"/>
            <a:ext cx="32004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50"/>
              <a:buFont typeface="Calibri"/>
              <a:buNone/>
            </a:pPr>
            <a:r>
              <a:rPr lang="en-US" sz="1450" b="1" i="0" u="none" strike="noStrike" cap="none">
                <a:solidFill>
                  <a:srgbClr val="1E2761"/>
                </a:solidFill>
                <a:latin typeface="Calibri"/>
                <a:ea typeface="Calibri"/>
                <a:cs typeface="Calibri"/>
                <a:sym typeface="Calibri"/>
              </a:rPr>
              <a:t>New joiners</a:t>
            </a:r>
            <a:endParaRPr sz="1450" b="0" i="0" u="none" strike="noStrike" cap="none">
              <a:solidFill>
                <a:schemeClr val="dk1"/>
              </a:solidFill>
              <a:latin typeface="Calibri"/>
              <a:ea typeface="Calibri"/>
              <a:cs typeface="Calibri"/>
              <a:sym typeface="Calibri"/>
            </a:endParaRPr>
          </a:p>
        </p:txBody>
      </p:sp>
      <p:sp>
        <p:nvSpPr>
          <p:cNvPr id="159" name="Google Shape;159;p7"/>
          <p:cNvSpPr/>
          <p:nvPr/>
        </p:nvSpPr>
        <p:spPr>
          <a:xfrm>
            <a:off x="685800" y="2048256"/>
            <a:ext cx="370332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100"/>
              <a:buFont typeface="Calibri"/>
              <a:buNone/>
            </a:pPr>
            <a:r>
              <a:rPr lang="en-US" sz="1100" b="0" i="0" u="none" strike="noStrike" cap="none">
                <a:solidFill>
                  <a:srgbClr val="23283F"/>
                </a:solidFill>
                <a:latin typeface="Calibri"/>
                <a:ea typeface="Calibri"/>
                <a:cs typeface="Calibri"/>
                <a:sym typeface="Calibri"/>
              </a:rPr>
              <a:t>Personal, bank, tax &amp; statutory details verified against KYC docs on HiBob</a:t>
            </a:r>
            <a:endParaRPr sz="1100" b="0" i="0" u="none" strike="noStrike" cap="none">
              <a:solidFill>
                <a:schemeClr val="dk1"/>
              </a:solidFill>
              <a:latin typeface="Calibri"/>
              <a:ea typeface="Calibri"/>
              <a:cs typeface="Calibri"/>
              <a:sym typeface="Calibri"/>
            </a:endParaRPr>
          </a:p>
        </p:txBody>
      </p:sp>
      <p:sp>
        <p:nvSpPr>
          <p:cNvPr id="160" name="Google Shape;160;p7"/>
          <p:cNvSpPr/>
          <p:nvPr/>
        </p:nvSpPr>
        <p:spPr>
          <a:xfrm>
            <a:off x="4709160" y="1481328"/>
            <a:ext cx="4023360" cy="1207008"/>
          </a:xfrm>
          <a:prstGeom prst="roundRect">
            <a:avLst>
              <a:gd name="adj" fmla="val 6818"/>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4873752" y="1627632"/>
            <a:ext cx="384048" cy="384048"/>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2" name="Google Shape;162;p7" descr="preencoded.png"/>
          <p:cNvPicPr preferRelativeResize="0"/>
          <p:nvPr/>
        </p:nvPicPr>
        <p:blipFill rotWithShape="1">
          <a:blip r:embed="rId5">
            <a:alphaModFix/>
          </a:blip>
          <a:srcRect/>
          <a:stretch/>
        </p:blipFill>
        <p:spPr>
          <a:xfrm>
            <a:off x="4969764" y="1723644"/>
            <a:ext cx="192024" cy="192024"/>
          </a:xfrm>
          <a:prstGeom prst="rect">
            <a:avLst/>
          </a:prstGeom>
          <a:noFill/>
          <a:ln>
            <a:noFill/>
          </a:ln>
        </p:spPr>
      </p:pic>
      <p:sp>
        <p:nvSpPr>
          <p:cNvPr id="163" name="Google Shape;163;p7"/>
          <p:cNvSpPr/>
          <p:nvPr/>
        </p:nvSpPr>
        <p:spPr>
          <a:xfrm>
            <a:off x="5385816" y="1627632"/>
            <a:ext cx="32004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50"/>
              <a:buFont typeface="Calibri"/>
              <a:buNone/>
            </a:pPr>
            <a:r>
              <a:rPr lang="en-US" sz="1450" b="1" i="0" u="none" strike="noStrike" cap="none">
                <a:solidFill>
                  <a:srgbClr val="1E2761"/>
                </a:solidFill>
                <a:latin typeface="Calibri"/>
                <a:ea typeface="Calibri"/>
                <a:cs typeface="Calibri"/>
                <a:sym typeface="Calibri"/>
              </a:rPr>
              <a:t>Leavers</a:t>
            </a:r>
            <a:endParaRPr sz="1450" b="0" i="0" u="none" strike="noStrike" cap="none">
              <a:solidFill>
                <a:schemeClr val="dk1"/>
              </a:solidFill>
              <a:latin typeface="Calibri"/>
              <a:ea typeface="Calibri"/>
              <a:cs typeface="Calibri"/>
              <a:sym typeface="Calibri"/>
            </a:endParaRPr>
          </a:p>
        </p:txBody>
      </p:sp>
      <p:sp>
        <p:nvSpPr>
          <p:cNvPr id="164" name="Google Shape;164;p7"/>
          <p:cNvSpPr/>
          <p:nvPr/>
        </p:nvSpPr>
        <p:spPr>
          <a:xfrm>
            <a:off x="4892040" y="2048256"/>
            <a:ext cx="370332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100"/>
              <a:buFont typeface="Calibri"/>
              <a:buNone/>
            </a:pPr>
            <a:r>
              <a:rPr lang="en-US" sz="1100" b="0" i="0" u="none" strike="noStrike" cap="none">
                <a:solidFill>
                  <a:srgbClr val="23283F"/>
                </a:solidFill>
                <a:latin typeface="Calibri"/>
                <a:ea typeface="Calibri"/>
                <a:cs typeface="Calibri"/>
                <a:sym typeface="Calibri"/>
              </a:rPr>
              <a:t>Last working day, prorations, ESOP payouts, severance &amp; offboarding comments</a:t>
            </a:r>
            <a:endParaRPr sz="1100" b="0" i="0" u="none" strike="noStrike" cap="none">
              <a:solidFill>
                <a:schemeClr val="dk1"/>
              </a:solidFill>
              <a:latin typeface="Calibri"/>
              <a:ea typeface="Calibri"/>
              <a:cs typeface="Calibri"/>
              <a:sym typeface="Calibri"/>
            </a:endParaRPr>
          </a:p>
        </p:txBody>
      </p:sp>
      <p:sp>
        <p:nvSpPr>
          <p:cNvPr id="165" name="Google Shape;165;p7"/>
          <p:cNvSpPr/>
          <p:nvPr/>
        </p:nvSpPr>
        <p:spPr>
          <a:xfrm>
            <a:off x="502920" y="2852928"/>
            <a:ext cx="4023360" cy="1207008"/>
          </a:xfrm>
          <a:prstGeom prst="roundRect">
            <a:avLst>
              <a:gd name="adj" fmla="val 6818"/>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7"/>
          <p:cNvSpPr/>
          <p:nvPr/>
        </p:nvSpPr>
        <p:spPr>
          <a:xfrm>
            <a:off x="667512" y="2999232"/>
            <a:ext cx="384048" cy="384048"/>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7" name="Google Shape;167;p7" descr="preencoded.png"/>
          <p:cNvPicPr preferRelativeResize="0"/>
          <p:nvPr/>
        </p:nvPicPr>
        <p:blipFill rotWithShape="1">
          <a:blip r:embed="rId6">
            <a:alphaModFix/>
          </a:blip>
          <a:srcRect/>
          <a:stretch/>
        </p:blipFill>
        <p:spPr>
          <a:xfrm>
            <a:off x="763524" y="3095244"/>
            <a:ext cx="192024" cy="192024"/>
          </a:xfrm>
          <a:prstGeom prst="rect">
            <a:avLst/>
          </a:prstGeom>
          <a:noFill/>
          <a:ln>
            <a:noFill/>
          </a:ln>
        </p:spPr>
      </p:pic>
      <p:sp>
        <p:nvSpPr>
          <p:cNvPr id="168" name="Google Shape;168;p7"/>
          <p:cNvSpPr/>
          <p:nvPr/>
        </p:nvSpPr>
        <p:spPr>
          <a:xfrm>
            <a:off x="1179576" y="2999232"/>
            <a:ext cx="32004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50"/>
              <a:buFont typeface="Calibri"/>
              <a:buNone/>
            </a:pPr>
            <a:r>
              <a:rPr lang="en-US" sz="1450" b="1" i="0" u="none" strike="noStrike" cap="none">
                <a:solidFill>
                  <a:srgbClr val="1E2761"/>
                </a:solidFill>
                <a:latin typeface="Calibri"/>
                <a:ea typeface="Calibri"/>
                <a:cs typeface="Calibri"/>
                <a:sym typeface="Calibri"/>
              </a:rPr>
              <a:t>Variable pay</a:t>
            </a:r>
            <a:endParaRPr sz="1450" b="0" i="0" u="none" strike="noStrike" cap="none">
              <a:solidFill>
                <a:schemeClr val="dk1"/>
              </a:solidFill>
              <a:latin typeface="Calibri"/>
              <a:ea typeface="Calibri"/>
              <a:cs typeface="Calibri"/>
              <a:sym typeface="Calibri"/>
            </a:endParaRPr>
          </a:p>
        </p:txBody>
      </p:sp>
      <p:sp>
        <p:nvSpPr>
          <p:cNvPr id="169" name="Google Shape;169;p7"/>
          <p:cNvSpPr/>
          <p:nvPr/>
        </p:nvSpPr>
        <p:spPr>
          <a:xfrm>
            <a:off x="685800" y="3419856"/>
            <a:ext cx="370332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100"/>
              <a:buFont typeface="Calibri"/>
              <a:buNone/>
            </a:pPr>
            <a:r>
              <a:rPr lang="en-US" sz="1100" b="0" i="0" u="none" strike="noStrike" cap="none">
                <a:solidFill>
                  <a:srgbClr val="23283F"/>
                </a:solidFill>
                <a:latin typeface="Calibri"/>
                <a:ea typeface="Calibri"/>
                <a:cs typeface="Calibri"/>
                <a:sym typeface="Calibri"/>
              </a:rPr>
              <a:t>Commissions &amp; bonuses from Buy-Side, Supply-Side, Media and People teams</a:t>
            </a:r>
            <a:endParaRPr sz="1100" b="0" i="0" u="none" strike="noStrike" cap="none">
              <a:solidFill>
                <a:schemeClr val="dk1"/>
              </a:solidFill>
              <a:latin typeface="Calibri"/>
              <a:ea typeface="Calibri"/>
              <a:cs typeface="Calibri"/>
              <a:sym typeface="Calibri"/>
            </a:endParaRPr>
          </a:p>
        </p:txBody>
      </p:sp>
      <p:sp>
        <p:nvSpPr>
          <p:cNvPr id="170" name="Google Shape;170;p7"/>
          <p:cNvSpPr/>
          <p:nvPr/>
        </p:nvSpPr>
        <p:spPr>
          <a:xfrm>
            <a:off x="4709160" y="2852928"/>
            <a:ext cx="4023360" cy="1207008"/>
          </a:xfrm>
          <a:prstGeom prst="roundRect">
            <a:avLst>
              <a:gd name="adj" fmla="val 6818"/>
            </a:avLst>
          </a:prstGeom>
          <a:solidFill>
            <a:srgbClr val="FDF1E4"/>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4873752" y="2999232"/>
            <a:ext cx="384048" cy="384048"/>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2" name="Google Shape;172;p7" descr="preencoded.png"/>
          <p:cNvPicPr preferRelativeResize="0"/>
          <p:nvPr/>
        </p:nvPicPr>
        <p:blipFill rotWithShape="1">
          <a:blip r:embed="rId7">
            <a:alphaModFix/>
          </a:blip>
          <a:srcRect/>
          <a:stretch/>
        </p:blipFill>
        <p:spPr>
          <a:xfrm>
            <a:off x="4969764" y="3095244"/>
            <a:ext cx="192024" cy="192024"/>
          </a:xfrm>
          <a:prstGeom prst="rect">
            <a:avLst/>
          </a:prstGeom>
          <a:noFill/>
          <a:ln>
            <a:noFill/>
          </a:ln>
        </p:spPr>
      </p:pic>
      <p:sp>
        <p:nvSpPr>
          <p:cNvPr id="173" name="Google Shape;173;p7"/>
          <p:cNvSpPr/>
          <p:nvPr/>
        </p:nvSpPr>
        <p:spPr>
          <a:xfrm>
            <a:off x="5385816" y="2999232"/>
            <a:ext cx="32004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50"/>
              <a:buFont typeface="Calibri"/>
              <a:buNone/>
            </a:pPr>
            <a:r>
              <a:rPr lang="en-US" sz="1450" b="1" i="0" u="none" strike="noStrike" cap="none">
                <a:solidFill>
                  <a:srgbClr val="1E2761"/>
                </a:solidFill>
                <a:latin typeface="Calibri"/>
                <a:ea typeface="Calibri"/>
                <a:cs typeface="Calibri"/>
                <a:sym typeface="Calibri"/>
              </a:rPr>
              <a:t>Salary changes</a:t>
            </a:r>
            <a:endParaRPr sz="1450" b="0" i="0" u="none" strike="noStrike" cap="none">
              <a:solidFill>
                <a:schemeClr val="dk1"/>
              </a:solidFill>
              <a:latin typeface="Calibri"/>
              <a:ea typeface="Calibri"/>
              <a:cs typeface="Calibri"/>
              <a:sym typeface="Calibri"/>
            </a:endParaRPr>
          </a:p>
        </p:txBody>
      </p:sp>
      <p:sp>
        <p:nvSpPr>
          <p:cNvPr id="174" name="Google Shape;174;p7"/>
          <p:cNvSpPr/>
          <p:nvPr/>
        </p:nvSpPr>
        <p:spPr>
          <a:xfrm>
            <a:off x="4892040" y="3419856"/>
            <a:ext cx="370332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100"/>
              <a:buFont typeface="Calibri"/>
              <a:buNone/>
            </a:pPr>
            <a:r>
              <a:rPr lang="en-US" sz="1100" b="0" i="0" u="none" strike="noStrike" cap="none">
                <a:solidFill>
                  <a:srgbClr val="23283F"/>
                </a:solidFill>
                <a:latin typeface="Calibri"/>
                <a:ea typeface="Calibri"/>
                <a:cs typeface="Calibri"/>
                <a:sym typeface="Calibri"/>
              </a:rPr>
              <a:t>Revisions and backdated arrears - effective dates from the People team</a:t>
            </a:r>
            <a:endParaRPr sz="1100" b="0" i="0" u="none" strike="noStrike" cap="none">
              <a:solidFill>
                <a:schemeClr val="dk1"/>
              </a:solidFill>
              <a:latin typeface="Calibri"/>
              <a:ea typeface="Calibri"/>
              <a:cs typeface="Calibri"/>
              <a:sym typeface="Calibri"/>
            </a:endParaRPr>
          </a:p>
        </p:txBody>
      </p:sp>
      <p:sp>
        <p:nvSpPr>
          <p:cNvPr id="175" name="Google Shape;175;p7"/>
          <p:cNvSpPr/>
          <p:nvPr/>
        </p:nvSpPr>
        <p:spPr>
          <a:xfrm>
            <a:off x="502920" y="4315968"/>
            <a:ext cx="8183880" cy="566928"/>
          </a:xfrm>
          <a:prstGeom prst="roundRect">
            <a:avLst>
              <a:gd name="adj" fmla="val 14516"/>
            </a:avLst>
          </a:prstGeom>
          <a:solidFill>
            <a:srgbClr val="FBF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6" name="Google Shape;176;p7" descr="preencoded.png"/>
          <p:cNvPicPr preferRelativeResize="0"/>
          <p:nvPr/>
        </p:nvPicPr>
        <p:blipFill rotWithShape="1">
          <a:blip r:embed="rId8">
            <a:alphaModFix/>
          </a:blip>
          <a:srcRect/>
          <a:stretch/>
        </p:blipFill>
        <p:spPr>
          <a:xfrm>
            <a:off x="685800" y="4453128"/>
            <a:ext cx="292608" cy="292608"/>
          </a:xfrm>
          <a:prstGeom prst="rect">
            <a:avLst/>
          </a:prstGeom>
          <a:noFill/>
          <a:ln>
            <a:noFill/>
          </a:ln>
        </p:spPr>
      </p:pic>
      <p:sp>
        <p:nvSpPr>
          <p:cNvPr id="177" name="Google Shape;177;p7"/>
          <p:cNvSpPr/>
          <p:nvPr/>
        </p:nvSpPr>
        <p:spPr>
          <a:xfrm>
            <a:off x="1097280" y="431596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250"/>
              <a:buFont typeface="Calibri"/>
              <a:buNone/>
            </a:pPr>
            <a:r>
              <a:rPr lang="en-US" sz="1250" b="0" i="1" u="none" strike="noStrike" cap="none">
                <a:solidFill>
                  <a:srgbClr val="8F7115"/>
                </a:solidFill>
                <a:latin typeface="Calibri"/>
                <a:ea typeface="Calibri"/>
                <a:cs typeface="Calibri"/>
                <a:sym typeface="Calibri"/>
              </a:rPr>
              <a:t>From our own reconciliations: nearly every discrepancy we chase traces back to an input or a mapping - not the maths.</a:t>
            </a:r>
            <a:endParaRPr sz="1250" b="0" i="0" u="none" strike="noStrike" cap="none">
              <a:solidFill>
                <a:schemeClr val="dk1"/>
              </a:solidFill>
              <a:latin typeface="Calibri"/>
              <a:ea typeface="Calibri"/>
              <a:cs typeface="Calibri"/>
              <a:sym typeface="Calibri"/>
            </a:endParaRPr>
          </a:p>
        </p:txBody>
      </p:sp>
      <p:sp>
        <p:nvSpPr>
          <p:cNvPr id="178" name="Google Shape;178;p7"/>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3"/>
        <p:cNvGrpSpPr/>
        <p:nvPr/>
      </p:nvGrpSpPr>
      <p:grpSpPr>
        <a:xfrm>
          <a:off x="0" y="0"/>
          <a:ext cx="0" cy="0"/>
          <a:chOff x="0" y="0"/>
          <a:chExt cx="0" cy="0"/>
        </a:xfrm>
      </p:grpSpPr>
      <p:sp>
        <p:nvSpPr>
          <p:cNvPr id="184" name="Google Shape;184;p8"/>
          <p:cNvSpPr/>
          <p:nvPr/>
        </p:nvSpPr>
        <p:spPr>
          <a:xfrm>
            <a:off x="457200" y="384048"/>
            <a:ext cx="566928" cy="566928"/>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5" name="Google Shape;185;p8"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186" name="Google Shape;186;p8"/>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STAGE 2 · THE ENGINE ROOM</a:t>
            </a:r>
            <a:endParaRPr sz="1100" b="0" i="0" u="none" strike="noStrike" cap="none">
              <a:solidFill>
                <a:schemeClr val="dk1"/>
              </a:solidFill>
              <a:latin typeface="Calibri"/>
              <a:ea typeface="Calibri"/>
              <a:cs typeface="Calibri"/>
              <a:sym typeface="Calibri"/>
            </a:endParaRPr>
          </a:p>
        </p:txBody>
      </p:sp>
      <p:sp>
        <p:nvSpPr>
          <p:cNvPr id="187" name="Google Shape;187;p8"/>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One Payroll, Three Operating Models</a:t>
            </a:r>
            <a:endParaRPr sz="2900" b="0" i="0" u="none" strike="noStrike" cap="none">
              <a:solidFill>
                <a:schemeClr val="dk1"/>
              </a:solidFill>
              <a:latin typeface="Calibri"/>
              <a:ea typeface="Calibri"/>
              <a:cs typeface="Calibri"/>
              <a:sym typeface="Calibri"/>
            </a:endParaRPr>
          </a:p>
        </p:txBody>
      </p:sp>
      <p:sp>
        <p:nvSpPr>
          <p:cNvPr id="188" name="Google Shape;188;p8"/>
          <p:cNvSpPr/>
          <p:nvPr/>
        </p:nvSpPr>
        <p:spPr>
          <a:xfrm>
            <a:off x="502920" y="1481328"/>
            <a:ext cx="2633472" cy="3063240"/>
          </a:xfrm>
          <a:prstGeom prst="roundRect">
            <a:avLst>
              <a:gd name="adj" fmla="val 3125"/>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8"/>
          <p:cNvSpPr/>
          <p:nvPr/>
        </p:nvSpPr>
        <p:spPr>
          <a:xfrm>
            <a:off x="667512" y="1645920"/>
            <a:ext cx="2331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28090"/>
              </a:buClr>
              <a:buSzPts val="1450"/>
              <a:buFont typeface="Calibri"/>
              <a:buNone/>
            </a:pPr>
            <a:r>
              <a:rPr lang="en-US" sz="1450" b="1" i="0" u="none" strike="noStrike" cap="none">
                <a:solidFill>
                  <a:srgbClr val="028090"/>
                </a:solidFill>
                <a:latin typeface="Calibri"/>
                <a:ea typeface="Calibri"/>
                <a:cs typeface="Calibri"/>
                <a:sym typeface="Calibri"/>
              </a:rPr>
              <a:t>Outsourced consultants</a:t>
            </a:r>
            <a:endParaRPr sz="1450" b="0" i="0" u="none" strike="noStrike" cap="none">
              <a:solidFill>
                <a:schemeClr val="dk1"/>
              </a:solidFill>
              <a:latin typeface="Calibri"/>
              <a:ea typeface="Calibri"/>
              <a:cs typeface="Calibri"/>
              <a:sym typeface="Calibri"/>
            </a:endParaRPr>
          </a:p>
        </p:txBody>
      </p:sp>
      <p:sp>
        <p:nvSpPr>
          <p:cNvPr id="190" name="Google Shape;190;p8"/>
          <p:cNvSpPr/>
          <p:nvPr/>
        </p:nvSpPr>
        <p:spPr>
          <a:xfrm>
            <a:off x="667512" y="2231136"/>
            <a:ext cx="2331720" cy="713232"/>
          </a:xfrm>
          <a:prstGeom prst="rect">
            <a:avLst/>
          </a:prstGeom>
          <a:noFill/>
          <a:ln>
            <a:noFill/>
          </a:ln>
        </p:spPr>
        <p:txBody>
          <a:bodyPr spcFirstLastPara="1" wrap="square" lIns="0" tIns="0" rIns="0" bIns="0" anchor="ctr" anchorCtr="0">
            <a:noAutofit/>
          </a:bodyPr>
          <a:lstStyle/>
          <a:p>
            <a:pPr lvl="0">
              <a:buClr>
                <a:srgbClr val="1E2761"/>
              </a:buClr>
              <a:buSzPts val="1050"/>
            </a:pPr>
            <a:r>
              <a:rPr lang="en-US" sz="1050" b="1" i="0" u="none" strike="noStrike" cap="none" dirty="0">
                <a:solidFill>
                  <a:srgbClr val="1E2761"/>
                </a:solidFill>
                <a:latin typeface="Calibri"/>
                <a:ea typeface="Calibri"/>
                <a:cs typeface="Calibri"/>
                <a:sym typeface="Calibri"/>
              </a:rPr>
              <a:t>UK · South Africa · Netherlands · Australia · Belgium · Portugal</a:t>
            </a:r>
            <a:r>
              <a:rPr lang="en-US" sz="1050" b="1" dirty="0">
                <a:solidFill>
                  <a:srgbClr val="1E2761"/>
                </a:solidFill>
                <a:latin typeface="Calibri"/>
                <a:ea typeface="Calibri"/>
                <a:cs typeface="Calibri"/>
                <a:sym typeface="Calibri"/>
              </a:rPr>
              <a:t> · </a:t>
            </a:r>
            <a:r>
              <a:rPr lang="en-US" sz="1050" b="1" i="0" u="none" strike="noStrike" cap="none" dirty="0">
                <a:solidFill>
                  <a:srgbClr val="1E2761"/>
                </a:solidFill>
                <a:latin typeface="Calibri"/>
                <a:ea typeface="Calibri"/>
                <a:cs typeface="Calibri"/>
                <a:sym typeface="Calibri"/>
              </a:rPr>
              <a:t>Spain</a:t>
            </a:r>
            <a:endParaRPr sz="1050" b="0" i="0" u="none" strike="noStrike" cap="none" dirty="0">
              <a:solidFill>
                <a:schemeClr val="dk1"/>
              </a:solidFill>
              <a:latin typeface="Calibri"/>
              <a:ea typeface="Calibri"/>
              <a:cs typeface="Calibri"/>
              <a:sym typeface="Calibri"/>
            </a:endParaRPr>
          </a:p>
        </p:txBody>
      </p:sp>
      <p:sp>
        <p:nvSpPr>
          <p:cNvPr id="191" name="Google Shape;191;p8"/>
          <p:cNvSpPr/>
          <p:nvPr/>
        </p:nvSpPr>
        <p:spPr>
          <a:xfrm>
            <a:off x="667512" y="2980944"/>
            <a:ext cx="2331720"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100"/>
              <a:buFont typeface="Calibri"/>
              <a:buNone/>
            </a:pPr>
            <a:r>
              <a:rPr lang="en-US" sz="1100" b="0" i="0" u="none" strike="noStrike" cap="none">
                <a:solidFill>
                  <a:srgbClr val="23283F"/>
                </a:solidFill>
                <a:latin typeface="Calibri"/>
                <a:ea typeface="Calibri"/>
                <a:cs typeface="Calibri"/>
                <a:sym typeface="Calibri"/>
              </a:rPr>
              <a:t>We send inputs; consultants return draft payslips &amp; gross-to-net files within 2 working days for review. Manual effort: MEDIUM.</a:t>
            </a:r>
            <a:endParaRPr sz="1100" b="0" i="0" u="none" strike="noStrike" cap="none">
              <a:solidFill>
                <a:schemeClr val="dk1"/>
              </a:solidFill>
              <a:latin typeface="Calibri"/>
              <a:ea typeface="Calibri"/>
              <a:cs typeface="Calibri"/>
              <a:sym typeface="Calibri"/>
            </a:endParaRPr>
          </a:p>
        </p:txBody>
      </p:sp>
      <p:sp>
        <p:nvSpPr>
          <p:cNvPr id="192" name="Google Shape;192;p8"/>
          <p:cNvSpPr/>
          <p:nvPr/>
        </p:nvSpPr>
        <p:spPr>
          <a:xfrm>
            <a:off x="3319272" y="1481328"/>
            <a:ext cx="2633472" cy="3063240"/>
          </a:xfrm>
          <a:prstGeom prst="roundRect">
            <a:avLst>
              <a:gd name="adj" fmla="val 3125"/>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8"/>
          <p:cNvSpPr/>
          <p:nvPr/>
        </p:nvSpPr>
        <p:spPr>
          <a:xfrm>
            <a:off x="3483864" y="1645920"/>
            <a:ext cx="2331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C4AB6"/>
              </a:buClr>
              <a:buSzPts val="1450"/>
              <a:buFont typeface="Calibri"/>
              <a:buNone/>
            </a:pPr>
            <a:r>
              <a:rPr lang="en-US" sz="1450" b="1" i="0" u="none" strike="noStrike" cap="none">
                <a:solidFill>
                  <a:srgbClr val="6C4AB6"/>
                </a:solidFill>
                <a:latin typeface="Calibri"/>
                <a:ea typeface="Calibri"/>
                <a:cs typeface="Calibri"/>
                <a:sym typeface="Calibri"/>
              </a:rPr>
              <a:t>EOR - Remote.com</a:t>
            </a:r>
            <a:endParaRPr sz="1450" b="0" i="0" u="none" strike="noStrike" cap="none">
              <a:solidFill>
                <a:schemeClr val="dk1"/>
              </a:solidFill>
              <a:latin typeface="Calibri"/>
              <a:ea typeface="Calibri"/>
              <a:cs typeface="Calibri"/>
              <a:sym typeface="Calibri"/>
            </a:endParaRPr>
          </a:p>
        </p:txBody>
      </p:sp>
      <p:sp>
        <p:nvSpPr>
          <p:cNvPr id="194" name="Google Shape;194;p8"/>
          <p:cNvSpPr/>
          <p:nvPr/>
        </p:nvSpPr>
        <p:spPr>
          <a:xfrm>
            <a:off x="3483864" y="2231136"/>
            <a:ext cx="233172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050"/>
              <a:buFont typeface="Calibri"/>
              <a:buNone/>
            </a:pPr>
            <a:r>
              <a:rPr lang="en-US" sz="1050" b="1" i="0" u="none" strike="noStrike" cap="none" dirty="0">
                <a:solidFill>
                  <a:srgbClr val="1E2761"/>
                </a:solidFill>
                <a:latin typeface="Calibri"/>
                <a:ea typeface="Calibri"/>
                <a:cs typeface="Calibri"/>
                <a:sym typeface="Calibri"/>
              </a:rPr>
              <a:t>Germany, Italy , Sweden other non-entity countries</a:t>
            </a:r>
            <a:endParaRPr sz="1050" b="0" i="0" u="none" strike="noStrike" cap="none" dirty="0">
              <a:solidFill>
                <a:schemeClr val="dk1"/>
              </a:solidFill>
              <a:latin typeface="Calibri"/>
              <a:ea typeface="Calibri"/>
              <a:cs typeface="Calibri"/>
              <a:sym typeface="Calibri"/>
            </a:endParaRPr>
          </a:p>
        </p:txBody>
      </p:sp>
      <p:sp>
        <p:nvSpPr>
          <p:cNvPr id="195" name="Google Shape;195;p8"/>
          <p:cNvSpPr/>
          <p:nvPr/>
        </p:nvSpPr>
        <p:spPr>
          <a:xfrm>
            <a:off x="3483864" y="2980944"/>
            <a:ext cx="2331720"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100"/>
              <a:buFont typeface="Calibri"/>
              <a:buNone/>
            </a:pPr>
            <a:r>
              <a:rPr lang="en-US" sz="1100" b="0" i="0" u="none" strike="noStrike" cap="none">
                <a:solidFill>
                  <a:srgbClr val="23283F"/>
                </a:solidFill>
                <a:latin typeface="Calibri"/>
                <a:ea typeface="Calibri"/>
                <a:cs typeface="Calibri"/>
                <a:sym typeface="Calibri"/>
              </a:rPr>
              <a:t>Remote legally employs the team member. We feed VDT inputs by the 7th; Remote handles tax &amp; compliance. Manual effort: LOW.</a:t>
            </a:r>
            <a:endParaRPr sz="1100" b="0" i="0" u="none" strike="noStrike" cap="none">
              <a:solidFill>
                <a:schemeClr val="dk1"/>
              </a:solidFill>
              <a:latin typeface="Calibri"/>
              <a:ea typeface="Calibri"/>
              <a:cs typeface="Calibri"/>
              <a:sym typeface="Calibri"/>
            </a:endParaRPr>
          </a:p>
        </p:txBody>
      </p:sp>
      <p:sp>
        <p:nvSpPr>
          <p:cNvPr id="196" name="Google Shape;196;p8"/>
          <p:cNvSpPr/>
          <p:nvPr/>
        </p:nvSpPr>
        <p:spPr>
          <a:xfrm>
            <a:off x="6135624" y="1481328"/>
            <a:ext cx="2633472" cy="3063240"/>
          </a:xfrm>
          <a:prstGeom prst="roundRect">
            <a:avLst>
              <a:gd name="adj" fmla="val 3125"/>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8"/>
          <p:cNvSpPr/>
          <p:nvPr/>
        </p:nvSpPr>
        <p:spPr>
          <a:xfrm>
            <a:off x="6300216" y="1645920"/>
            <a:ext cx="2331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96167"/>
              </a:buClr>
              <a:buSzPts val="1450"/>
              <a:buFont typeface="Calibri"/>
              <a:buNone/>
            </a:pPr>
            <a:r>
              <a:rPr lang="en-US" sz="1450" b="1" i="0" u="none" strike="noStrike" cap="none">
                <a:solidFill>
                  <a:srgbClr val="F96167"/>
                </a:solidFill>
                <a:latin typeface="Calibri"/>
                <a:ea typeface="Calibri"/>
                <a:cs typeface="Calibri"/>
                <a:sym typeface="Calibri"/>
              </a:rPr>
              <a:t>In-house processing</a:t>
            </a:r>
            <a:endParaRPr sz="1450" b="0" i="0" u="none" strike="noStrike" cap="none">
              <a:solidFill>
                <a:schemeClr val="dk1"/>
              </a:solidFill>
              <a:latin typeface="Calibri"/>
              <a:ea typeface="Calibri"/>
              <a:cs typeface="Calibri"/>
              <a:sym typeface="Calibri"/>
            </a:endParaRPr>
          </a:p>
        </p:txBody>
      </p:sp>
      <p:sp>
        <p:nvSpPr>
          <p:cNvPr id="198" name="Google Shape;198;p8"/>
          <p:cNvSpPr/>
          <p:nvPr/>
        </p:nvSpPr>
        <p:spPr>
          <a:xfrm>
            <a:off x="6300216" y="2231136"/>
            <a:ext cx="233172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050"/>
              <a:buFont typeface="Calibri"/>
              <a:buNone/>
            </a:pPr>
            <a:r>
              <a:rPr lang="en-US" sz="1050" b="1" i="0" u="none" strike="noStrike" cap="none" dirty="0">
                <a:solidFill>
                  <a:srgbClr val="1E2761"/>
                </a:solidFill>
                <a:latin typeface="Calibri"/>
                <a:ea typeface="Calibri"/>
                <a:cs typeface="Calibri"/>
                <a:sym typeface="Calibri"/>
              </a:rPr>
              <a:t>India (Paybooks) · Hong Kong &amp; Dubai · USA (Gusto)</a:t>
            </a:r>
            <a:endParaRPr sz="1050" b="0" i="0" u="none" strike="noStrike" cap="none" dirty="0">
              <a:solidFill>
                <a:schemeClr val="dk1"/>
              </a:solidFill>
              <a:latin typeface="Calibri"/>
              <a:ea typeface="Calibri"/>
              <a:cs typeface="Calibri"/>
              <a:sym typeface="Calibri"/>
            </a:endParaRPr>
          </a:p>
        </p:txBody>
      </p:sp>
      <p:sp>
        <p:nvSpPr>
          <p:cNvPr id="199" name="Google Shape;199;p8"/>
          <p:cNvSpPr/>
          <p:nvPr/>
        </p:nvSpPr>
        <p:spPr>
          <a:xfrm>
            <a:off x="6300216" y="2980944"/>
            <a:ext cx="2331720"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100"/>
              <a:buFont typeface="Calibri"/>
              <a:buNone/>
            </a:pPr>
            <a:r>
              <a:rPr lang="en-US" sz="1100" b="0" i="0" u="none" strike="noStrike" cap="none">
                <a:solidFill>
                  <a:srgbClr val="23283F"/>
                </a:solidFill>
                <a:latin typeface="Calibri"/>
                <a:ea typeface="Calibri"/>
                <a:cs typeface="Calibri"/>
                <a:sym typeface="Calibri"/>
              </a:rPr>
              <a:t>Our team runs the calculation directly - full control. Manual effort: HIGH - watch this column in Act 2.</a:t>
            </a:r>
            <a:endParaRPr sz="1100" b="0" i="0" u="none" strike="noStrike" cap="none">
              <a:solidFill>
                <a:schemeClr val="dk1"/>
              </a:solidFill>
              <a:latin typeface="Calibri"/>
              <a:ea typeface="Calibri"/>
              <a:cs typeface="Calibri"/>
              <a:sym typeface="Calibri"/>
            </a:endParaRPr>
          </a:p>
        </p:txBody>
      </p:sp>
      <p:sp>
        <p:nvSpPr>
          <p:cNvPr id="200" name="Google Shape;200;p8"/>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7</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205"/>
        <p:cNvGrpSpPr/>
        <p:nvPr/>
      </p:nvGrpSpPr>
      <p:grpSpPr>
        <a:xfrm>
          <a:off x="0" y="0"/>
          <a:ext cx="0" cy="0"/>
          <a:chOff x="0" y="0"/>
          <a:chExt cx="0" cy="0"/>
        </a:xfrm>
      </p:grpSpPr>
      <p:sp>
        <p:nvSpPr>
          <p:cNvPr id="206" name="Google Shape;206;p9"/>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9"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208" name="Google Shape;208;p9"/>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THE BIG PAYROLL QUIZ · ROUND 1</a:t>
            </a:r>
            <a:endParaRPr sz="1100" b="0" i="0" u="none" strike="noStrike" cap="none">
              <a:solidFill>
                <a:schemeClr val="dk1"/>
              </a:solidFill>
              <a:latin typeface="Calibri"/>
              <a:ea typeface="Calibri"/>
              <a:cs typeface="Calibri"/>
              <a:sym typeface="Calibri"/>
            </a:endParaRPr>
          </a:p>
        </p:txBody>
      </p:sp>
      <p:sp>
        <p:nvSpPr>
          <p:cNvPr id="209" name="Google Shape;209;p9"/>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Whose Payroll Is It Anyway?</a:t>
            </a:r>
            <a:endParaRPr sz="2900" b="0" i="0" u="none" strike="noStrike" cap="none">
              <a:solidFill>
                <a:schemeClr val="dk1"/>
              </a:solidFill>
              <a:latin typeface="Calibri"/>
              <a:ea typeface="Calibri"/>
              <a:cs typeface="Calibri"/>
              <a:sym typeface="Calibri"/>
            </a:endParaRPr>
          </a:p>
        </p:txBody>
      </p:sp>
      <p:sp>
        <p:nvSpPr>
          <p:cNvPr id="210" name="Google Shape;210;p9"/>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9"/>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9"/>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9"/>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9"/>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9"/>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9"/>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9"/>
          <p:cNvSpPr/>
          <p:nvPr/>
        </p:nvSpPr>
        <p:spPr>
          <a:xfrm>
            <a:off x="1207008" y="1170432"/>
            <a:ext cx="7406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200"/>
              <a:buFont typeface="Calibri"/>
              <a:buNone/>
            </a:pPr>
            <a:r>
              <a:rPr lang="en-US" sz="1200" b="0" i="1" u="none" strike="noStrike" cap="none">
                <a:solidFill>
                  <a:srgbClr val="CADCFC"/>
                </a:solidFill>
                <a:latin typeface="Calibri"/>
                <a:ea typeface="Calibri"/>
                <a:cs typeface="Calibri"/>
                <a:sym typeface="Calibri"/>
              </a:rPr>
              <a:t>Match each clue to a country - 1 point each. Choose from: India · UK · USA · Netherlands · Australia · Hong Kong · UAE · South Africa · Spain · Portugal · Belgium · Thailand</a:t>
            </a:r>
            <a:endParaRPr sz="1200" b="0" i="0" u="none" strike="noStrike" cap="none">
              <a:solidFill>
                <a:schemeClr val="dk1"/>
              </a:solidFill>
              <a:latin typeface="Calibri"/>
              <a:ea typeface="Calibri"/>
              <a:cs typeface="Calibri"/>
              <a:sym typeface="Calibri"/>
            </a:endParaRPr>
          </a:p>
        </p:txBody>
      </p:sp>
      <p:sp>
        <p:nvSpPr>
          <p:cNvPr id="219" name="Google Shape;219;p9"/>
          <p:cNvSpPr/>
          <p:nvPr/>
        </p:nvSpPr>
        <p:spPr>
          <a:xfrm>
            <a:off x="502920" y="1627632"/>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9"/>
          <p:cNvSpPr/>
          <p:nvPr/>
        </p:nvSpPr>
        <p:spPr>
          <a:xfrm>
            <a:off x="676656" y="1819656"/>
            <a:ext cx="146304" cy="14630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9"/>
          <p:cNvSpPr/>
          <p:nvPr/>
        </p:nvSpPr>
        <p:spPr>
          <a:xfrm>
            <a:off x="960120" y="1627632"/>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1.  Employees here pay zero personal income tax - what you see is what you get.</a:t>
            </a:r>
            <a:endParaRPr sz="1300" b="0" i="0" u="none" strike="noStrike" cap="none">
              <a:solidFill>
                <a:schemeClr val="dk1"/>
              </a:solidFill>
              <a:latin typeface="Calibri"/>
              <a:ea typeface="Calibri"/>
              <a:cs typeface="Calibri"/>
              <a:sym typeface="Calibri"/>
            </a:endParaRPr>
          </a:p>
        </p:txBody>
      </p:sp>
      <p:sp>
        <p:nvSpPr>
          <p:cNvPr id="222" name="Google Shape;222;p9"/>
          <p:cNvSpPr/>
          <p:nvPr/>
        </p:nvSpPr>
        <p:spPr>
          <a:xfrm>
            <a:off x="502920" y="2249424"/>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9"/>
          <p:cNvSpPr/>
          <p:nvPr/>
        </p:nvSpPr>
        <p:spPr>
          <a:xfrm>
            <a:off x="676656" y="2441448"/>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9"/>
          <p:cNvSpPr/>
          <p:nvPr/>
        </p:nvSpPr>
        <p:spPr>
          <a:xfrm>
            <a:off x="960120" y="2249424"/>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2.  8% of every salary quietly saved up, then paid out for summer holidays in May/June.</a:t>
            </a:r>
            <a:endParaRPr sz="1300" b="0" i="0" u="none" strike="noStrike" cap="none">
              <a:solidFill>
                <a:schemeClr val="dk1"/>
              </a:solidFill>
              <a:latin typeface="Calibri"/>
              <a:ea typeface="Calibri"/>
              <a:cs typeface="Calibri"/>
              <a:sym typeface="Calibri"/>
            </a:endParaRPr>
          </a:p>
        </p:txBody>
      </p:sp>
      <p:sp>
        <p:nvSpPr>
          <p:cNvPr id="225" name="Google Shape;225;p9"/>
          <p:cNvSpPr/>
          <p:nvPr/>
        </p:nvSpPr>
        <p:spPr>
          <a:xfrm>
            <a:off x="502920" y="2871216"/>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9"/>
          <p:cNvSpPr/>
          <p:nvPr/>
        </p:nvSpPr>
        <p:spPr>
          <a:xfrm>
            <a:off x="676656" y="3063240"/>
            <a:ext cx="146304" cy="14630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9"/>
          <p:cNvSpPr/>
          <p:nvPr/>
        </p:nvSpPr>
        <p:spPr>
          <a:xfrm>
            <a:off x="960120" y="2871216"/>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3.  No monthly tax withheld at all - employees settle their own tax bill with the IRD once a year.</a:t>
            </a:r>
            <a:endParaRPr sz="1300" b="0" i="0" u="none" strike="noStrike" cap="none">
              <a:solidFill>
                <a:schemeClr val="dk1"/>
              </a:solidFill>
              <a:latin typeface="Calibri"/>
              <a:ea typeface="Calibri"/>
              <a:cs typeface="Calibri"/>
              <a:sym typeface="Calibri"/>
            </a:endParaRPr>
          </a:p>
        </p:txBody>
      </p:sp>
      <p:sp>
        <p:nvSpPr>
          <p:cNvPr id="228" name="Google Shape;228;p9"/>
          <p:cNvSpPr/>
          <p:nvPr/>
        </p:nvSpPr>
        <p:spPr>
          <a:xfrm>
            <a:off x="502920" y="3493008"/>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9"/>
          <p:cNvSpPr/>
          <p:nvPr/>
        </p:nvSpPr>
        <p:spPr>
          <a:xfrm>
            <a:off x="676656" y="3685032"/>
            <a:ext cx="146304" cy="14630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9"/>
          <p:cNvSpPr/>
          <p:nvPr/>
        </p:nvSpPr>
        <p:spPr>
          <a:xfrm>
            <a:off x="960120" y="3493008"/>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4.  Payday arrives 26 times a year, always on a Friday.</a:t>
            </a:r>
            <a:endParaRPr sz="1300" b="0" i="0" u="none" strike="noStrike" cap="none">
              <a:solidFill>
                <a:schemeClr val="dk1"/>
              </a:solidFill>
              <a:latin typeface="Calibri"/>
              <a:ea typeface="Calibri"/>
              <a:cs typeface="Calibri"/>
              <a:sym typeface="Calibri"/>
            </a:endParaRPr>
          </a:p>
        </p:txBody>
      </p:sp>
      <p:sp>
        <p:nvSpPr>
          <p:cNvPr id="231" name="Google Shape;231;p9"/>
          <p:cNvSpPr/>
          <p:nvPr/>
        </p:nvSpPr>
        <p:spPr>
          <a:xfrm>
            <a:off x="502920" y="4114800"/>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9"/>
          <p:cNvSpPr/>
          <p:nvPr/>
        </p:nvSpPr>
        <p:spPr>
          <a:xfrm>
            <a:off x="676656" y="4306824"/>
            <a:ext cx="146304" cy="14630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9"/>
          <p:cNvSpPr/>
          <p:nvPr/>
        </p:nvSpPr>
        <p:spPr>
          <a:xfrm>
            <a:off x="960120" y="4114800"/>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5.  Stock options can be taxed at GRANT - but only if you accept them within 60 days.</a:t>
            </a:r>
            <a:endParaRPr sz="1300" b="0" i="0" u="none" strike="noStrike" cap="none">
              <a:solidFill>
                <a:schemeClr val="dk1"/>
              </a:solidFill>
              <a:latin typeface="Calibri"/>
              <a:ea typeface="Calibri"/>
              <a:cs typeface="Calibri"/>
              <a:sym typeface="Calibri"/>
            </a:endParaRPr>
          </a:p>
        </p:txBody>
      </p:sp>
      <p:sp>
        <p:nvSpPr>
          <p:cNvPr id="234" name="Google Shape;234;p9"/>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23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239"/>
        <p:cNvGrpSpPr/>
        <p:nvPr/>
      </p:nvGrpSpPr>
      <p:grpSpPr>
        <a:xfrm>
          <a:off x="0" y="0"/>
          <a:ext cx="0" cy="0"/>
          <a:chOff x="0" y="0"/>
          <a:chExt cx="0" cy="0"/>
        </a:xfrm>
      </p:grpSpPr>
      <p:sp>
        <p:nvSpPr>
          <p:cNvPr id="240" name="Google Shape;240;p10"/>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1" name="Google Shape;241;p10"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242" name="Google Shape;242;p10"/>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ROUND 1 · ANSWERS</a:t>
            </a:r>
            <a:endParaRPr sz="1100" b="0" i="0" u="none" strike="noStrike" cap="none">
              <a:solidFill>
                <a:schemeClr val="dk1"/>
              </a:solidFill>
              <a:latin typeface="Calibri"/>
              <a:ea typeface="Calibri"/>
              <a:cs typeface="Calibri"/>
              <a:sym typeface="Calibri"/>
            </a:endParaRPr>
          </a:p>
        </p:txBody>
      </p:sp>
      <p:sp>
        <p:nvSpPr>
          <p:cNvPr id="243" name="Google Shape;243;p10"/>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Answers</a:t>
            </a:r>
            <a:endParaRPr sz="2900" b="0" i="0" u="none" strike="noStrike" cap="none">
              <a:solidFill>
                <a:schemeClr val="dk1"/>
              </a:solidFill>
              <a:latin typeface="Calibri"/>
              <a:ea typeface="Calibri"/>
              <a:cs typeface="Calibri"/>
              <a:sym typeface="Calibri"/>
            </a:endParaRPr>
          </a:p>
        </p:txBody>
      </p:sp>
      <p:sp>
        <p:nvSpPr>
          <p:cNvPr id="244" name="Google Shape;244;p10"/>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0"/>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0"/>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0"/>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0"/>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0"/>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0"/>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0"/>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0"/>
          <p:cNvSpPr/>
          <p:nvPr/>
        </p:nvSpPr>
        <p:spPr>
          <a:xfrm>
            <a:off x="502920" y="1545336"/>
            <a:ext cx="402336" cy="402336"/>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0"/>
          <p:cNvSpPr/>
          <p:nvPr/>
        </p:nvSpPr>
        <p:spPr>
          <a:xfrm>
            <a:off x="502920" y="154533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1</a:t>
            </a:r>
            <a:endParaRPr sz="1600" b="0" i="0" u="none" strike="noStrike" cap="none">
              <a:solidFill>
                <a:schemeClr val="dk1"/>
              </a:solidFill>
              <a:latin typeface="Calibri"/>
              <a:ea typeface="Calibri"/>
              <a:cs typeface="Calibri"/>
              <a:sym typeface="Calibri"/>
            </a:endParaRPr>
          </a:p>
        </p:txBody>
      </p:sp>
      <p:sp>
        <p:nvSpPr>
          <p:cNvPr id="254" name="Google Shape;254;p10"/>
          <p:cNvSpPr/>
          <p:nvPr/>
        </p:nvSpPr>
        <p:spPr>
          <a:xfrm>
            <a:off x="1078992" y="1481328"/>
            <a:ext cx="7589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500"/>
              <a:buFont typeface="Calibri"/>
              <a:buNone/>
            </a:pPr>
            <a:r>
              <a:rPr lang="en-US" sz="1500" b="1" i="0" u="none" strike="noStrike" cap="none">
                <a:solidFill>
                  <a:srgbClr val="C9A227"/>
                </a:solidFill>
                <a:latin typeface="Calibri"/>
                <a:ea typeface="Calibri"/>
                <a:cs typeface="Calibri"/>
                <a:sym typeface="Calibri"/>
              </a:rPr>
              <a:t>UAE   </a:t>
            </a:r>
            <a:r>
              <a:rPr lang="en-US" sz="1200" b="0" i="0" u="none" strike="noStrike" cap="none">
                <a:solidFill>
                  <a:srgbClr val="CADCFC"/>
                </a:solidFill>
                <a:latin typeface="Calibri"/>
                <a:ea typeface="Calibri"/>
                <a:cs typeface="Calibri"/>
                <a:sym typeface="Calibri"/>
              </a:rPr>
              <a:t>No personal income tax - gross = net (payday on the 25th, payslips on HiBob)</a:t>
            </a:r>
            <a:endParaRPr sz="1500" b="0" i="0" u="none" strike="noStrike" cap="none">
              <a:solidFill>
                <a:schemeClr val="dk1"/>
              </a:solidFill>
              <a:latin typeface="Calibri"/>
              <a:ea typeface="Calibri"/>
              <a:cs typeface="Calibri"/>
              <a:sym typeface="Calibri"/>
            </a:endParaRPr>
          </a:p>
        </p:txBody>
      </p:sp>
      <p:sp>
        <p:nvSpPr>
          <p:cNvPr id="255" name="Google Shape;255;p10"/>
          <p:cNvSpPr/>
          <p:nvPr/>
        </p:nvSpPr>
        <p:spPr>
          <a:xfrm>
            <a:off x="502920" y="2203704"/>
            <a:ext cx="402336" cy="40233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0"/>
          <p:cNvSpPr/>
          <p:nvPr/>
        </p:nvSpPr>
        <p:spPr>
          <a:xfrm>
            <a:off x="502920" y="2203704"/>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2</a:t>
            </a:r>
            <a:endParaRPr sz="1600" b="0" i="0" u="none" strike="noStrike" cap="none">
              <a:solidFill>
                <a:schemeClr val="dk1"/>
              </a:solidFill>
              <a:latin typeface="Calibri"/>
              <a:ea typeface="Calibri"/>
              <a:cs typeface="Calibri"/>
              <a:sym typeface="Calibri"/>
            </a:endParaRPr>
          </a:p>
        </p:txBody>
      </p:sp>
      <p:sp>
        <p:nvSpPr>
          <p:cNvPr id="257" name="Google Shape;257;p10"/>
          <p:cNvSpPr/>
          <p:nvPr/>
        </p:nvSpPr>
        <p:spPr>
          <a:xfrm>
            <a:off x="1078992" y="2139696"/>
            <a:ext cx="7589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500"/>
              <a:buFont typeface="Calibri"/>
              <a:buNone/>
            </a:pPr>
            <a:r>
              <a:rPr lang="en-US" sz="1500" b="1" i="0" u="none" strike="noStrike" cap="none">
                <a:solidFill>
                  <a:srgbClr val="C9A227"/>
                </a:solidFill>
                <a:latin typeface="Calibri"/>
                <a:ea typeface="Calibri"/>
                <a:cs typeface="Calibri"/>
                <a:sym typeface="Calibri"/>
              </a:rPr>
              <a:t>Netherlands   </a:t>
            </a:r>
            <a:r>
              <a:rPr lang="en-US" sz="1200" b="0" i="0" u="none" strike="noStrike" cap="none">
                <a:solidFill>
                  <a:srgbClr val="CADCFC"/>
                </a:solidFill>
                <a:latin typeface="Calibri"/>
                <a:ea typeface="Calibri"/>
                <a:cs typeface="Calibri"/>
                <a:sym typeface="Calibri"/>
              </a:rPr>
              <a:t>Vakantiegeld: 8% holiday allowance accrued monthly, paid out in May/June</a:t>
            </a:r>
            <a:endParaRPr sz="1500" b="0" i="0" u="none" strike="noStrike" cap="none">
              <a:solidFill>
                <a:schemeClr val="dk1"/>
              </a:solidFill>
              <a:latin typeface="Calibri"/>
              <a:ea typeface="Calibri"/>
              <a:cs typeface="Calibri"/>
              <a:sym typeface="Calibri"/>
            </a:endParaRPr>
          </a:p>
        </p:txBody>
      </p:sp>
      <p:sp>
        <p:nvSpPr>
          <p:cNvPr id="258" name="Google Shape;258;p10"/>
          <p:cNvSpPr/>
          <p:nvPr/>
        </p:nvSpPr>
        <p:spPr>
          <a:xfrm>
            <a:off x="502920" y="2862072"/>
            <a:ext cx="402336" cy="402336"/>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0"/>
          <p:cNvSpPr/>
          <p:nvPr/>
        </p:nvSpPr>
        <p:spPr>
          <a:xfrm>
            <a:off x="502920" y="286207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3</a:t>
            </a:r>
            <a:endParaRPr sz="1600" b="0" i="0" u="none" strike="noStrike" cap="none">
              <a:solidFill>
                <a:schemeClr val="dk1"/>
              </a:solidFill>
              <a:latin typeface="Calibri"/>
              <a:ea typeface="Calibri"/>
              <a:cs typeface="Calibri"/>
              <a:sym typeface="Calibri"/>
            </a:endParaRPr>
          </a:p>
        </p:txBody>
      </p:sp>
      <p:sp>
        <p:nvSpPr>
          <p:cNvPr id="260" name="Google Shape;260;p10"/>
          <p:cNvSpPr/>
          <p:nvPr/>
        </p:nvSpPr>
        <p:spPr>
          <a:xfrm>
            <a:off x="1078992" y="2798064"/>
            <a:ext cx="7589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500"/>
              <a:buFont typeface="Calibri"/>
              <a:buNone/>
            </a:pPr>
            <a:r>
              <a:rPr lang="en-US" sz="1500" b="1" i="0" u="none" strike="noStrike" cap="none">
                <a:solidFill>
                  <a:srgbClr val="C9A227"/>
                </a:solidFill>
                <a:latin typeface="Calibri"/>
                <a:ea typeface="Calibri"/>
                <a:cs typeface="Calibri"/>
                <a:sym typeface="Calibri"/>
              </a:rPr>
              <a:t>Hong Kong   </a:t>
            </a:r>
            <a:r>
              <a:rPr lang="en-US" sz="1200" b="0" i="0" u="none" strike="noStrike" cap="none">
                <a:solidFill>
                  <a:srgbClr val="CADCFC"/>
                </a:solidFill>
                <a:latin typeface="Calibri"/>
                <a:ea typeface="Calibri"/>
                <a:cs typeface="Calibri"/>
                <a:sym typeface="Calibri"/>
              </a:rPr>
              <a:t>Only MPF (5%, capped HKD 1,500) is deducted; salaries tax paid annually to the IRD</a:t>
            </a:r>
            <a:endParaRPr sz="1500" b="0" i="0" u="none" strike="noStrike" cap="none">
              <a:solidFill>
                <a:schemeClr val="dk1"/>
              </a:solidFill>
              <a:latin typeface="Calibri"/>
              <a:ea typeface="Calibri"/>
              <a:cs typeface="Calibri"/>
              <a:sym typeface="Calibri"/>
            </a:endParaRPr>
          </a:p>
        </p:txBody>
      </p:sp>
      <p:sp>
        <p:nvSpPr>
          <p:cNvPr id="261" name="Google Shape;261;p10"/>
          <p:cNvSpPr/>
          <p:nvPr/>
        </p:nvSpPr>
        <p:spPr>
          <a:xfrm>
            <a:off x="502920" y="3520440"/>
            <a:ext cx="402336" cy="402336"/>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0"/>
          <p:cNvSpPr/>
          <p:nvPr/>
        </p:nvSpPr>
        <p:spPr>
          <a:xfrm>
            <a:off x="502920" y="352044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4</a:t>
            </a:r>
            <a:endParaRPr sz="1600" b="0" i="0" u="none" strike="noStrike" cap="none">
              <a:solidFill>
                <a:schemeClr val="dk1"/>
              </a:solidFill>
              <a:latin typeface="Calibri"/>
              <a:ea typeface="Calibri"/>
              <a:cs typeface="Calibri"/>
              <a:sym typeface="Calibri"/>
            </a:endParaRPr>
          </a:p>
        </p:txBody>
      </p:sp>
      <p:sp>
        <p:nvSpPr>
          <p:cNvPr id="263" name="Google Shape;263;p10"/>
          <p:cNvSpPr/>
          <p:nvPr/>
        </p:nvSpPr>
        <p:spPr>
          <a:xfrm>
            <a:off x="1078992" y="3456432"/>
            <a:ext cx="7589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500"/>
              <a:buFont typeface="Calibri"/>
              <a:buNone/>
            </a:pPr>
            <a:r>
              <a:rPr lang="en-US" sz="1500" b="1" i="0" u="none" strike="noStrike" cap="none">
                <a:solidFill>
                  <a:srgbClr val="C9A227"/>
                </a:solidFill>
                <a:latin typeface="Calibri"/>
                <a:ea typeface="Calibri"/>
                <a:cs typeface="Calibri"/>
                <a:sym typeface="Calibri"/>
              </a:rPr>
              <a:t>USA   </a:t>
            </a:r>
            <a:r>
              <a:rPr lang="en-US" sz="1200" b="0" i="0" u="none" strike="noStrike" cap="none">
                <a:solidFill>
                  <a:srgbClr val="CADCFC"/>
                </a:solidFill>
                <a:latin typeface="Calibri"/>
                <a:ea typeface="Calibri"/>
                <a:cs typeface="Calibri"/>
                <a:sym typeface="Calibri"/>
              </a:rPr>
              <a:t>Bi-weekly payroll on Gusto = 26 pay periods, not 24</a:t>
            </a:r>
            <a:endParaRPr sz="1500" b="0" i="0" u="none" strike="noStrike" cap="none">
              <a:solidFill>
                <a:schemeClr val="dk1"/>
              </a:solidFill>
              <a:latin typeface="Calibri"/>
              <a:ea typeface="Calibri"/>
              <a:cs typeface="Calibri"/>
              <a:sym typeface="Calibri"/>
            </a:endParaRPr>
          </a:p>
        </p:txBody>
      </p:sp>
      <p:sp>
        <p:nvSpPr>
          <p:cNvPr id="264" name="Google Shape;264;p10"/>
          <p:cNvSpPr/>
          <p:nvPr/>
        </p:nvSpPr>
        <p:spPr>
          <a:xfrm>
            <a:off x="502920" y="4178808"/>
            <a:ext cx="402336" cy="402336"/>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0"/>
          <p:cNvSpPr/>
          <p:nvPr/>
        </p:nvSpPr>
        <p:spPr>
          <a:xfrm>
            <a:off x="502920" y="417880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5</a:t>
            </a:r>
            <a:endParaRPr sz="1600" b="0" i="0" u="none" strike="noStrike" cap="none">
              <a:solidFill>
                <a:schemeClr val="dk1"/>
              </a:solidFill>
              <a:latin typeface="Calibri"/>
              <a:ea typeface="Calibri"/>
              <a:cs typeface="Calibri"/>
              <a:sym typeface="Calibri"/>
            </a:endParaRPr>
          </a:p>
        </p:txBody>
      </p:sp>
      <p:sp>
        <p:nvSpPr>
          <p:cNvPr id="266" name="Google Shape;266;p10"/>
          <p:cNvSpPr/>
          <p:nvPr/>
        </p:nvSpPr>
        <p:spPr>
          <a:xfrm>
            <a:off x="1078992" y="4114800"/>
            <a:ext cx="7589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500"/>
              <a:buFont typeface="Calibri"/>
              <a:buNone/>
            </a:pPr>
            <a:r>
              <a:rPr lang="en-US" sz="1500" b="1" i="0" u="none" strike="noStrike" cap="none">
                <a:solidFill>
                  <a:srgbClr val="C9A227"/>
                </a:solidFill>
                <a:latin typeface="Calibri"/>
                <a:ea typeface="Calibri"/>
                <a:cs typeface="Calibri"/>
                <a:sym typeface="Calibri"/>
              </a:rPr>
              <a:t>Belgium   </a:t>
            </a:r>
            <a:r>
              <a:rPr lang="en-US" sz="1200" b="0" i="0" u="none" strike="noStrike" cap="none">
                <a:solidFill>
                  <a:srgbClr val="CADCFC"/>
                </a:solidFill>
                <a:latin typeface="Calibri"/>
                <a:ea typeface="Calibri"/>
                <a:cs typeface="Calibri"/>
                <a:sym typeface="Calibri"/>
              </a:rPr>
              <a:t>Unique in our footprint: options taxed at grant if accepted within 60 days</a:t>
            </a:r>
            <a:endParaRPr sz="1500" b="0" i="0" u="none" strike="noStrike" cap="none">
              <a:solidFill>
                <a:schemeClr val="dk1"/>
              </a:solidFill>
              <a:latin typeface="Calibri"/>
              <a:ea typeface="Calibri"/>
              <a:cs typeface="Calibri"/>
              <a:sym typeface="Calibri"/>
            </a:endParaRPr>
          </a:p>
        </p:txBody>
      </p:sp>
      <p:sp>
        <p:nvSpPr>
          <p:cNvPr id="267" name="Google Shape;267;p10"/>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24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sp>
        <p:nvSpPr>
          <p:cNvPr id="273" name="Google Shape;273;p11"/>
          <p:cNvSpPr/>
          <p:nvPr/>
        </p:nvSpPr>
        <p:spPr>
          <a:xfrm>
            <a:off x="457200" y="384048"/>
            <a:ext cx="566928" cy="566928"/>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4" name="Google Shape;274;p11"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275" name="Google Shape;275;p11"/>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STAGE 3 · THE AFTERNOON</a:t>
            </a:r>
            <a:endParaRPr sz="1100" b="0" i="0" u="none" strike="noStrike" cap="none">
              <a:solidFill>
                <a:schemeClr val="dk1"/>
              </a:solidFill>
              <a:latin typeface="Calibri"/>
              <a:ea typeface="Calibri"/>
              <a:cs typeface="Calibri"/>
              <a:sym typeface="Calibri"/>
            </a:endParaRPr>
          </a:p>
        </p:txBody>
      </p:sp>
      <p:sp>
        <p:nvSpPr>
          <p:cNvPr id="276" name="Google Shape;276;p11"/>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Trust, but Verify - Every Line, Every Month</a:t>
            </a:r>
            <a:endParaRPr sz="2900" b="0" i="0" u="none" strike="noStrike" cap="none">
              <a:solidFill>
                <a:schemeClr val="dk1"/>
              </a:solidFill>
              <a:latin typeface="Calibri"/>
              <a:ea typeface="Calibri"/>
              <a:cs typeface="Calibri"/>
              <a:sym typeface="Calibri"/>
            </a:endParaRPr>
          </a:p>
        </p:txBody>
      </p:sp>
      <p:sp>
        <p:nvSpPr>
          <p:cNvPr id="277" name="Google Shape;277;p11"/>
          <p:cNvSpPr/>
          <p:nvPr/>
        </p:nvSpPr>
        <p:spPr>
          <a:xfrm>
            <a:off x="502920" y="1463040"/>
            <a:ext cx="4023360" cy="640080"/>
          </a:xfrm>
          <a:prstGeom prst="roundRect">
            <a:avLst>
              <a:gd name="adj" fmla="val 12857"/>
            </a:avLst>
          </a:prstGeom>
          <a:solidFill>
            <a:srgbClr val="EAF6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8" name="Google Shape;278;p11" descr="preencoded.png"/>
          <p:cNvPicPr preferRelativeResize="0"/>
          <p:nvPr/>
        </p:nvPicPr>
        <p:blipFill rotWithShape="1">
          <a:blip r:embed="rId4">
            <a:alphaModFix/>
          </a:blip>
          <a:srcRect/>
          <a:stretch/>
        </p:blipFill>
        <p:spPr>
          <a:xfrm>
            <a:off x="649224" y="1645920"/>
            <a:ext cx="274320" cy="274320"/>
          </a:xfrm>
          <a:prstGeom prst="rect">
            <a:avLst/>
          </a:prstGeom>
          <a:noFill/>
          <a:ln>
            <a:noFill/>
          </a:ln>
        </p:spPr>
      </p:pic>
      <p:sp>
        <p:nvSpPr>
          <p:cNvPr id="279" name="Google Shape;279;p11"/>
          <p:cNvSpPr/>
          <p:nvPr/>
        </p:nvSpPr>
        <p:spPr>
          <a:xfrm>
            <a:off x="1014984" y="1463040"/>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Employee details  -  </a:t>
            </a:r>
            <a:r>
              <a:rPr lang="en-US" sz="1150" b="0" i="0" u="none" strike="noStrike" cap="none">
                <a:solidFill>
                  <a:srgbClr val="23283F"/>
                </a:solidFill>
                <a:latin typeface="Calibri"/>
                <a:ea typeface="Calibri"/>
                <a:cs typeface="Calibri"/>
                <a:sym typeface="Calibri"/>
              </a:rPr>
              <a:t>Name, ID, designation vs master data</a:t>
            </a:r>
            <a:endParaRPr sz="1150" b="0" i="0" u="none" strike="noStrike" cap="none">
              <a:solidFill>
                <a:schemeClr val="dk1"/>
              </a:solidFill>
              <a:latin typeface="Calibri"/>
              <a:ea typeface="Calibri"/>
              <a:cs typeface="Calibri"/>
              <a:sym typeface="Calibri"/>
            </a:endParaRPr>
          </a:p>
        </p:txBody>
      </p:sp>
      <p:sp>
        <p:nvSpPr>
          <p:cNvPr id="280" name="Google Shape;280;p11"/>
          <p:cNvSpPr/>
          <p:nvPr/>
        </p:nvSpPr>
        <p:spPr>
          <a:xfrm>
            <a:off x="4709160" y="1463040"/>
            <a:ext cx="4023360" cy="640080"/>
          </a:xfrm>
          <a:prstGeom prst="roundRect">
            <a:avLst>
              <a:gd name="adj" fmla="val 12857"/>
            </a:avLst>
          </a:prstGeom>
          <a:solidFill>
            <a:srgbClr val="E6F4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11" descr="preencoded.png"/>
          <p:cNvPicPr preferRelativeResize="0"/>
          <p:nvPr/>
        </p:nvPicPr>
        <p:blipFill rotWithShape="1">
          <a:blip r:embed="rId4">
            <a:alphaModFix/>
          </a:blip>
          <a:srcRect/>
          <a:stretch/>
        </p:blipFill>
        <p:spPr>
          <a:xfrm>
            <a:off x="4855464" y="1645920"/>
            <a:ext cx="274320" cy="274320"/>
          </a:xfrm>
          <a:prstGeom prst="rect">
            <a:avLst/>
          </a:prstGeom>
          <a:noFill/>
          <a:ln>
            <a:noFill/>
          </a:ln>
        </p:spPr>
      </p:pic>
      <p:sp>
        <p:nvSpPr>
          <p:cNvPr id="282" name="Google Shape;282;p11"/>
          <p:cNvSpPr/>
          <p:nvPr/>
        </p:nvSpPr>
        <p:spPr>
          <a:xfrm>
            <a:off x="5221224" y="1463040"/>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Pay period  -  </a:t>
            </a:r>
            <a:r>
              <a:rPr lang="en-US" sz="1150" b="0" i="0" u="none" strike="noStrike" cap="none">
                <a:solidFill>
                  <a:srgbClr val="23283F"/>
                </a:solidFill>
                <a:latin typeface="Calibri"/>
                <a:ea typeface="Calibri"/>
                <a:cs typeface="Calibri"/>
                <a:sym typeface="Calibri"/>
              </a:rPr>
              <a:t>Correct start &amp; end dates</a:t>
            </a:r>
            <a:endParaRPr sz="1150" b="0" i="0" u="none" strike="noStrike" cap="none">
              <a:solidFill>
                <a:schemeClr val="dk1"/>
              </a:solidFill>
              <a:latin typeface="Calibri"/>
              <a:ea typeface="Calibri"/>
              <a:cs typeface="Calibri"/>
              <a:sym typeface="Calibri"/>
            </a:endParaRPr>
          </a:p>
        </p:txBody>
      </p:sp>
      <p:sp>
        <p:nvSpPr>
          <p:cNvPr id="283" name="Google Shape;283;p11"/>
          <p:cNvSpPr/>
          <p:nvPr/>
        </p:nvSpPr>
        <p:spPr>
          <a:xfrm>
            <a:off x="502920" y="2212848"/>
            <a:ext cx="4023360" cy="640080"/>
          </a:xfrm>
          <a:prstGeom prst="roundRect">
            <a:avLst>
              <a:gd name="adj" fmla="val 12857"/>
            </a:avLst>
          </a:prstGeom>
          <a:solidFill>
            <a:srgbClr val="EAF6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4" name="Google Shape;284;p11" descr="preencoded.png"/>
          <p:cNvPicPr preferRelativeResize="0"/>
          <p:nvPr/>
        </p:nvPicPr>
        <p:blipFill rotWithShape="1">
          <a:blip r:embed="rId4">
            <a:alphaModFix/>
          </a:blip>
          <a:srcRect/>
          <a:stretch/>
        </p:blipFill>
        <p:spPr>
          <a:xfrm>
            <a:off x="649224" y="2395728"/>
            <a:ext cx="274320" cy="274320"/>
          </a:xfrm>
          <a:prstGeom prst="rect">
            <a:avLst/>
          </a:prstGeom>
          <a:noFill/>
          <a:ln>
            <a:noFill/>
          </a:ln>
        </p:spPr>
      </p:pic>
      <p:sp>
        <p:nvSpPr>
          <p:cNvPr id="285" name="Google Shape;285;p11"/>
          <p:cNvSpPr/>
          <p:nvPr/>
        </p:nvSpPr>
        <p:spPr>
          <a:xfrm>
            <a:off x="1014984" y="2212848"/>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Earnings  -  </a:t>
            </a:r>
            <a:r>
              <a:rPr lang="en-US" sz="1150" b="0" i="0" u="none" strike="noStrike" cap="none">
                <a:solidFill>
                  <a:srgbClr val="23283F"/>
                </a:solidFill>
                <a:latin typeface="Calibri"/>
                <a:ea typeface="Calibri"/>
                <a:cs typeface="Calibri"/>
                <a:sym typeface="Calibri"/>
              </a:rPr>
              <a:t>Basic, allowances, OT, bonuses vs inputs</a:t>
            </a:r>
            <a:endParaRPr sz="1150" b="0" i="0" u="none" strike="noStrike" cap="none">
              <a:solidFill>
                <a:schemeClr val="dk1"/>
              </a:solidFill>
              <a:latin typeface="Calibri"/>
              <a:ea typeface="Calibri"/>
              <a:cs typeface="Calibri"/>
              <a:sym typeface="Calibri"/>
            </a:endParaRPr>
          </a:p>
        </p:txBody>
      </p:sp>
      <p:sp>
        <p:nvSpPr>
          <p:cNvPr id="286" name="Google Shape;286;p11"/>
          <p:cNvSpPr/>
          <p:nvPr/>
        </p:nvSpPr>
        <p:spPr>
          <a:xfrm>
            <a:off x="4709160" y="2212848"/>
            <a:ext cx="4023360" cy="640080"/>
          </a:xfrm>
          <a:prstGeom prst="roundRect">
            <a:avLst>
              <a:gd name="adj" fmla="val 12857"/>
            </a:avLst>
          </a:prstGeom>
          <a:solidFill>
            <a:srgbClr val="E6F4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7" name="Google Shape;287;p11" descr="preencoded.png"/>
          <p:cNvPicPr preferRelativeResize="0"/>
          <p:nvPr/>
        </p:nvPicPr>
        <p:blipFill rotWithShape="1">
          <a:blip r:embed="rId4">
            <a:alphaModFix/>
          </a:blip>
          <a:srcRect/>
          <a:stretch/>
        </p:blipFill>
        <p:spPr>
          <a:xfrm>
            <a:off x="4855464" y="2395728"/>
            <a:ext cx="274320" cy="274320"/>
          </a:xfrm>
          <a:prstGeom prst="rect">
            <a:avLst/>
          </a:prstGeom>
          <a:noFill/>
          <a:ln>
            <a:noFill/>
          </a:ln>
        </p:spPr>
      </p:pic>
      <p:sp>
        <p:nvSpPr>
          <p:cNvPr id="288" name="Google Shape;288;p11"/>
          <p:cNvSpPr/>
          <p:nvPr/>
        </p:nvSpPr>
        <p:spPr>
          <a:xfrm>
            <a:off x="5221224" y="2212848"/>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Joiners / leavers  -  </a:t>
            </a:r>
            <a:r>
              <a:rPr lang="en-US" sz="1150" b="0" i="0" u="none" strike="noStrike" cap="none">
                <a:solidFill>
                  <a:srgbClr val="23283F"/>
                </a:solidFill>
                <a:latin typeface="Calibri"/>
                <a:ea typeface="Calibri"/>
                <a:cs typeface="Calibri"/>
                <a:sym typeface="Calibri"/>
              </a:rPr>
              <a:t>Prorated salary calculations</a:t>
            </a:r>
            <a:endParaRPr sz="1150" b="0" i="0" u="none" strike="noStrike" cap="none">
              <a:solidFill>
                <a:schemeClr val="dk1"/>
              </a:solidFill>
              <a:latin typeface="Calibri"/>
              <a:ea typeface="Calibri"/>
              <a:cs typeface="Calibri"/>
              <a:sym typeface="Calibri"/>
            </a:endParaRPr>
          </a:p>
        </p:txBody>
      </p:sp>
      <p:sp>
        <p:nvSpPr>
          <p:cNvPr id="289" name="Google Shape;289;p11"/>
          <p:cNvSpPr/>
          <p:nvPr/>
        </p:nvSpPr>
        <p:spPr>
          <a:xfrm>
            <a:off x="502920" y="2962656"/>
            <a:ext cx="4023360" cy="640080"/>
          </a:xfrm>
          <a:prstGeom prst="roundRect">
            <a:avLst>
              <a:gd name="adj" fmla="val 12857"/>
            </a:avLst>
          </a:prstGeom>
          <a:solidFill>
            <a:srgbClr val="EAF6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0" name="Google Shape;290;p11" descr="preencoded.png"/>
          <p:cNvPicPr preferRelativeResize="0"/>
          <p:nvPr/>
        </p:nvPicPr>
        <p:blipFill rotWithShape="1">
          <a:blip r:embed="rId4">
            <a:alphaModFix/>
          </a:blip>
          <a:srcRect/>
          <a:stretch/>
        </p:blipFill>
        <p:spPr>
          <a:xfrm>
            <a:off x="649224" y="3145536"/>
            <a:ext cx="274320" cy="274320"/>
          </a:xfrm>
          <a:prstGeom prst="rect">
            <a:avLst/>
          </a:prstGeom>
          <a:noFill/>
          <a:ln>
            <a:noFill/>
          </a:ln>
        </p:spPr>
      </p:pic>
      <p:sp>
        <p:nvSpPr>
          <p:cNvPr id="291" name="Google Shape;291;p11"/>
          <p:cNvSpPr/>
          <p:nvPr/>
        </p:nvSpPr>
        <p:spPr>
          <a:xfrm>
            <a:off x="1014984" y="2962656"/>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Deductions &amp; tax  -  </a:t>
            </a:r>
            <a:r>
              <a:rPr lang="en-US" sz="1150" b="0" i="0" u="none" strike="noStrike" cap="none">
                <a:solidFill>
                  <a:srgbClr val="23283F"/>
                </a:solidFill>
                <a:latin typeface="Calibri"/>
                <a:ea typeface="Calibri"/>
                <a:cs typeface="Calibri"/>
                <a:sym typeface="Calibri"/>
              </a:rPr>
              <a:t>Verified against govt. websites</a:t>
            </a:r>
            <a:endParaRPr sz="1150" b="0" i="0" u="none" strike="noStrike" cap="none">
              <a:solidFill>
                <a:schemeClr val="dk1"/>
              </a:solidFill>
              <a:latin typeface="Calibri"/>
              <a:ea typeface="Calibri"/>
              <a:cs typeface="Calibri"/>
              <a:sym typeface="Calibri"/>
            </a:endParaRPr>
          </a:p>
        </p:txBody>
      </p:sp>
      <p:sp>
        <p:nvSpPr>
          <p:cNvPr id="292" name="Google Shape;292;p11"/>
          <p:cNvSpPr/>
          <p:nvPr/>
        </p:nvSpPr>
        <p:spPr>
          <a:xfrm>
            <a:off x="4709160" y="2962656"/>
            <a:ext cx="4023360" cy="640080"/>
          </a:xfrm>
          <a:prstGeom prst="roundRect">
            <a:avLst>
              <a:gd name="adj" fmla="val 12857"/>
            </a:avLst>
          </a:prstGeom>
          <a:solidFill>
            <a:srgbClr val="E6F4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3" name="Google Shape;293;p11" descr="preencoded.png"/>
          <p:cNvPicPr preferRelativeResize="0"/>
          <p:nvPr/>
        </p:nvPicPr>
        <p:blipFill rotWithShape="1">
          <a:blip r:embed="rId4">
            <a:alphaModFix/>
          </a:blip>
          <a:srcRect/>
          <a:stretch/>
        </p:blipFill>
        <p:spPr>
          <a:xfrm>
            <a:off x="4855464" y="3145536"/>
            <a:ext cx="274320" cy="274320"/>
          </a:xfrm>
          <a:prstGeom prst="rect">
            <a:avLst/>
          </a:prstGeom>
          <a:noFill/>
          <a:ln>
            <a:noFill/>
          </a:ln>
        </p:spPr>
      </p:pic>
      <p:sp>
        <p:nvSpPr>
          <p:cNvPr id="294" name="Google Shape;294;p11"/>
          <p:cNvSpPr/>
          <p:nvPr/>
        </p:nvSpPr>
        <p:spPr>
          <a:xfrm>
            <a:off x="5221224" y="2962656"/>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Net pay  -  </a:t>
            </a:r>
            <a:r>
              <a:rPr lang="en-US" sz="1150" b="0" i="0" u="none" strike="noStrike" cap="none">
                <a:solidFill>
                  <a:srgbClr val="23283F"/>
                </a:solidFill>
                <a:latin typeface="Calibri"/>
                <a:ea typeface="Calibri"/>
                <a:cs typeface="Calibri"/>
                <a:sym typeface="Calibri"/>
              </a:rPr>
              <a:t>Gross-to-net formula check</a:t>
            </a:r>
            <a:endParaRPr sz="1150" b="0" i="0" u="none" strike="noStrike" cap="none">
              <a:solidFill>
                <a:schemeClr val="dk1"/>
              </a:solidFill>
              <a:latin typeface="Calibri"/>
              <a:ea typeface="Calibri"/>
              <a:cs typeface="Calibri"/>
              <a:sym typeface="Calibri"/>
            </a:endParaRPr>
          </a:p>
        </p:txBody>
      </p:sp>
      <p:sp>
        <p:nvSpPr>
          <p:cNvPr id="295" name="Google Shape;295;p11"/>
          <p:cNvSpPr/>
          <p:nvPr/>
        </p:nvSpPr>
        <p:spPr>
          <a:xfrm>
            <a:off x="502920" y="3712464"/>
            <a:ext cx="4023360" cy="640080"/>
          </a:xfrm>
          <a:prstGeom prst="roundRect">
            <a:avLst>
              <a:gd name="adj" fmla="val 12857"/>
            </a:avLst>
          </a:prstGeom>
          <a:solidFill>
            <a:srgbClr val="EAF6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6" name="Google Shape;296;p11" descr="preencoded.png"/>
          <p:cNvPicPr preferRelativeResize="0"/>
          <p:nvPr/>
        </p:nvPicPr>
        <p:blipFill rotWithShape="1">
          <a:blip r:embed="rId4">
            <a:alphaModFix/>
          </a:blip>
          <a:srcRect/>
          <a:stretch/>
        </p:blipFill>
        <p:spPr>
          <a:xfrm>
            <a:off x="649224" y="3895344"/>
            <a:ext cx="274320" cy="274320"/>
          </a:xfrm>
          <a:prstGeom prst="rect">
            <a:avLst/>
          </a:prstGeom>
          <a:noFill/>
          <a:ln>
            <a:noFill/>
          </a:ln>
        </p:spPr>
      </p:pic>
      <p:sp>
        <p:nvSpPr>
          <p:cNvPr id="297" name="Google Shape;297;p11"/>
          <p:cNvSpPr/>
          <p:nvPr/>
        </p:nvSpPr>
        <p:spPr>
          <a:xfrm>
            <a:off x="1014984" y="3712464"/>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Employer costs  -  </a:t>
            </a:r>
            <a:r>
              <a:rPr lang="en-US" sz="1150" b="0" i="0" u="none" strike="noStrike" cap="none">
                <a:solidFill>
                  <a:srgbClr val="23283F"/>
                </a:solidFill>
                <a:latin typeface="Calibri"/>
                <a:ea typeface="Calibri"/>
                <a:cs typeface="Calibri"/>
                <a:sym typeface="Calibri"/>
              </a:rPr>
              <a:t>Statutory contributions correct</a:t>
            </a:r>
            <a:endParaRPr sz="1150" b="0" i="0" u="none" strike="noStrike" cap="none">
              <a:solidFill>
                <a:schemeClr val="dk1"/>
              </a:solidFill>
              <a:latin typeface="Calibri"/>
              <a:ea typeface="Calibri"/>
              <a:cs typeface="Calibri"/>
              <a:sym typeface="Calibri"/>
            </a:endParaRPr>
          </a:p>
        </p:txBody>
      </p:sp>
      <p:sp>
        <p:nvSpPr>
          <p:cNvPr id="298" name="Google Shape;298;p11"/>
          <p:cNvSpPr/>
          <p:nvPr/>
        </p:nvSpPr>
        <p:spPr>
          <a:xfrm>
            <a:off x="4709160" y="3712464"/>
            <a:ext cx="4023360" cy="640080"/>
          </a:xfrm>
          <a:prstGeom prst="roundRect">
            <a:avLst>
              <a:gd name="adj" fmla="val 12857"/>
            </a:avLst>
          </a:prstGeom>
          <a:solidFill>
            <a:srgbClr val="E6F4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9" name="Google Shape;299;p11" descr="preencoded.png"/>
          <p:cNvPicPr preferRelativeResize="0"/>
          <p:nvPr/>
        </p:nvPicPr>
        <p:blipFill rotWithShape="1">
          <a:blip r:embed="rId4">
            <a:alphaModFix/>
          </a:blip>
          <a:srcRect/>
          <a:stretch/>
        </p:blipFill>
        <p:spPr>
          <a:xfrm>
            <a:off x="4855464" y="3895344"/>
            <a:ext cx="274320" cy="274320"/>
          </a:xfrm>
          <a:prstGeom prst="rect">
            <a:avLst/>
          </a:prstGeom>
          <a:noFill/>
          <a:ln>
            <a:noFill/>
          </a:ln>
        </p:spPr>
      </p:pic>
      <p:sp>
        <p:nvSpPr>
          <p:cNvPr id="300" name="Google Shape;300;p11"/>
          <p:cNvSpPr/>
          <p:nvPr/>
        </p:nvSpPr>
        <p:spPr>
          <a:xfrm>
            <a:off x="5221224" y="3712464"/>
            <a:ext cx="34290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Headcount  -  </a:t>
            </a:r>
            <a:r>
              <a:rPr lang="en-US" sz="1150" b="0" i="0" u="none" strike="noStrike" cap="none">
                <a:solidFill>
                  <a:srgbClr val="23283F"/>
                </a:solidFill>
                <a:latin typeface="Calibri"/>
                <a:ea typeface="Calibri"/>
                <a:cs typeface="Calibri"/>
                <a:sym typeface="Calibri"/>
              </a:rPr>
              <a:t>Everyone paid - no one missed, no one extra</a:t>
            </a:r>
            <a:endParaRPr sz="1150" b="0" i="0" u="none" strike="noStrike" cap="none">
              <a:solidFill>
                <a:schemeClr val="dk1"/>
              </a:solidFill>
              <a:latin typeface="Calibri"/>
              <a:ea typeface="Calibri"/>
              <a:cs typeface="Calibri"/>
              <a:sym typeface="Calibri"/>
            </a:endParaRPr>
          </a:p>
        </p:txBody>
      </p:sp>
      <p:sp>
        <p:nvSpPr>
          <p:cNvPr id="301" name="Google Shape;301;p11"/>
          <p:cNvSpPr/>
          <p:nvPr/>
        </p:nvSpPr>
        <p:spPr>
          <a:xfrm>
            <a:off x="502920" y="4553712"/>
            <a:ext cx="818388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150"/>
              <a:buFont typeface="Calibri"/>
              <a:buNone/>
            </a:pPr>
            <a:r>
              <a:rPr lang="en-US" sz="1150" b="0" i="1" u="none" strike="noStrike" cap="none">
                <a:solidFill>
                  <a:srgbClr val="5F6785"/>
                </a:solidFill>
                <a:latin typeface="Calibri"/>
                <a:ea typeface="Calibri"/>
                <a:cs typeface="Calibri"/>
                <a:sym typeface="Calibri"/>
              </a:rPr>
              <a:t>Output lands from consultants within 2 working days - then this 8-point check runs for every region.</a:t>
            </a:r>
            <a:endParaRPr sz="1150" b="0" i="0" u="none" strike="noStrike" cap="none">
              <a:solidFill>
                <a:schemeClr val="dk1"/>
              </a:solidFill>
              <a:latin typeface="Calibri"/>
              <a:ea typeface="Calibri"/>
              <a:cs typeface="Calibri"/>
              <a:sym typeface="Calibri"/>
            </a:endParaRPr>
          </a:p>
        </p:txBody>
      </p:sp>
      <p:sp>
        <p:nvSpPr>
          <p:cNvPr id="302" name="Google Shape;302;p11"/>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7"/>
        <p:cNvGrpSpPr/>
        <p:nvPr/>
      </p:nvGrpSpPr>
      <p:grpSpPr>
        <a:xfrm>
          <a:off x="0" y="0"/>
          <a:ext cx="0" cy="0"/>
          <a:chOff x="0" y="0"/>
          <a:chExt cx="0" cy="0"/>
        </a:xfrm>
      </p:grpSpPr>
      <p:sp>
        <p:nvSpPr>
          <p:cNvPr id="308" name="Google Shape;308;p12"/>
          <p:cNvSpPr/>
          <p:nvPr/>
        </p:nvSpPr>
        <p:spPr>
          <a:xfrm>
            <a:off x="457200" y="384048"/>
            <a:ext cx="566928" cy="566928"/>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9" name="Google Shape;309;p12"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10" name="Google Shape;310;p12"/>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STAGE 4 · THE BIG MOMENT</a:t>
            </a:r>
            <a:endParaRPr sz="1100" b="0" i="0" u="none" strike="noStrike" cap="none">
              <a:solidFill>
                <a:schemeClr val="dk1"/>
              </a:solidFill>
              <a:latin typeface="Calibri"/>
              <a:ea typeface="Calibri"/>
              <a:cs typeface="Calibri"/>
              <a:sym typeface="Calibri"/>
            </a:endParaRPr>
          </a:p>
        </p:txBody>
      </p:sp>
      <p:sp>
        <p:nvSpPr>
          <p:cNvPr id="311" name="Google Shape;311;p12"/>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Payday: 9 Banks, One Deadline</a:t>
            </a:r>
            <a:endParaRPr sz="2900" b="0" i="0" u="none" strike="noStrike" cap="none">
              <a:solidFill>
                <a:schemeClr val="dk1"/>
              </a:solidFill>
              <a:latin typeface="Calibri"/>
              <a:ea typeface="Calibri"/>
              <a:cs typeface="Calibri"/>
              <a:sym typeface="Calibri"/>
            </a:endParaRPr>
          </a:p>
        </p:txBody>
      </p:sp>
      <p:sp>
        <p:nvSpPr>
          <p:cNvPr id="312" name="Google Shape;312;p12"/>
          <p:cNvSpPr/>
          <p:nvPr/>
        </p:nvSpPr>
        <p:spPr>
          <a:xfrm>
            <a:off x="502920" y="1481328"/>
            <a:ext cx="2633472" cy="676656"/>
          </a:xfrm>
          <a:prstGeom prst="roundRect">
            <a:avLst>
              <a:gd name="adj" fmla="val 12162"/>
            </a:avLst>
          </a:prstGeom>
          <a:solidFill>
            <a:srgbClr val="E6F4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2"/>
          <p:cNvSpPr/>
          <p:nvPr/>
        </p:nvSpPr>
        <p:spPr>
          <a:xfrm>
            <a:off x="649224" y="1554480"/>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UK</a:t>
            </a:r>
            <a:endParaRPr sz="1250" b="0" i="0" u="none" strike="noStrike" cap="none">
              <a:solidFill>
                <a:schemeClr val="dk1"/>
              </a:solidFill>
              <a:latin typeface="Calibri"/>
              <a:ea typeface="Calibri"/>
              <a:cs typeface="Calibri"/>
              <a:sym typeface="Calibri"/>
            </a:endParaRPr>
          </a:p>
        </p:txBody>
      </p:sp>
      <p:sp>
        <p:nvSpPr>
          <p:cNvPr id="314" name="Google Shape;314;p12"/>
          <p:cNvSpPr/>
          <p:nvPr/>
        </p:nvSpPr>
        <p:spPr>
          <a:xfrm>
            <a:off x="649224" y="1828800"/>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NatWest  ·  pays 24th</a:t>
            </a:r>
            <a:endParaRPr sz="1050" b="0" i="0" u="none" strike="noStrike" cap="none">
              <a:solidFill>
                <a:schemeClr val="dk1"/>
              </a:solidFill>
              <a:latin typeface="Calibri"/>
              <a:ea typeface="Calibri"/>
              <a:cs typeface="Calibri"/>
              <a:sym typeface="Calibri"/>
            </a:endParaRPr>
          </a:p>
        </p:txBody>
      </p:sp>
      <p:sp>
        <p:nvSpPr>
          <p:cNvPr id="315" name="Google Shape;315;p12"/>
          <p:cNvSpPr/>
          <p:nvPr/>
        </p:nvSpPr>
        <p:spPr>
          <a:xfrm>
            <a:off x="3319272" y="1481328"/>
            <a:ext cx="2633472" cy="676656"/>
          </a:xfrm>
          <a:prstGeom prst="roundRect">
            <a:avLst>
              <a:gd name="adj" fmla="val 12162"/>
            </a:avLst>
          </a:prstGeom>
          <a:solidFill>
            <a:srgbClr val="FE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2"/>
          <p:cNvSpPr/>
          <p:nvPr/>
        </p:nvSpPr>
        <p:spPr>
          <a:xfrm>
            <a:off x="3465576" y="1554480"/>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Netherlands</a:t>
            </a:r>
            <a:endParaRPr sz="1250" b="0" i="0" u="none" strike="noStrike" cap="none">
              <a:solidFill>
                <a:schemeClr val="dk1"/>
              </a:solidFill>
              <a:latin typeface="Calibri"/>
              <a:ea typeface="Calibri"/>
              <a:cs typeface="Calibri"/>
              <a:sym typeface="Calibri"/>
            </a:endParaRPr>
          </a:p>
        </p:txBody>
      </p:sp>
      <p:sp>
        <p:nvSpPr>
          <p:cNvPr id="317" name="Google Shape;317;p12"/>
          <p:cNvSpPr/>
          <p:nvPr/>
        </p:nvSpPr>
        <p:spPr>
          <a:xfrm>
            <a:off x="3465576" y="1828800"/>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ING  ·  pays 24th</a:t>
            </a:r>
            <a:endParaRPr sz="1050" b="0" i="0" u="none" strike="noStrike" cap="none">
              <a:solidFill>
                <a:schemeClr val="dk1"/>
              </a:solidFill>
              <a:latin typeface="Calibri"/>
              <a:ea typeface="Calibri"/>
              <a:cs typeface="Calibri"/>
              <a:sym typeface="Calibri"/>
            </a:endParaRPr>
          </a:p>
        </p:txBody>
      </p:sp>
      <p:sp>
        <p:nvSpPr>
          <p:cNvPr id="318" name="Google Shape;318;p12"/>
          <p:cNvSpPr/>
          <p:nvPr/>
        </p:nvSpPr>
        <p:spPr>
          <a:xfrm>
            <a:off x="6135624" y="1481328"/>
            <a:ext cx="2633472" cy="676656"/>
          </a:xfrm>
          <a:prstGeom prst="roundRect">
            <a:avLst>
              <a:gd name="adj" fmla="val 12162"/>
            </a:avLst>
          </a:prstGeom>
          <a:solidFill>
            <a:srgbClr val="F0EB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2"/>
          <p:cNvSpPr/>
          <p:nvPr/>
        </p:nvSpPr>
        <p:spPr>
          <a:xfrm>
            <a:off x="6281928" y="1554480"/>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Australia</a:t>
            </a:r>
            <a:endParaRPr sz="1250" b="0" i="0" u="none" strike="noStrike" cap="none">
              <a:solidFill>
                <a:schemeClr val="dk1"/>
              </a:solidFill>
              <a:latin typeface="Calibri"/>
              <a:ea typeface="Calibri"/>
              <a:cs typeface="Calibri"/>
              <a:sym typeface="Calibri"/>
            </a:endParaRPr>
          </a:p>
        </p:txBody>
      </p:sp>
      <p:sp>
        <p:nvSpPr>
          <p:cNvPr id="320" name="Google Shape;320;p12"/>
          <p:cNvSpPr/>
          <p:nvPr/>
        </p:nvSpPr>
        <p:spPr>
          <a:xfrm>
            <a:off x="6281928" y="1828800"/>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NAB  ·  pays 24th</a:t>
            </a:r>
            <a:endParaRPr sz="1050" b="0" i="0" u="none" strike="noStrike" cap="none">
              <a:solidFill>
                <a:schemeClr val="dk1"/>
              </a:solidFill>
              <a:latin typeface="Calibri"/>
              <a:ea typeface="Calibri"/>
              <a:cs typeface="Calibri"/>
              <a:sym typeface="Calibri"/>
            </a:endParaRPr>
          </a:p>
        </p:txBody>
      </p:sp>
      <p:sp>
        <p:nvSpPr>
          <p:cNvPr id="321" name="Google Shape;321;p12"/>
          <p:cNvSpPr/>
          <p:nvPr/>
        </p:nvSpPr>
        <p:spPr>
          <a:xfrm>
            <a:off x="502920" y="2267712"/>
            <a:ext cx="2633472" cy="676656"/>
          </a:xfrm>
          <a:prstGeom prst="roundRect">
            <a:avLst>
              <a:gd name="adj" fmla="val 12162"/>
            </a:avLst>
          </a:prstGeom>
          <a:solidFill>
            <a:srgbClr val="EAF6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2"/>
          <p:cNvSpPr/>
          <p:nvPr/>
        </p:nvSpPr>
        <p:spPr>
          <a:xfrm>
            <a:off x="649224" y="2340864"/>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Hong Kong</a:t>
            </a:r>
            <a:endParaRPr sz="1250" b="0" i="0" u="none" strike="noStrike" cap="none">
              <a:solidFill>
                <a:schemeClr val="dk1"/>
              </a:solidFill>
              <a:latin typeface="Calibri"/>
              <a:ea typeface="Calibri"/>
              <a:cs typeface="Calibri"/>
              <a:sym typeface="Calibri"/>
            </a:endParaRPr>
          </a:p>
        </p:txBody>
      </p:sp>
      <p:sp>
        <p:nvSpPr>
          <p:cNvPr id="323" name="Google Shape;323;p12"/>
          <p:cNvSpPr/>
          <p:nvPr/>
        </p:nvSpPr>
        <p:spPr>
          <a:xfrm>
            <a:off x="649224" y="2615184"/>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HSBC  ·  pays 24th</a:t>
            </a:r>
            <a:endParaRPr sz="1050" b="0" i="0" u="none" strike="noStrike" cap="none">
              <a:solidFill>
                <a:schemeClr val="dk1"/>
              </a:solidFill>
              <a:latin typeface="Calibri"/>
              <a:ea typeface="Calibri"/>
              <a:cs typeface="Calibri"/>
              <a:sym typeface="Calibri"/>
            </a:endParaRPr>
          </a:p>
        </p:txBody>
      </p:sp>
      <p:sp>
        <p:nvSpPr>
          <p:cNvPr id="324" name="Google Shape;324;p12"/>
          <p:cNvSpPr/>
          <p:nvPr/>
        </p:nvSpPr>
        <p:spPr>
          <a:xfrm>
            <a:off x="3319272" y="2267712"/>
            <a:ext cx="2633472" cy="676656"/>
          </a:xfrm>
          <a:prstGeom prst="roundRect">
            <a:avLst>
              <a:gd name="adj" fmla="val 12162"/>
            </a:avLst>
          </a:prstGeom>
          <a:solidFill>
            <a:srgbClr val="FDF1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2"/>
          <p:cNvSpPr/>
          <p:nvPr/>
        </p:nvSpPr>
        <p:spPr>
          <a:xfrm>
            <a:off x="3465576" y="2340864"/>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Dubai</a:t>
            </a:r>
            <a:endParaRPr sz="1250" b="0" i="0" u="none" strike="noStrike" cap="none">
              <a:solidFill>
                <a:schemeClr val="dk1"/>
              </a:solidFill>
              <a:latin typeface="Calibri"/>
              <a:ea typeface="Calibri"/>
              <a:cs typeface="Calibri"/>
              <a:sym typeface="Calibri"/>
            </a:endParaRPr>
          </a:p>
        </p:txBody>
      </p:sp>
      <p:sp>
        <p:nvSpPr>
          <p:cNvPr id="326" name="Google Shape;326;p12"/>
          <p:cNvSpPr/>
          <p:nvPr/>
        </p:nvSpPr>
        <p:spPr>
          <a:xfrm>
            <a:off x="3465576" y="2615184"/>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NBF  ·  pays 24th</a:t>
            </a:r>
            <a:endParaRPr sz="1050" b="0" i="0" u="none" strike="noStrike" cap="none">
              <a:solidFill>
                <a:schemeClr val="dk1"/>
              </a:solidFill>
              <a:latin typeface="Calibri"/>
              <a:ea typeface="Calibri"/>
              <a:cs typeface="Calibri"/>
              <a:sym typeface="Calibri"/>
            </a:endParaRPr>
          </a:p>
        </p:txBody>
      </p:sp>
      <p:sp>
        <p:nvSpPr>
          <p:cNvPr id="327" name="Google Shape;327;p12"/>
          <p:cNvSpPr/>
          <p:nvPr/>
        </p:nvSpPr>
        <p:spPr>
          <a:xfrm>
            <a:off x="6135624" y="2267712"/>
            <a:ext cx="2633472" cy="676656"/>
          </a:xfrm>
          <a:prstGeom prst="roundRect">
            <a:avLst>
              <a:gd name="adj" fmla="val 12162"/>
            </a:avLst>
          </a:prstGeom>
          <a:solidFill>
            <a:srgbClr val="E6F4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2"/>
          <p:cNvSpPr/>
          <p:nvPr/>
        </p:nvSpPr>
        <p:spPr>
          <a:xfrm>
            <a:off x="6281928" y="2340864"/>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South Africa</a:t>
            </a:r>
            <a:endParaRPr sz="1250" b="0" i="0" u="none" strike="noStrike" cap="none">
              <a:solidFill>
                <a:schemeClr val="dk1"/>
              </a:solidFill>
              <a:latin typeface="Calibri"/>
              <a:ea typeface="Calibri"/>
              <a:cs typeface="Calibri"/>
              <a:sym typeface="Calibri"/>
            </a:endParaRPr>
          </a:p>
        </p:txBody>
      </p:sp>
      <p:sp>
        <p:nvSpPr>
          <p:cNvPr id="329" name="Google Shape;329;p12"/>
          <p:cNvSpPr/>
          <p:nvPr/>
        </p:nvSpPr>
        <p:spPr>
          <a:xfrm>
            <a:off x="6281928" y="2615184"/>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Capitec  ·  pays 24th</a:t>
            </a:r>
            <a:endParaRPr sz="1050" b="0" i="0" u="none" strike="noStrike" cap="none">
              <a:solidFill>
                <a:schemeClr val="dk1"/>
              </a:solidFill>
              <a:latin typeface="Calibri"/>
              <a:ea typeface="Calibri"/>
              <a:cs typeface="Calibri"/>
              <a:sym typeface="Calibri"/>
            </a:endParaRPr>
          </a:p>
        </p:txBody>
      </p:sp>
      <p:sp>
        <p:nvSpPr>
          <p:cNvPr id="330" name="Google Shape;330;p12"/>
          <p:cNvSpPr/>
          <p:nvPr/>
        </p:nvSpPr>
        <p:spPr>
          <a:xfrm>
            <a:off x="502920" y="3054096"/>
            <a:ext cx="2633472" cy="676656"/>
          </a:xfrm>
          <a:prstGeom prst="roundRect">
            <a:avLst>
              <a:gd name="adj" fmla="val 12162"/>
            </a:avLst>
          </a:prstGeom>
          <a:solidFill>
            <a:srgbClr val="FBE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2"/>
          <p:cNvSpPr/>
          <p:nvPr/>
        </p:nvSpPr>
        <p:spPr>
          <a:xfrm>
            <a:off x="649224" y="3127248"/>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Belgium</a:t>
            </a:r>
            <a:endParaRPr sz="1250" b="0" i="0" u="none" strike="noStrike" cap="none">
              <a:solidFill>
                <a:schemeClr val="dk1"/>
              </a:solidFill>
              <a:latin typeface="Calibri"/>
              <a:ea typeface="Calibri"/>
              <a:cs typeface="Calibri"/>
              <a:sym typeface="Calibri"/>
            </a:endParaRPr>
          </a:p>
        </p:txBody>
      </p:sp>
      <p:sp>
        <p:nvSpPr>
          <p:cNvPr id="332" name="Google Shape;332;p12"/>
          <p:cNvSpPr/>
          <p:nvPr/>
        </p:nvSpPr>
        <p:spPr>
          <a:xfrm>
            <a:off x="649224" y="3401568"/>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Wise  ·  pays 24th</a:t>
            </a:r>
            <a:endParaRPr sz="1050" b="0" i="0" u="none" strike="noStrike" cap="none">
              <a:solidFill>
                <a:schemeClr val="dk1"/>
              </a:solidFill>
              <a:latin typeface="Calibri"/>
              <a:ea typeface="Calibri"/>
              <a:cs typeface="Calibri"/>
              <a:sym typeface="Calibri"/>
            </a:endParaRPr>
          </a:p>
        </p:txBody>
      </p:sp>
      <p:sp>
        <p:nvSpPr>
          <p:cNvPr id="333" name="Google Shape;333;p12"/>
          <p:cNvSpPr/>
          <p:nvPr/>
        </p:nvSpPr>
        <p:spPr>
          <a:xfrm>
            <a:off x="3319272" y="3054096"/>
            <a:ext cx="2633472" cy="676656"/>
          </a:xfrm>
          <a:prstGeom prst="roundRect">
            <a:avLst>
              <a:gd name="adj" fmla="val 12162"/>
            </a:avLst>
          </a:prstGeom>
          <a:solidFill>
            <a:srgbClr val="EAF6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2"/>
          <p:cNvSpPr/>
          <p:nvPr/>
        </p:nvSpPr>
        <p:spPr>
          <a:xfrm>
            <a:off x="3465576" y="3127248"/>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India</a:t>
            </a:r>
            <a:endParaRPr sz="1250" b="0" i="0" u="none" strike="noStrike" cap="none">
              <a:solidFill>
                <a:schemeClr val="dk1"/>
              </a:solidFill>
              <a:latin typeface="Calibri"/>
              <a:ea typeface="Calibri"/>
              <a:cs typeface="Calibri"/>
              <a:sym typeface="Calibri"/>
            </a:endParaRPr>
          </a:p>
        </p:txBody>
      </p:sp>
      <p:sp>
        <p:nvSpPr>
          <p:cNvPr id="335" name="Google Shape;335;p12"/>
          <p:cNvSpPr/>
          <p:nvPr/>
        </p:nvSpPr>
        <p:spPr>
          <a:xfrm>
            <a:off x="3465576" y="3401568"/>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Kotak / ICICI  ·  pays 27th</a:t>
            </a:r>
            <a:endParaRPr sz="1050" b="0" i="0" u="none" strike="noStrike" cap="none">
              <a:solidFill>
                <a:schemeClr val="dk1"/>
              </a:solidFill>
              <a:latin typeface="Calibri"/>
              <a:ea typeface="Calibri"/>
              <a:cs typeface="Calibri"/>
              <a:sym typeface="Calibri"/>
            </a:endParaRPr>
          </a:p>
        </p:txBody>
      </p:sp>
      <p:sp>
        <p:nvSpPr>
          <p:cNvPr id="336" name="Google Shape;336;p12"/>
          <p:cNvSpPr/>
          <p:nvPr/>
        </p:nvSpPr>
        <p:spPr>
          <a:xfrm>
            <a:off x="6135624" y="3054096"/>
            <a:ext cx="2633472" cy="676656"/>
          </a:xfrm>
          <a:prstGeom prst="roundRect">
            <a:avLst>
              <a:gd name="adj" fmla="val 12162"/>
            </a:avLst>
          </a:prstGeom>
          <a:solidFill>
            <a:srgbClr val="F0EB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2"/>
          <p:cNvSpPr/>
          <p:nvPr/>
        </p:nvSpPr>
        <p:spPr>
          <a:xfrm>
            <a:off x="6281928" y="3127248"/>
            <a:ext cx="2377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50"/>
              <a:buFont typeface="Calibri"/>
              <a:buNone/>
            </a:pPr>
            <a:r>
              <a:rPr lang="en-US" sz="1250" b="1" i="0" u="none" strike="noStrike" cap="none">
                <a:solidFill>
                  <a:srgbClr val="1E2761"/>
                </a:solidFill>
                <a:latin typeface="Calibri"/>
                <a:ea typeface="Calibri"/>
                <a:cs typeface="Calibri"/>
                <a:sym typeface="Calibri"/>
              </a:rPr>
              <a:t>USA</a:t>
            </a:r>
            <a:endParaRPr sz="1250" b="0" i="0" u="none" strike="noStrike" cap="none">
              <a:solidFill>
                <a:schemeClr val="dk1"/>
              </a:solidFill>
              <a:latin typeface="Calibri"/>
              <a:ea typeface="Calibri"/>
              <a:cs typeface="Calibri"/>
              <a:sym typeface="Calibri"/>
            </a:endParaRPr>
          </a:p>
        </p:txBody>
      </p:sp>
      <p:sp>
        <p:nvSpPr>
          <p:cNvPr id="338" name="Google Shape;338;p12"/>
          <p:cNvSpPr/>
          <p:nvPr/>
        </p:nvSpPr>
        <p:spPr>
          <a:xfrm>
            <a:off x="6281928" y="3401568"/>
            <a:ext cx="2377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50"/>
              <a:buFont typeface="Calibri"/>
              <a:buNone/>
            </a:pPr>
            <a:r>
              <a:rPr lang="en-US" sz="1050" b="0" i="0" u="none" strike="noStrike" cap="none">
                <a:solidFill>
                  <a:srgbClr val="5F6785"/>
                </a:solidFill>
                <a:latin typeface="Calibri"/>
                <a:ea typeface="Calibri"/>
                <a:cs typeface="Calibri"/>
                <a:sym typeface="Calibri"/>
              </a:rPr>
              <a:t>Bank of America  ·  pays Bi-weekly</a:t>
            </a:r>
            <a:endParaRPr sz="1050" b="0" i="0" u="none" strike="noStrike" cap="none">
              <a:solidFill>
                <a:schemeClr val="dk1"/>
              </a:solidFill>
              <a:latin typeface="Calibri"/>
              <a:ea typeface="Calibri"/>
              <a:cs typeface="Calibri"/>
              <a:sym typeface="Calibri"/>
            </a:endParaRPr>
          </a:p>
        </p:txBody>
      </p:sp>
      <p:sp>
        <p:nvSpPr>
          <p:cNvPr id="339" name="Google Shape;339;p12"/>
          <p:cNvSpPr/>
          <p:nvPr/>
        </p:nvSpPr>
        <p:spPr>
          <a:xfrm>
            <a:off x="502920" y="3977640"/>
            <a:ext cx="8183880" cy="841248"/>
          </a:xfrm>
          <a:prstGeom prst="roundRect">
            <a:avLst>
              <a:gd name="adj" fmla="val 9783"/>
            </a:avLst>
          </a:prstGeom>
          <a:solidFill>
            <a:srgbClr val="FBF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0" name="Google Shape;340;p12" descr="preencoded.png"/>
          <p:cNvPicPr preferRelativeResize="0"/>
          <p:nvPr/>
        </p:nvPicPr>
        <p:blipFill rotWithShape="1">
          <a:blip r:embed="rId4">
            <a:alphaModFix/>
          </a:blip>
          <a:srcRect/>
          <a:stretch/>
        </p:blipFill>
        <p:spPr>
          <a:xfrm>
            <a:off x="685800" y="4251960"/>
            <a:ext cx="292608" cy="292608"/>
          </a:xfrm>
          <a:prstGeom prst="rect">
            <a:avLst/>
          </a:prstGeom>
          <a:noFill/>
          <a:ln>
            <a:noFill/>
          </a:ln>
        </p:spPr>
      </p:pic>
      <p:sp>
        <p:nvSpPr>
          <p:cNvPr id="341" name="Google Shape;341;p12"/>
          <p:cNvSpPr/>
          <p:nvPr/>
        </p:nvSpPr>
        <p:spPr>
          <a:xfrm>
            <a:off x="1097280" y="4041648"/>
            <a:ext cx="745236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200"/>
              <a:buFont typeface="Calibri"/>
              <a:buNone/>
            </a:pPr>
            <a:r>
              <a:rPr lang="en-US" sz="1200" b="0" i="1" u="none" strike="noStrike" cap="none">
                <a:solidFill>
                  <a:srgbClr val="8F7115"/>
                </a:solidFill>
                <a:latin typeface="Calibri"/>
                <a:ea typeface="Calibri"/>
                <a:cs typeface="Calibri"/>
                <a:sym typeface="Calibri"/>
              </a:rPr>
              <a:t>23rd: review call locks the numbers. Batch payment files go out per bank. If a payment bounces, we chase the bank and re-initiate the same day - payday is a promise.</a:t>
            </a:r>
            <a:endParaRPr sz="1200" b="0" i="0" u="none" strike="noStrike" cap="none">
              <a:solidFill>
                <a:schemeClr val="dk1"/>
              </a:solidFill>
              <a:latin typeface="Calibri"/>
              <a:ea typeface="Calibri"/>
              <a:cs typeface="Calibri"/>
              <a:sym typeface="Calibri"/>
            </a:endParaRPr>
          </a:p>
        </p:txBody>
      </p:sp>
      <p:sp>
        <p:nvSpPr>
          <p:cNvPr id="342" name="Google Shape;342;p12"/>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7"/>
        <p:cNvGrpSpPr/>
        <p:nvPr/>
      </p:nvGrpSpPr>
      <p:grpSpPr>
        <a:xfrm>
          <a:off x="0" y="0"/>
          <a:ext cx="0" cy="0"/>
          <a:chOff x="0" y="0"/>
          <a:chExt cx="0" cy="0"/>
        </a:xfrm>
      </p:grpSpPr>
      <p:sp>
        <p:nvSpPr>
          <p:cNvPr id="348" name="Google Shape;348;p13"/>
          <p:cNvSpPr/>
          <p:nvPr/>
        </p:nvSpPr>
        <p:spPr>
          <a:xfrm>
            <a:off x="457200" y="384048"/>
            <a:ext cx="566928" cy="566928"/>
          </a:xfrm>
          <a:prstGeom prst="ellipse">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9" name="Google Shape;349;p13"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50" name="Google Shape;350;p13"/>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STAGE 5 · AFTER THE PARTY</a:t>
            </a:r>
            <a:endParaRPr sz="1100" b="0" i="0" u="none" strike="noStrike" cap="none">
              <a:solidFill>
                <a:schemeClr val="dk1"/>
              </a:solidFill>
              <a:latin typeface="Calibri"/>
              <a:ea typeface="Calibri"/>
              <a:cs typeface="Calibri"/>
              <a:sym typeface="Calibri"/>
            </a:endParaRPr>
          </a:p>
        </p:txBody>
      </p:sp>
      <p:sp>
        <p:nvSpPr>
          <p:cNvPr id="351" name="Google Shape;351;p13"/>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The Month Ends in NetSuite</a:t>
            </a:r>
            <a:endParaRPr sz="2900" b="0" i="0" u="none" strike="noStrike" cap="none">
              <a:solidFill>
                <a:schemeClr val="dk1"/>
              </a:solidFill>
              <a:latin typeface="Calibri"/>
              <a:ea typeface="Calibri"/>
              <a:cs typeface="Calibri"/>
              <a:sym typeface="Calibri"/>
            </a:endParaRPr>
          </a:p>
        </p:txBody>
      </p:sp>
      <p:sp>
        <p:nvSpPr>
          <p:cNvPr id="352" name="Google Shape;352;p13"/>
          <p:cNvSpPr/>
          <p:nvPr/>
        </p:nvSpPr>
        <p:spPr>
          <a:xfrm>
            <a:off x="502920" y="1463040"/>
            <a:ext cx="8183880" cy="731520"/>
          </a:xfrm>
          <a:prstGeom prst="roundRect">
            <a:avLst>
              <a:gd name="adj" fmla="val 11250"/>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3"/>
          <p:cNvSpPr/>
          <p:nvPr/>
        </p:nvSpPr>
        <p:spPr>
          <a:xfrm>
            <a:off x="685800" y="1627632"/>
            <a:ext cx="402336" cy="40233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3"/>
          <p:cNvSpPr/>
          <p:nvPr/>
        </p:nvSpPr>
        <p:spPr>
          <a:xfrm>
            <a:off x="685800" y="16276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1</a:t>
            </a:r>
            <a:endParaRPr sz="1600" b="0" i="0" u="none" strike="noStrike" cap="none">
              <a:solidFill>
                <a:schemeClr val="dk1"/>
              </a:solidFill>
              <a:latin typeface="Calibri"/>
              <a:ea typeface="Calibri"/>
              <a:cs typeface="Calibri"/>
              <a:sym typeface="Calibri"/>
            </a:endParaRPr>
          </a:p>
        </p:txBody>
      </p:sp>
      <p:sp>
        <p:nvSpPr>
          <p:cNvPr id="355" name="Google Shape;355;p13"/>
          <p:cNvSpPr/>
          <p:nvPr/>
        </p:nvSpPr>
        <p:spPr>
          <a:xfrm>
            <a:off x="1280160" y="1463040"/>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Bank reconciliation   </a:t>
            </a:r>
            <a:r>
              <a:rPr lang="en-US" sz="1150" b="0" i="0" u="none" strike="noStrike" cap="none">
                <a:solidFill>
                  <a:srgbClr val="23283F"/>
                </a:solidFill>
                <a:latin typeface="Calibri"/>
                <a:ea typeface="Calibri"/>
                <a:cs typeface="Calibri"/>
                <a:sym typeface="Calibri"/>
              </a:rPr>
              <a:t>Payroll payments cleared in NetSuite within 2-3 working days of payout</a:t>
            </a:r>
            <a:endParaRPr sz="1350" b="0" i="0" u="none" strike="noStrike" cap="none">
              <a:solidFill>
                <a:schemeClr val="dk1"/>
              </a:solidFill>
              <a:latin typeface="Calibri"/>
              <a:ea typeface="Calibri"/>
              <a:cs typeface="Calibri"/>
              <a:sym typeface="Calibri"/>
            </a:endParaRPr>
          </a:p>
        </p:txBody>
      </p:sp>
      <p:sp>
        <p:nvSpPr>
          <p:cNvPr id="356" name="Google Shape;356;p13"/>
          <p:cNvSpPr/>
          <p:nvPr/>
        </p:nvSpPr>
        <p:spPr>
          <a:xfrm>
            <a:off x="502920" y="2304288"/>
            <a:ext cx="8183880" cy="731520"/>
          </a:xfrm>
          <a:prstGeom prst="roundRect">
            <a:avLst>
              <a:gd name="adj" fmla="val 11250"/>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a:off x="685800" y="2468880"/>
            <a:ext cx="402336" cy="402336"/>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3"/>
          <p:cNvSpPr/>
          <p:nvPr/>
        </p:nvSpPr>
        <p:spPr>
          <a:xfrm>
            <a:off x="685800" y="24688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2</a:t>
            </a:r>
            <a:endParaRPr sz="1600" b="0" i="0" u="none" strike="noStrike" cap="none">
              <a:solidFill>
                <a:schemeClr val="dk1"/>
              </a:solidFill>
              <a:latin typeface="Calibri"/>
              <a:ea typeface="Calibri"/>
              <a:cs typeface="Calibri"/>
              <a:sym typeface="Calibri"/>
            </a:endParaRPr>
          </a:p>
        </p:txBody>
      </p:sp>
      <p:sp>
        <p:nvSpPr>
          <p:cNvPr id="359" name="Google Shape;359;p13"/>
          <p:cNvSpPr/>
          <p:nvPr/>
        </p:nvSpPr>
        <p:spPr>
          <a:xfrm>
            <a:off x="1280160" y="2304288"/>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GL / salary working  ·  AUTOMATION TARGET   </a:t>
            </a:r>
            <a:r>
              <a:rPr lang="en-US" sz="1150" b="0" i="0" u="none" strike="noStrike" cap="none">
                <a:solidFill>
                  <a:srgbClr val="23283F"/>
                </a:solidFill>
                <a:latin typeface="Calibri"/>
                <a:ea typeface="Calibri"/>
                <a:cs typeface="Calibri"/>
                <a:sym typeface="Calibri"/>
              </a:rPr>
              <a:t>Journal &amp; headcount files built per region - salaries, reimbursements, accruals for every employee globally</a:t>
            </a:r>
            <a:endParaRPr sz="1350" b="0" i="0" u="none" strike="noStrike" cap="none">
              <a:solidFill>
                <a:schemeClr val="dk1"/>
              </a:solidFill>
              <a:latin typeface="Calibri"/>
              <a:ea typeface="Calibri"/>
              <a:cs typeface="Calibri"/>
              <a:sym typeface="Calibri"/>
            </a:endParaRPr>
          </a:p>
        </p:txBody>
      </p:sp>
      <p:sp>
        <p:nvSpPr>
          <p:cNvPr id="360" name="Google Shape;360;p13"/>
          <p:cNvSpPr/>
          <p:nvPr/>
        </p:nvSpPr>
        <p:spPr>
          <a:xfrm>
            <a:off x="502920" y="3145536"/>
            <a:ext cx="8183880" cy="731520"/>
          </a:xfrm>
          <a:prstGeom prst="roundRect">
            <a:avLst>
              <a:gd name="adj" fmla="val 11250"/>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3"/>
          <p:cNvSpPr/>
          <p:nvPr/>
        </p:nvSpPr>
        <p:spPr>
          <a:xfrm>
            <a:off x="685800" y="3310128"/>
            <a:ext cx="402336" cy="402336"/>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3"/>
          <p:cNvSpPr/>
          <p:nvPr/>
        </p:nvSpPr>
        <p:spPr>
          <a:xfrm>
            <a:off x="685800" y="33101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3</a:t>
            </a:r>
            <a:endParaRPr sz="1600" b="0" i="0" u="none" strike="noStrike" cap="none">
              <a:solidFill>
                <a:schemeClr val="dk1"/>
              </a:solidFill>
              <a:latin typeface="Calibri"/>
              <a:ea typeface="Calibri"/>
              <a:cs typeface="Calibri"/>
              <a:sym typeface="Calibri"/>
            </a:endParaRPr>
          </a:p>
        </p:txBody>
      </p:sp>
      <p:sp>
        <p:nvSpPr>
          <p:cNvPr id="363" name="Google Shape;363;p13"/>
          <p:cNvSpPr/>
          <p:nvPr/>
        </p:nvSpPr>
        <p:spPr>
          <a:xfrm>
            <a:off x="1280160" y="3145536"/>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Cost booking  ·  AUTOMATION TARGET   </a:t>
            </a:r>
            <a:r>
              <a:rPr lang="en-US" sz="1150" b="0" i="0" u="none" strike="noStrike" cap="none">
                <a:solidFill>
                  <a:srgbClr val="23283F"/>
                </a:solidFill>
                <a:latin typeface="Calibri"/>
                <a:ea typeface="Calibri"/>
                <a:cs typeface="Calibri"/>
                <a:sym typeface="Calibri"/>
              </a:rPr>
              <a:t>Salary expenses &amp; liabilities posted into NetSuite at month end</a:t>
            </a:r>
            <a:endParaRPr sz="1350" b="0" i="0" u="none" strike="noStrike" cap="none">
              <a:solidFill>
                <a:schemeClr val="dk1"/>
              </a:solidFill>
              <a:latin typeface="Calibri"/>
              <a:ea typeface="Calibri"/>
              <a:cs typeface="Calibri"/>
              <a:sym typeface="Calibri"/>
            </a:endParaRPr>
          </a:p>
        </p:txBody>
      </p:sp>
      <p:sp>
        <p:nvSpPr>
          <p:cNvPr id="364" name="Google Shape;364;p13"/>
          <p:cNvSpPr/>
          <p:nvPr/>
        </p:nvSpPr>
        <p:spPr>
          <a:xfrm>
            <a:off x="502920" y="3986784"/>
            <a:ext cx="8183880" cy="731520"/>
          </a:xfrm>
          <a:prstGeom prst="roundRect">
            <a:avLst>
              <a:gd name="adj" fmla="val 11250"/>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a:off x="685800" y="4151376"/>
            <a:ext cx="402336" cy="402336"/>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685800" y="415137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4</a:t>
            </a:r>
            <a:endParaRPr sz="1600" b="0" i="0" u="none" strike="noStrike" cap="none">
              <a:solidFill>
                <a:schemeClr val="dk1"/>
              </a:solidFill>
              <a:latin typeface="Calibri"/>
              <a:ea typeface="Calibri"/>
              <a:cs typeface="Calibri"/>
              <a:sym typeface="Calibri"/>
            </a:endParaRPr>
          </a:p>
        </p:txBody>
      </p:sp>
      <p:sp>
        <p:nvSpPr>
          <p:cNvPr id="367" name="Google Shape;367;p13"/>
          <p:cNvSpPr/>
          <p:nvPr/>
        </p:nvSpPr>
        <p:spPr>
          <a:xfrm>
            <a:off x="1280160" y="3986784"/>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Ledger review   </a:t>
            </a:r>
            <a:r>
              <a:rPr lang="en-US" sz="1150" b="0" i="0" u="none" strike="noStrike" cap="none">
                <a:solidFill>
                  <a:srgbClr val="23283F"/>
                </a:solidFill>
                <a:latin typeface="Calibri"/>
                <a:ea typeface="Calibri"/>
                <a:cs typeface="Calibri"/>
                <a:sym typeface="Calibri"/>
              </a:rPr>
              <a:t>Senior Manager reviews ledgers - the final sign-off on payroll accounting</a:t>
            </a:r>
            <a:endParaRPr sz="1350" b="0" i="0" u="none" strike="noStrike" cap="none">
              <a:solidFill>
                <a:schemeClr val="dk1"/>
              </a:solidFill>
              <a:latin typeface="Calibri"/>
              <a:ea typeface="Calibri"/>
              <a:cs typeface="Calibri"/>
              <a:sym typeface="Calibri"/>
            </a:endParaRPr>
          </a:p>
        </p:txBody>
      </p:sp>
      <p:sp>
        <p:nvSpPr>
          <p:cNvPr id="368" name="Google Shape;368;p13"/>
          <p:cNvSpPr/>
          <p:nvPr/>
        </p:nvSpPr>
        <p:spPr>
          <a:xfrm>
            <a:off x="502920" y="4718304"/>
            <a:ext cx="8183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50"/>
              <a:buFont typeface="Calibri"/>
              <a:buNone/>
            </a:pPr>
            <a:r>
              <a:rPr lang="en-US" sz="1150" b="0" i="1" u="none" strike="noStrike" cap="none">
                <a:solidFill>
                  <a:srgbClr val="8F7115"/>
                </a:solidFill>
                <a:latin typeface="Calibri"/>
                <a:ea typeface="Calibri"/>
                <a:cs typeface="Calibri"/>
                <a:sym typeface="Calibri"/>
              </a:rPr>
              <a:t>Steps 2 &amp; 3 are today's most manual, spreadsheet-heavy work - remember this slide for the automation section.</a:t>
            </a:r>
            <a:endParaRPr sz="1150" b="0" i="0" u="none" strike="noStrike" cap="none">
              <a:solidFill>
                <a:schemeClr val="dk1"/>
              </a:solidFill>
              <a:latin typeface="Calibri"/>
              <a:ea typeface="Calibri"/>
              <a:cs typeface="Calibri"/>
              <a:sym typeface="Calibri"/>
            </a:endParaRPr>
          </a:p>
        </p:txBody>
      </p:sp>
      <p:sp>
        <p:nvSpPr>
          <p:cNvPr id="369" name="Google Shape;369;p13"/>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4"/>
        <p:cNvGrpSpPr/>
        <p:nvPr/>
      </p:nvGrpSpPr>
      <p:grpSpPr>
        <a:xfrm>
          <a:off x="0" y="0"/>
          <a:ext cx="0" cy="0"/>
          <a:chOff x="0" y="0"/>
          <a:chExt cx="0" cy="0"/>
        </a:xfrm>
      </p:grpSpPr>
      <p:sp>
        <p:nvSpPr>
          <p:cNvPr id="375" name="Google Shape;375;p14"/>
          <p:cNvSpPr/>
          <p:nvPr/>
        </p:nvSpPr>
        <p:spPr>
          <a:xfrm>
            <a:off x="457200" y="384048"/>
            <a:ext cx="566928" cy="566928"/>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6" name="Google Shape;376;p14"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77" name="Google Shape;377;p14"/>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USEFUL TO KNOW · SCREENSHOT THIS SLIDE</a:t>
            </a:r>
            <a:endParaRPr sz="1100" b="0" i="0" u="none" strike="noStrike" cap="none">
              <a:solidFill>
                <a:schemeClr val="dk1"/>
              </a:solidFill>
              <a:latin typeface="Calibri"/>
              <a:ea typeface="Calibri"/>
              <a:cs typeface="Calibri"/>
              <a:sym typeface="Calibri"/>
            </a:endParaRPr>
          </a:p>
        </p:txBody>
      </p:sp>
      <p:sp>
        <p:nvSpPr>
          <p:cNvPr id="378" name="Google Shape;378;p14"/>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Payroll Nuggets for Every Team</a:t>
            </a:r>
            <a:endParaRPr sz="2900" b="0" i="0" u="none" strike="noStrike" cap="none">
              <a:solidFill>
                <a:schemeClr val="dk1"/>
              </a:solidFill>
              <a:latin typeface="Calibri"/>
              <a:ea typeface="Calibri"/>
              <a:cs typeface="Calibri"/>
              <a:sym typeface="Calibri"/>
            </a:endParaRPr>
          </a:p>
        </p:txBody>
      </p:sp>
      <p:sp>
        <p:nvSpPr>
          <p:cNvPr id="379" name="Google Shape;379;p14"/>
          <p:cNvSpPr/>
          <p:nvPr/>
        </p:nvSpPr>
        <p:spPr>
          <a:xfrm>
            <a:off x="502920" y="1481328"/>
            <a:ext cx="2633472" cy="1426464"/>
          </a:xfrm>
          <a:prstGeom prst="roundRect">
            <a:avLst>
              <a:gd name="adj" fmla="val 5769"/>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4"/>
          <p:cNvSpPr/>
          <p:nvPr/>
        </p:nvSpPr>
        <p:spPr>
          <a:xfrm>
            <a:off x="658368" y="1600200"/>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28090"/>
              </a:buClr>
              <a:buSzPts val="1250"/>
              <a:buFont typeface="Calibri"/>
              <a:buNone/>
            </a:pPr>
            <a:r>
              <a:rPr lang="en-US" sz="1250" b="1" i="0" u="none" strike="noStrike" cap="none">
                <a:solidFill>
                  <a:srgbClr val="028090"/>
                </a:solidFill>
                <a:latin typeface="Calibri"/>
                <a:ea typeface="Calibri"/>
                <a:cs typeface="Calibri"/>
                <a:sym typeface="Calibri"/>
              </a:rPr>
              <a:t>Cut-offs are king</a:t>
            </a:r>
            <a:endParaRPr sz="1250" b="0" i="0" u="none" strike="noStrike" cap="none">
              <a:solidFill>
                <a:schemeClr val="dk1"/>
              </a:solidFill>
              <a:latin typeface="Calibri"/>
              <a:ea typeface="Calibri"/>
              <a:cs typeface="Calibri"/>
              <a:sym typeface="Calibri"/>
            </a:endParaRPr>
          </a:p>
        </p:txBody>
      </p:sp>
      <p:sp>
        <p:nvSpPr>
          <p:cNvPr id="381" name="Google Shape;381;p14"/>
          <p:cNvSpPr/>
          <p:nvPr/>
        </p:nvSpPr>
        <p:spPr>
          <a:xfrm>
            <a:off x="658368" y="2048256"/>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Inputs after the 16th wait a full month. Commissions, bonuses &amp; changes - send them early.</a:t>
            </a:r>
            <a:endParaRPr sz="1050" b="0" i="0" u="none" strike="noStrike" cap="none">
              <a:solidFill>
                <a:schemeClr val="dk1"/>
              </a:solidFill>
              <a:latin typeface="Calibri"/>
              <a:ea typeface="Calibri"/>
              <a:cs typeface="Calibri"/>
              <a:sym typeface="Calibri"/>
            </a:endParaRPr>
          </a:p>
        </p:txBody>
      </p:sp>
      <p:sp>
        <p:nvSpPr>
          <p:cNvPr id="382" name="Google Shape;382;p14"/>
          <p:cNvSpPr/>
          <p:nvPr/>
        </p:nvSpPr>
        <p:spPr>
          <a:xfrm>
            <a:off x="3319272" y="1481328"/>
            <a:ext cx="2633472" cy="1426464"/>
          </a:xfrm>
          <a:prstGeom prst="roundRect">
            <a:avLst>
              <a:gd name="adj" fmla="val 5769"/>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4"/>
          <p:cNvSpPr/>
          <p:nvPr/>
        </p:nvSpPr>
        <p:spPr>
          <a:xfrm>
            <a:off x="3474720" y="1600200"/>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96167"/>
              </a:buClr>
              <a:buSzPts val="1250"/>
              <a:buFont typeface="Calibri"/>
              <a:buNone/>
            </a:pPr>
            <a:r>
              <a:rPr lang="en-US" sz="1250" b="1" i="0" u="none" strike="noStrike" cap="none">
                <a:solidFill>
                  <a:srgbClr val="F96167"/>
                </a:solidFill>
                <a:latin typeface="Calibri"/>
                <a:ea typeface="Calibri"/>
                <a:cs typeface="Calibri"/>
                <a:sym typeface="Calibri"/>
              </a:rPr>
              <a:t>Expenses: 17th on DEXT</a:t>
            </a:r>
            <a:endParaRPr sz="1250" b="0" i="0" u="none" strike="noStrike" cap="none">
              <a:solidFill>
                <a:schemeClr val="dk1"/>
              </a:solidFill>
              <a:latin typeface="Calibri"/>
              <a:ea typeface="Calibri"/>
              <a:cs typeface="Calibri"/>
              <a:sym typeface="Calibri"/>
            </a:endParaRPr>
          </a:p>
        </p:txBody>
      </p:sp>
      <p:sp>
        <p:nvSpPr>
          <p:cNvPr id="384" name="Google Shape;384;p14"/>
          <p:cNvSpPr/>
          <p:nvPr/>
        </p:nvSpPr>
        <p:spPr>
          <a:xfrm>
            <a:off x="3474720" y="2048256"/>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(7th on Remote for EOR staff). Approved expenses ride along with that month's salary.</a:t>
            </a:r>
            <a:endParaRPr sz="1050" b="0" i="0" u="none" strike="noStrike" cap="none">
              <a:solidFill>
                <a:schemeClr val="dk1"/>
              </a:solidFill>
              <a:latin typeface="Calibri"/>
              <a:ea typeface="Calibri"/>
              <a:cs typeface="Calibri"/>
              <a:sym typeface="Calibri"/>
            </a:endParaRPr>
          </a:p>
        </p:txBody>
      </p:sp>
      <p:sp>
        <p:nvSpPr>
          <p:cNvPr id="385" name="Google Shape;385;p14"/>
          <p:cNvSpPr/>
          <p:nvPr/>
        </p:nvSpPr>
        <p:spPr>
          <a:xfrm>
            <a:off x="6135624" y="1481328"/>
            <a:ext cx="2633472" cy="1426464"/>
          </a:xfrm>
          <a:prstGeom prst="roundRect">
            <a:avLst>
              <a:gd name="adj" fmla="val 5769"/>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4"/>
          <p:cNvSpPr/>
          <p:nvPr/>
        </p:nvSpPr>
        <p:spPr>
          <a:xfrm>
            <a:off x="6291072" y="1600200"/>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C4AB6"/>
              </a:buClr>
              <a:buSzPts val="1250"/>
              <a:buFont typeface="Calibri"/>
              <a:buNone/>
            </a:pPr>
            <a:r>
              <a:rPr lang="en-US" sz="1250" b="1" i="0" u="none" strike="noStrike" cap="none">
                <a:solidFill>
                  <a:srgbClr val="6C4AB6"/>
                </a:solidFill>
                <a:latin typeface="Calibri"/>
                <a:ea typeface="Calibri"/>
                <a:cs typeface="Calibri"/>
                <a:sym typeface="Calibri"/>
              </a:rPr>
              <a:t>Payslip portals differ</a:t>
            </a:r>
            <a:endParaRPr sz="1250" b="0" i="0" u="none" strike="noStrike" cap="none">
              <a:solidFill>
                <a:schemeClr val="dk1"/>
              </a:solidFill>
              <a:latin typeface="Calibri"/>
              <a:ea typeface="Calibri"/>
              <a:cs typeface="Calibri"/>
              <a:sym typeface="Calibri"/>
            </a:endParaRPr>
          </a:p>
        </p:txBody>
      </p:sp>
      <p:sp>
        <p:nvSpPr>
          <p:cNvPr id="387" name="Google Shape;387;p14"/>
          <p:cNvSpPr/>
          <p:nvPr/>
        </p:nvSpPr>
        <p:spPr>
          <a:xfrm>
            <a:off x="6291072" y="2048256"/>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Paybooks, Paycircle, Gusto, NMBRS, HiBob, Remote... the FAQ maps every country.</a:t>
            </a:r>
            <a:endParaRPr sz="1050" b="0" i="0" u="none" strike="noStrike" cap="none">
              <a:solidFill>
                <a:schemeClr val="dk1"/>
              </a:solidFill>
              <a:latin typeface="Calibri"/>
              <a:ea typeface="Calibri"/>
              <a:cs typeface="Calibri"/>
              <a:sym typeface="Calibri"/>
            </a:endParaRPr>
          </a:p>
        </p:txBody>
      </p:sp>
      <p:sp>
        <p:nvSpPr>
          <p:cNvPr id="388" name="Google Shape;388;p14"/>
          <p:cNvSpPr/>
          <p:nvPr/>
        </p:nvSpPr>
        <p:spPr>
          <a:xfrm>
            <a:off x="502920" y="3054096"/>
            <a:ext cx="2633472" cy="1426464"/>
          </a:xfrm>
          <a:prstGeom prst="roundRect">
            <a:avLst>
              <a:gd name="adj" fmla="val 5769"/>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4"/>
          <p:cNvSpPr/>
          <p:nvPr/>
        </p:nvSpPr>
        <p:spPr>
          <a:xfrm>
            <a:off x="658368" y="3172968"/>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E9E6B"/>
              </a:buClr>
              <a:buSzPts val="1250"/>
              <a:buFont typeface="Calibri"/>
              <a:buNone/>
            </a:pPr>
            <a:r>
              <a:rPr lang="en-US" sz="1250" b="1" i="0" u="none" strike="noStrike" cap="none">
                <a:solidFill>
                  <a:srgbClr val="2E9E6B"/>
                </a:solidFill>
                <a:latin typeface="Calibri"/>
                <a:ea typeface="Calibri"/>
                <a:cs typeface="Calibri"/>
                <a:sym typeface="Calibri"/>
              </a:rPr>
              <a:t>Arrears are predictable</a:t>
            </a:r>
            <a:endParaRPr sz="1250" b="0" i="0" u="none" strike="noStrike" cap="none">
              <a:solidFill>
                <a:schemeClr val="dk1"/>
              </a:solidFill>
              <a:latin typeface="Calibri"/>
              <a:ea typeface="Calibri"/>
              <a:cs typeface="Calibri"/>
              <a:sym typeface="Calibri"/>
            </a:endParaRPr>
          </a:p>
        </p:txBody>
      </p:sp>
      <p:sp>
        <p:nvSpPr>
          <p:cNvPr id="390" name="Google Shape;390;p14"/>
          <p:cNvSpPr/>
          <p:nvPr/>
        </p:nvSpPr>
        <p:spPr>
          <a:xfrm>
            <a:off x="658368" y="3621024"/>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(New gross - old gross) x backdated months. You can sanity-check your own payslip.</a:t>
            </a:r>
            <a:endParaRPr sz="1050" b="0" i="0" u="none" strike="noStrike" cap="none">
              <a:solidFill>
                <a:schemeClr val="dk1"/>
              </a:solidFill>
              <a:latin typeface="Calibri"/>
              <a:ea typeface="Calibri"/>
              <a:cs typeface="Calibri"/>
              <a:sym typeface="Calibri"/>
            </a:endParaRPr>
          </a:p>
        </p:txBody>
      </p:sp>
      <p:sp>
        <p:nvSpPr>
          <p:cNvPr id="391" name="Google Shape;391;p14"/>
          <p:cNvSpPr/>
          <p:nvPr/>
        </p:nvSpPr>
        <p:spPr>
          <a:xfrm>
            <a:off x="3319272" y="3054096"/>
            <a:ext cx="2633472" cy="1426464"/>
          </a:xfrm>
          <a:prstGeom prst="roundRect">
            <a:avLst>
              <a:gd name="adj" fmla="val 5769"/>
            </a:avLst>
          </a:prstGeom>
          <a:solidFill>
            <a:srgbClr val="FDF1E4"/>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4"/>
          <p:cNvSpPr/>
          <p:nvPr/>
        </p:nvSpPr>
        <p:spPr>
          <a:xfrm>
            <a:off x="3474720" y="3172968"/>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67E22"/>
              </a:buClr>
              <a:buSzPts val="1250"/>
              <a:buFont typeface="Calibri"/>
              <a:buNone/>
            </a:pPr>
            <a:r>
              <a:rPr lang="en-US" sz="1250" b="1" i="0" u="none" strike="noStrike" cap="none">
                <a:solidFill>
                  <a:srgbClr val="E67E22"/>
                </a:solidFill>
                <a:latin typeface="Calibri"/>
                <a:ea typeface="Calibri"/>
                <a:cs typeface="Calibri"/>
                <a:sym typeface="Calibri"/>
              </a:rPr>
              <a:t>ESOPs have tax moments</a:t>
            </a:r>
            <a:endParaRPr sz="1250" b="0" i="0" u="none" strike="noStrike" cap="none">
              <a:solidFill>
                <a:schemeClr val="dk1"/>
              </a:solidFill>
              <a:latin typeface="Calibri"/>
              <a:ea typeface="Calibri"/>
              <a:cs typeface="Calibri"/>
              <a:sym typeface="Calibri"/>
            </a:endParaRPr>
          </a:p>
        </p:txBody>
      </p:sp>
      <p:sp>
        <p:nvSpPr>
          <p:cNvPr id="393" name="Google Shape;393;p14"/>
          <p:cNvSpPr/>
          <p:nvPr/>
        </p:nvSpPr>
        <p:spPr>
          <a:xfrm>
            <a:off x="3474720" y="3621024"/>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Grant, vesting, exercise, sale - triggers differ by country. Check the FAQ before exercising.</a:t>
            </a:r>
            <a:endParaRPr sz="1050" b="0" i="0" u="none" strike="noStrike" cap="none">
              <a:solidFill>
                <a:schemeClr val="dk1"/>
              </a:solidFill>
              <a:latin typeface="Calibri"/>
              <a:ea typeface="Calibri"/>
              <a:cs typeface="Calibri"/>
              <a:sym typeface="Calibri"/>
            </a:endParaRPr>
          </a:p>
        </p:txBody>
      </p:sp>
      <p:sp>
        <p:nvSpPr>
          <p:cNvPr id="394" name="Google Shape;394;p14"/>
          <p:cNvSpPr/>
          <p:nvPr/>
        </p:nvSpPr>
        <p:spPr>
          <a:xfrm>
            <a:off x="6135624" y="3054096"/>
            <a:ext cx="2633472" cy="1426464"/>
          </a:xfrm>
          <a:prstGeom prst="roundRect">
            <a:avLst>
              <a:gd name="adj" fmla="val 5769"/>
            </a:avLst>
          </a:prstGeom>
          <a:solidFill>
            <a:srgbClr val="FBEAF2"/>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4"/>
          <p:cNvSpPr/>
          <p:nvPr/>
        </p:nvSpPr>
        <p:spPr>
          <a:xfrm>
            <a:off x="6291072" y="3172968"/>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63384"/>
              </a:buClr>
              <a:buSzPts val="1250"/>
              <a:buFont typeface="Calibri"/>
              <a:buNone/>
            </a:pPr>
            <a:r>
              <a:rPr lang="en-US" sz="1250" b="1" i="0" u="none" strike="noStrike" cap="none">
                <a:solidFill>
                  <a:srgbClr val="D63384"/>
                </a:solidFill>
                <a:latin typeface="Calibri"/>
                <a:ea typeface="Calibri"/>
                <a:cs typeface="Calibri"/>
                <a:sym typeface="Calibri"/>
              </a:rPr>
              <a:t>48-hour promise</a:t>
            </a:r>
            <a:endParaRPr sz="1250" b="0" i="0" u="none" strike="noStrike" cap="none">
              <a:solidFill>
                <a:schemeClr val="dk1"/>
              </a:solidFill>
              <a:latin typeface="Calibri"/>
              <a:ea typeface="Calibri"/>
              <a:cs typeface="Calibri"/>
              <a:sym typeface="Calibri"/>
            </a:endParaRPr>
          </a:p>
        </p:txBody>
      </p:sp>
      <p:sp>
        <p:nvSpPr>
          <p:cNvPr id="396" name="Google Shape;396;p14"/>
          <p:cNvSpPr/>
          <p:nvPr/>
        </p:nvSpPr>
        <p:spPr>
          <a:xfrm>
            <a:off x="6291072" y="3621024"/>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payroll@nivoda.com answers within 48 working hours; escalation path is documented.</a:t>
            </a:r>
            <a:endParaRPr sz="1050" b="0" i="0" u="none" strike="noStrike" cap="none">
              <a:solidFill>
                <a:schemeClr val="dk1"/>
              </a:solidFill>
              <a:latin typeface="Calibri"/>
              <a:ea typeface="Calibri"/>
              <a:cs typeface="Calibri"/>
              <a:sym typeface="Calibri"/>
            </a:endParaRPr>
          </a:p>
        </p:txBody>
      </p:sp>
      <p:sp>
        <p:nvSpPr>
          <p:cNvPr id="397" name="Google Shape;397;p14"/>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402"/>
        <p:cNvGrpSpPr/>
        <p:nvPr/>
      </p:nvGrpSpPr>
      <p:grpSpPr>
        <a:xfrm>
          <a:off x="0" y="0"/>
          <a:ext cx="0" cy="0"/>
          <a:chOff x="0" y="0"/>
          <a:chExt cx="0" cy="0"/>
        </a:xfrm>
      </p:grpSpPr>
      <p:sp>
        <p:nvSpPr>
          <p:cNvPr id="403" name="Google Shape;403;p15"/>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4" name="Google Shape;404;p15"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05" name="Google Shape;405;p15"/>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THE BIG PAYROLL QUIZ · ROUND 2</a:t>
            </a:r>
            <a:endParaRPr sz="1100" b="0" i="0" u="none" strike="noStrike" cap="none">
              <a:solidFill>
                <a:schemeClr val="dk1"/>
              </a:solidFill>
              <a:latin typeface="Calibri"/>
              <a:ea typeface="Calibri"/>
              <a:cs typeface="Calibri"/>
              <a:sym typeface="Calibri"/>
            </a:endParaRPr>
          </a:p>
        </p:txBody>
      </p:sp>
      <p:sp>
        <p:nvSpPr>
          <p:cNvPr id="406" name="Google Shape;406;p15"/>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Payroll: Myth or Fact?</a:t>
            </a:r>
            <a:endParaRPr sz="2900" b="0" i="0" u="none" strike="noStrike" cap="none">
              <a:solidFill>
                <a:schemeClr val="dk1"/>
              </a:solidFill>
              <a:latin typeface="Calibri"/>
              <a:ea typeface="Calibri"/>
              <a:cs typeface="Calibri"/>
              <a:sym typeface="Calibri"/>
            </a:endParaRPr>
          </a:p>
        </p:txBody>
      </p:sp>
      <p:sp>
        <p:nvSpPr>
          <p:cNvPr id="407" name="Google Shape;407;p15"/>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5"/>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5"/>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5"/>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5"/>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5"/>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5"/>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5"/>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5"/>
          <p:cNvSpPr/>
          <p:nvPr/>
        </p:nvSpPr>
        <p:spPr>
          <a:xfrm>
            <a:off x="1207008" y="1170432"/>
            <a:ext cx="7406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200"/>
              <a:buFont typeface="Calibri"/>
              <a:buNone/>
            </a:pPr>
            <a:r>
              <a:rPr lang="en-US" sz="1200" b="0" i="1" u="none" strike="noStrike" cap="none">
                <a:solidFill>
                  <a:srgbClr val="CADCFC"/>
                </a:solidFill>
                <a:latin typeface="Calibri"/>
                <a:ea typeface="Calibri"/>
                <a:cs typeface="Calibri"/>
                <a:sym typeface="Calibri"/>
              </a:rPr>
              <a:t>Shout it out (or mark your sheet): MYTH or FACT?</a:t>
            </a:r>
            <a:endParaRPr sz="1200" b="0" i="0" u="none" strike="noStrike" cap="none">
              <a:solidFill>
                <a:schemeClr val="dk1"/>
              </a:solidFill>
              <a:latin typeface="Calibri"/>
              <a:ea typeface="Calibri"/>
              <a:cs typeface="Calibri"/>
              <a:sym typeface="Calibri"/>
            </a:endParaRPr>
          </a:p>
        </p:txBody>
      </p:sp>
      <p:sp>
        <p:nvSpPr>
          <p:cNvPr id="416" name="Google Shape;416;p15"/>
          <p:cNvSpPr/>
          <p:nvPr/>
        </p:nvSpPr>
        <p:spPr>
          <a:xfrm>
            <a:off x="502920" y="1627632"/>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5"/>
          <p:cNvSpPr/>
          <p:nvPr/>
        </p:nvSpPr>
        <p:spPr>
          <a:xfrm>
            <a:off x="676656" y="1819656"/>
            <a:ext cx="146304" cy="14630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5"/>
          <p:cNvSpPr/>
          <p:nvPr/>
        </p:nvSpPr>
        <p:spPr>
          <a:xfrm>
            <a:off x="960120" y="1627632"/>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1.  US employees are paid 24 times a year.</a:t>
            </a:r>
            <a:endParaRPr sz="1350" b="0" i="0" u="none" strike="noStrike" cap="none">
              <a:solidFill>
                <a:schemeClr val="dk1"/>
              </a:solidFill>
              <a:latin typeface="Calibri"/>
              <a:ea typeface="Calibri"/>
              <a:cs typeface="Calibri"/>
              <a:sym typeface="Calibri"/>
            </a:endParaRPr>
          </a:p>
        </p:txBody>
      </p:sp>
      <p:sp>
        <p:nvSpPr>
          <p:cNvPr id="419" name="Google Shape;419;p15"/>
          <p:cNvSpPr/>
          <p:nvPr/>
        </p:nvSpPr>
        <p:spPr>
          <a:xfrm>
            <a:off x="502920" y="2249424"/>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5"/>
          <p:cNvSpPr/>
          <p:nvPr/>
        </p:nvSpPr>
        <p:spPr>
          <a:xfrm>
            <a:off x="676656" y="2441448"/>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5"/>
          <p:cNvSpPr/>
          <p:nvPr/>
        </p:nvSpPr>
        <p:spPr>
          <a:xfrm>
            <a:off x="960120" y="2249424"/>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2.  If the 25th falls on a Sunday, salaries arrive the Monday after.</a:t>
            </a:r>
            <a:endParaRPr sz="1350" b="0" i="0" u="none" strike="noStrike" cap="none">
              <a:solidFill>
                <a:schemeClr val="dk1"/>
              </a:solidFill>
              <a:latin typeface="Calibri"/>
              <a:ea typeface="Calibri"/>
              <a:cs typeface="Calibri"/>
              <a:sym typeface="Calibri"/>
            </a:endParaRPr>
          </a:p>
        </p:txBody>
      </p:sp>
      <p:sp>
        <p:nvSpPr>
          <p:cNvPr id="422" name="Google Shape;422;p15"/>
          <p:cNvSpPr/>
          <p:nvPr/>
        </p:nvSpPr>
        <p:spPr>
          <a:xfrm>
            <a:off x="502920" y="2871216"/>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5"/>
          <p:cNvSpPr/>
          <p:nvPr/>
        </p:nvSpPr>
        <p:spPr>
          <a:xfrm>
            <a:off x="676656" y="3063240"/>
            <a:ext cx="146304" cy="14630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5"/>
          <p:cNvSpPr/>
          <p:nvPr/>
        </p:nvSpPr>
        <p:spPr>
          <a:xfrm>
            <a:off x="960120" y="2871216"/>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3.  Nivoda's leave entitlement is unlimited.</a:t>
            </a:r>
            <a:endParaRPr sz="1350" b="0" i="0" u="none" strike="noStrike" cap="none">
              <a:solidFill>
                <a:schemeClr val="dk1"/>
              </a:solidFill>
              <a:latin typeface="Calibri"/>
              <a:ea typeface="Calibri"/>
              <a:cs typeface="Calibri"/>
              <a:sym typeface="Calibri"/>
            </a:endParaRPr>
          </a:p>
        </p:txBody>
      </p:sp>
      <p:sp>
        <p:nvSpPr>
          <p:cNvPr id="425" name="Google Shape;425;p15"/>
          <p:cNvSpPr/>
          <p:nvPr/>
        </p:nvSpPr>
        <p:spPr>
          <a:xfrm>
            <a:off x="502920" y="3493008"/>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5"/>
          <p:cNvSpPr/>
          <p:nvPr/>
        </p:nvSpPr>
        <p:spPr>
          <a:xfrm>
            <a:off x="676656" y="3685032"/>
            <a:ext cx="146304" cy="14630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5"/>
          <p:cNvSpPr/>
          <p:nvPr/>
        </p:nvSpPr>
        <p:spPr>
          <a:xfrm>
            <a:off x="960120" y="3493008"/>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4.  In Hong Kong, we withhold income tax from salaries every month.</a:t>
            </a:r>
            <a:endParaRPr sz="1350" b="0" i="0" u="none" strike="noStrike" cap="none">
              <a:solidFill>
                <a:schemeClr val="dk1"/>
              </a:solidFill>
              <a:latin typeface="Calibri"/>
              <a:ea typeface="Calibri"/>
              <a:cs typeface="Calibri"/>
              <a:sym typeface="Calibri"/>
            </a:endParaRPr>
          </a:p>
        </p:txBody>
      </p:sp>
      <p:sp>
        <p:nvSpPr>
          <p:cNvPr id="428" name="Google Shape;428;p15"/>
          <p:cNvSpPr/>
          <p:nvPr/>
        </p:nvSpPr>
        <p:spPr>
          <a:xfrm>
            <a:off x="502920" y="4114800"/>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5"/>
          <p:cNvSpPr/>
          <p:nvPr/>
        </p:nvSpPr>
        <p:spPr>
          <a:xfrm>
            <a:off x="676656" y="4306824"/>
            <a:ext cx="146304" cy="14630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5"/>
          <p:cNvSpPr/>
          <p:nvPr/>
        </p:nvSpPr>
        <p:spPr>
          <a:xfrm>
            <a:off x="960120" y="4114800"/>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5.  The DEXT expense deadline is the 17th of the month.</a:t>
            </a:r>
            <a:endParaRPr sz="1350" b="0" i="0" u="none" strike="noStrike" cap="none">
              <a:solidFill>
                <a:schemeClr val="dk1"/>
              </a:solidFill>
              <a:latin typeface="Calibri"/>
              <a:ea typeface="Calibri"/>
              <a:cs typeface="Calibri"/>
              <a:sym typeface="Calibri"/>
            </a:endParaRPr>
          </a:p>
        </p:txBody>
      </p:sp>
      <p:sp>
        <p:nvSpPr>
          <p:cNvPr id="431" name="Google Shape;431;p15"/>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25</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436"/>
        <p:cNvGrpSpPr/>
        <p:nvPr/>
      </p:nvGrpSpPr>
      <p:grpSpPr>
        <a:xfrm>
          <a:off x="0" y="0"/>
          <a:ext cx="0" cy="0"/>
          <a:chOff x="0" y="0"/>
          <a:chExt cx="0" cy="0"/>
        </a:xfrm>
      </p:grpSpPr>
      <p:sp>
        <p:nvSpPr>
          <p:cNvPr id="437" name="Google Shape;437;p16"/>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8" name="Google Shape;438;p16"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39" name="Google Shape;439;p16"/>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ROUND 2 · ANSWERS</a:t>
            </a:r>
            <a:endParaRPr sz="1100" b="0" i="0" u="none" strike="noStrike" cap="none">
              <a:solidFill>
                <a:schemeClr val="dk1"/>
              </a:solidFill>
              <a:latin typeface="Calibri"/>
              <a:ea typeface="Calibri"/>
              <a:cs typeface="Calibri"/>
              <a:sym typeface="Calibri"/>
            </a:endParaRPr>
          </a:p>
        </p:txBody>
      </p:sp>
      <p:sp>
        <p:nvSpPr>
          <p:cNvPr id="440" name="Google Shape;440;p16"/>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Myth or Fact - Answers</a:t>
            </a:r>
            <a:endParaRPr sz="2900" b="0" i="0" u="none" strike="noStrike" cap="none">
              <a:solidFill>
                <a:schemeClr val="dk1"/>
              </a:solidFill>
              <a:latin typeface="Calibri"/>
              <a:ea typeface="Calibri"/>
              <a:cs typeface="Calibri"/>
              <a:sym typeface="Calibri"/>
            </a:endParaRPr>
          </a:p>
        </p:txBody>
      </p:sp>
      <p:sp>
        <p:nvSpPr>
          <p:cNvPr id="441" name="Google Shape;441;p16"/>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6"/>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6"/>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6"/>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6"/>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6"/>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6"/>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6"/>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9" name="Google Shape;449;p16" descr="preencoded.png"/>
          <p:cNvPicPr preferRelativeResize="0"/>
          <p:nvPr/>
        </p:nvPicPr>
        <p:blipFill rotWithShape="1">
          <a:blip r:embed="rId4">
            <a:alphaModFix/>
          </a:blip>
          <a:srcRect/>
          <a:stretch/>
        </p:blipFill>
        <p:spPr>
          <a:xfrm>
            <a:off x="530352" y="1572768"/>
            <a:ext cx="347472" cy="347472"/>
          </a:xfrm>
          <a:prstGeom prst="rect">
            <a:avLst/>
          </a:prstGeom>
          <a:noFill/>
          <a:ln>
            <a:noFill/>
          </a:ln>
        </p:spPr>
      </p:pic>
      <p:sp>
        <p:nvSpPr>
          <p:cNvPr id="450" name="Google Shape;450;p16"/>
          <p:cNvSpPr/>
          <p:nvPr/>
        </p:nvSpPr>
        <p:spPr>
          <a:xfrm>
            <a:off x="1042416" y="1481328"/>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1. MYTH   </a:t>
            </a:r>
            <a:r>
              <a:rPr lang="en-US" sz="1250" b="0" i="0" u="none" strike="noStrike" cap="none">
                <a:solidFill>
                  <a:srgbClr val="CADCFC"/>
                </a:solidFill>
                <a:latin typeface="Calibri"/>
                <a:ea typeface="Calibri"/>
                <a:cs typeface="Calibri"/>
                <a:sym typeface="Calibri"/>
              </a:rPr>
              <a:t>Bi-weekly = 26 pay periods a year, every alternate Friday.</a:t>
            </a:r>
            <a:endParaRPr sz="1500" b="0" i="0" u="none" strike="noStrike" cap="none">
              <a:solidFill>
                <a:schemeClr val="dk1"/>
              </a:solidFill>
              <a:latin typeface="Calibri"/>
              <a:ea typeface="Calibri"/>
              <a:cs typeface="Calibri"/>
              <a:sym typeface="Calibri"/>
            </a:endParaRPr>
          </a:p>
        </p:txBody>
      </p:sp>
      <p:pic>
        <p:nvPicPr>
          <p:cNvPr id="451" name="Google Shape;451;p16" descr="preencoded.png"/>
          <p:cNvPicPr preferRelativeResize="0"/>
          <p:nvPr/>
        </p:nvPicPr>
        <p:blipFill rotWithShape="1">
          <a:blip r:embed="rId4">
            <a:alphaModFix/>
          </a:blip>
          <a:srcRect/>
          <a:stretch/>
        </p:blipFill>
        <p:spPr>
          <a:xfrm>
            <a:off x="530352" y="2231136"/>
            <a:ext cx="347472" cy="347472"/>
          </a:xfrm>
          <a:prstGeom prst="rect">
            <a:avLst/>
          </a:prstGeom>
          <a:noFill/>
          <a:ln>
            <a:noFill/>
          </a:ln>
        </p:spPr>
      </p:pic>
      <p:sp>
        <p:nvSpPr>
          <p:cNvPr id="452" name="Google Shape;452;p16"/>
          <p:cNvSpPr/>
          <p:nvPr/>
        </p:nvSpPr>
        <p:spPr>
          <a:xfrm>
            <a:off x="1042416" y="2139696"/>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2. MYTH   </a:t>
            </a:r>
            <a:r>
              <a:rPr lang="en-US" sz="1250" b="0" i="0" u="none" strike="noStrike" cap="none">
                <a:solidFill>
                  <a:srgbClr val="CADCFC"/>
                </a:solidFill>
                <a:latin typeface="Calibri"/>
                <a:ea typeface="Calibri"/>
                <a:cs typeface="Calibri"/>
                <a:sym typeface="Calibri"/>
              </a:rPr>
              <a:t>Salaries are paid the PRECEDING business day, never late.</a:t>
            </a:r>
            <a:endParaRPr sz="1500" b="0" i="0" u="none" strike="noStrike" cap="none">
              <a:solidFill>
                <a:schemeClr val="dk1"/>
              </a:solidFill>
              <a:latin typeface="Calibri"/>
              <a:ea typeface="Calibri"/>
              <a:cs typeface="Calibri"/>
              <a:sym typeface="Calibri"/>
            </a:endParaRPr>
          </a:p>
        </p:txBody>
      </p:sp>
      <p:pic>
        <p:nvPicPr>
          <p:cNvPr id="453" name="Google Shape;453;p16" descr="preencoded.png"/>
          <p:cNvPicPr preferRelativeResize="0"/>
          <p:nvPr/>
        </p:nvPicPr>
        <p:blipFill rotWithShape="1">
          <a:blip r:embed="rId5">
            <a:alphaModFix/>
          </a:blip>
          <a:srcRect/>
          <a:stretch/>
        </p:blipFill>
        <p:spPr>
          <a:xfrm>
            <a:off x="530352" y="2889504"/>
            <a:ext cx="347472" cy="347472"/>
          </a:xfrm>
          <a:prstGeom prst="rect">
            <a:avLst/>
          </a:prstGeom>
          <a:noFill/>
          <a:ln>
            <a:noFill/>
          </a:ln>
        </p:spPr>
      </p:pic>
      <p:sp>
        <p:nvSpPr>
          <p:cNvPr id="454" name="Google Shape;454;p16"/>
          <p:cNvSpPr/>
          <p:nvPr/>
        </p:nvSpPr>
        <p:spPr>
          <a:xfrm>
            <a:off x="1042416" y="2798064"/>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BD88F"/>
              </a:buClr>
              <a:buSzPts val="1500"/>
              <a:buFont typeface="Calibri"/>
              <a:buNone/>
            </a:pPr>
            <a:r>
              <a:rPr lang="en-US" sz="1500" b="1" i="0" u="none" strike="noStrike" cap="none">
                <a:solidFill>
                  <a:srgbClr val="7BD88F"/>
                </a:solidFill>
                <a:latin typeface="Calibri"/>
                <a:ea typeface="Calibri"/>
                <a:cs typeface="Calibri"/>
                <a:sym typeface="Calibri"/>
              </a:rPr>
              <a:t>3. FACT   </a:t>
            </a:r>
            <a:r>
              <a:rPr lang="en-US" sz="1250" b="0" i="0" u="none" strike="noStrike" cap="none">
                <a:solidFill>
                  <a:srgbClr val="CADCFC"/>
                </a:solidFill>
                <a:latin typeface="Calibri"/>
                <a:ea typeface="Calibri"/>
                <a:cs typeface="Calibri"/>
                <a:sym typeface="Calibri"/>
              </a:rPr>
              <a:t>Unlimited leave; deductions only where law requires. Log it on HiBob.</a:t>
            </a:r>
            <a:endParaRPr sz="1500" b="0" i="0" u="none" strike="noStrike" cap="none">
              <a:solidFill>
                <a:schemeClr val="dk1"/>
              </a:solidFill>
              <a:latin typeface="Calibri"/>
              <a:ea typeface="Calibri"/>
              <a:cs typeface="Calibri"/>
              <a:sym typeface="Calibri"/>
            </a:endParaRPr>
          </a:p>
        </p:txBody>
      </p:sp>
      <p:pic>
        <p:nvPicPr>
          <p:cNvPr id="455" name="Google Shape;455;p16" descr="preencoded.png"/>
          <p:cNvPicPr preferRelativeResize="0"/>
          <p:nvPr/>
        </p:nvPicPr>
        <p:blipFill rotWithShape="1">
          <a:blip r:embed="rId4">
            <a:alphaModFix/>
          </a:blip>
          <a:srcRect/>
          <a:stretch/>
        </p:blipFill>
        <p:spPr>
          <a:xfrm>
            <a:off x="530352" y="3547872"/>
            <a:ext cx="347472" cy="347472"/>
          </a:xfrm>
          <a:prstGeom prst="rect">
            <a:avLst/>
          </a:prstGeom>
          <a:noFill/>
          <a:ln>
            <a:noFill/>
          </a:ln>
        </p:spPr>
      </p:pic>
      <p:sp>
        <p:nvSpPr>
          <p:cNvPr id="456" name="Google Shape;456;p16"/>
          <p:cNvSpPr/>
          <p:nvPr/>
        </p:nvSpPr>
        <p:spPr>
          <a:xfrm>
            <a:off x="1042416" y="3456432"/>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4. MYTH   </a:t>
            </a:r>
            <a:r>
              <a:rPr lang="en-US" sz="1250" b="0" i="0" u="none" strike="noStrike" cap="none">
                <a:solidFill>
                  <a:srgbClr val="CADCFC"/>
                </a:solidFill>
                <a:latin typeface="Calibri"/>
                <a:ea typeface="Calibri"/>
                <a:cs typeface="Calibri"/>
                <a:sym typeface="Calibri"/>
              </a:rPr>
              <a:t>HK has no monthly withholding - employees pay the IRD annually. Only MPF is deducted.</a:t>
            </a:r>
            <a:endParaRPr sz="1500" b="0" i="0" u="none" strike="noStrike" cap="none">
              <a:solidFill>
                <a:schemeClr val="dk1"/>
              </a:solidFill>
              <a:latin typeface="Calibri"/>
              <a:ea typeface="Calibri"/>
              <a:cs typeface="Calibri"/>
              <a:sym typeface="Calibri"/>
            </a:endParaRPr>
          </a:p>
        </p:txBody>
      </p:sp>
      <p:pic>
        <p:nvPicPr>
          <p:cNvPr id="457" name="Google Shape;457;p16" descr="preencoded.png"/>
          <p:cNvPicPr preferRelativeResize="0"/>
          <p:nvPr/>
        </p:nvPicPr>
        <p:blipFill rotWithShape="1">
          <a:blip r:embed="rId5">
            <a:alphaModFix/>
          </a:blip>
          <a:srcRect/>
          <a:stretch/>
        </p:blipFill>
        <p:spPr>
          <a:xfrm>
            <a:off x="530352" y="4206240"/>
            <a:ext cx="347472" cy="347472"/>
          </a:xfrm>
          <a:prstGeom prst="rect">
            <a:avLst/>
          </a:prstGeom>
          <a:noFill/>
          <a:ln>
            <a:noFill/>
          </a:ln>
        </p:spPr>
      </p:pic>
      <p:sp>
        <p:nvSpPr>
          <p:cNvPr id="458" name="Google Shape;458;p16"/>
          <p:cNvSpPr/>
          <p:nvPr/>
        </p:nvSpPr>
        <p:spPr>
          <a:xfrm>
            <a:off x="1042416" y="4114800"/>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BD88F"/>
              </a:buClr>
              <a:buSzPts val="1500"/>
              <a:buFont typeface="Calibri"/>
              <a:buNone/>
            </a:pPr>
            <a:r>
              <a:rPr lang="en-US" sz="1500" b="1" i="0" u="none" strike="noStrike" cap="none">
                <a:solidFill>
                  <a:srgbClr val="7BD88F"/>
                </a:solidFill>
                <a:latin typeface="Calibri"/>
                <a:ea typeface="Calibri"/>
                <a:cs typeface="Calibri"/>
                <a:sym typeface="Calibri"/>
              </a:rPr>
              <a:t>5. FACT   </a:t>
            </a:r>
            <a:r>
              <a:rPr lang="en-US" sz="1250" b="0" i="0" u="none" strike="noStrike" cap="none">
                <a:solidFill>
                  <a:srgbClr val="CADCFC"/>
                </a:solidFill>
                <a:latin typeface="Calibri"/>
                <a:ea typeface="Calibri"/>
                <a:cs typeface="Calibri"/>
                <a:sym typeface="Calibri"/>
              </a:rPr>
              <a:t>17th on DEXT (7th on Remote). Later = next month's payroll.</a:t>
            </a:r>
            <a:endParaRPr sz="1500" b="0" i="0" u="none" strike="noStrike" cap="none">
              <a:solidFill>
                <a:schemeClr val="dk1"/>
              </a:solidFill>
              <a:latin typeface="Calibri"/>
              <a:ea typeface="Calibri"/>
              <a:cs typeface="Calibri"/>
              <a:sym typeface="Calibri"/>
            </a:endParaRPr>
          </a:p>
        </p:txBody>
      </p:sp>
      <p:sp>
        <p:nvSpPr>
          <p:cNvPr id="459" name="Google Shape;459;p16"/>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26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4"/>
        <p:cNvGrpSpPr/>
        <p:nvPr/>
      </p:nvGrpSpPr>
      <p:grpSpPr>
        <a:xfrm>
          <a:off x="0" y="0"/>
          <a:ext cx="0" cy="0"/>
          <a:chOff x="0" y="0"/>
          <a:chExt cx="0" cy="0"/>
        </a:xfrm>
      </p:grpSpPr>
      <p:sp>
        <p:nvSpPr>
          <p:cNvPr id="465" name="Google Shape;465;p17"/>
          <p:cNvSpPr/>
          <p:nvPr/>
        </p:nvSpPr>
        <p:spPr>
          <a:xfrm>
            <a:off x="457200" y="384048"/>
            <a:ext cx="566928" cy="566928"/>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6" name="Google Shape;466;p17"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67" name="Google Shape;467;p17"/>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AUTOMATION JOURNEY · CHAPTER 1</a:t>
            </a:r>
            <a:endParaRPr sz="1100" b="0" i="0" u="none" strike="noStrike" cap="none">
              <a:solidFill>
                <a:schemeClr val="dk1"/>
              </a:solidFill>
              <a:latin typeface="Calibri"/>
              <a:ea typeface="Calibri"/>
              <a:cs typeface="Calibri"/>
              <a:sym typeface="Calibri"/>
            </a:endParaRPr>
          </a:p>
        </p:txBody>
      </p:sp>
      <p:sp>
        <p:nvSpPr>
          <p:cNvPr id="468" name="Google Shape;468;p17"/>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Already Live: Contractor Invoices</a:t>
            </a:r>
            <a:endParaRPr sz="2900" b="0" i="0" u="none" strike="noStrike" cap="none">
              <a:solidFill>
                <a:schemeClr val="dk1"/>
              </a:solidFill>
              <a:latin typeface="Calibri"/>
              <a:ea typeface="Calibri"/>
              <a:cs typeface="Calibri"/>
              <a:sym typeface="Calibri"/>
            </a:endParaRPr>
          </a:p>
        </p:txBody>
      </p:sp>
      <p:sp>
        <p:nvSpPr>
          <p:cNvPr id="469" name="Google Shape;469;p17"/>
          <p:cNvSpPr/>
          <p:nvPr/>
        </p:nvSpPr>
        <p:spPr>
          <a:xfrm>
            <a:off x="502920" y="1481328"/>
            <a:ext cx="3977640" cy="2377440"/>
          </a:xfrm>
          <a:prstGeom prst="roundRect">
            <a:avLst>
              <a:gd name="adj" fmla="val 3462"/>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7"/>
          <p:cNvSpPr/>
          <p:nvPr/>
        </p:nvSpPr>
        <p:spPr>
          <a:xfrm>
            <a:off x="713232" y="1627632"/>
            <a:ext cx="35661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6167"/>
              </a:buClr>
              <a:buSzPts val="1200"/>
              <a:buFont typeface="Calibri"/>
              <a:buNone/>
            </a:pPr>
            <a:r>
              <a:rPr lang="en-US" sz="1200" b="1" i="0" u="none" strike="noStrike" cap="none">
                <a:solidFill>
                  <a:srgbClr val="F96167"/>
                </a:solidFill>
                <a:latin typeface="Calibri"/>
                <a:ea typeface="Calibri"/>
                <a:cs typeface="Calibri"/>
                <a:sym typeface="Calibri"/>
              </a:rPr>
              <a:t>BEFORE</a:t>
            </a:r>
            <a:endParaRPr sz="1200" b="0" i="0" u="none" strike="noStrike" cap="none">
              <a:solidFill>
                <a:schemeClr val="dk1"/>
              </a:solidFill>
              <a:latin typeface="Calibri"/>
              <a:ea typeface="Calibri"/>
              <a:cs typeface="Calibri"/>
              <a:sym typeface="Calibri"/>
            </a:endParaRPr>
          </a:p>
        </p:txBody>
      </p:sp>
      <p:sp>
        <p:nvSpPr>
          <p:cNvPr id="471" name="Google Shape;471;p17"/>
          <p:cNvSpPr/>
          <p:nvPr/>
        </p:nvSpPr>
        <p:spPr>
          <a:xfrm>
            <a:off x="713232" y="1956816"/>
            <a:ext cx="3611880" cy="17830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Invoices arriving by email, one by one</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Manual copy-paste into trackers</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Re-keying errors &amp; missed invoices</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Hours of repetitive effort each cycle</a:t>
            </a:r>
            <a:endParaRPr sz="1250" b="0" i="0" u="none" strike="noStrike" cap="none">
              <a:solidFill>
                <a:schemeClr val="dk1"/>
              </a:solidFill>
              <a:latin typeface="Calibri"/>
              <a:ea typeface="Calibri"/>
              <a:cs typeface="Calibri"/>
              <a:sym typeface="Calibri"/>
            </a:endParaRPr>
          </a:p>
        </p:txBody>
      </p:sp>
      <p:sp>
        <p:nvSpPr>
          <p:cNvPr id="472" name="Google Shape;472;p17"/>
          <p:cNvSpPr/>
          <p:nvPr/>
        </p:nvSpPr>
        <p:spPr>
          <a:xfrm>
            <a:off x="4709160" y="1481328"/>
            <a:ext cx="3977640" cy="2377440"/>
          </a:xfrm>
          <a:prstGeom prst="roundRect">
            <a:avLst>
              <a:gd name="adj" fmla="val 3462"/>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7"/>
          <p:cNvSpPr/>
          <p:nvPr/>
        </p:nvSpPr>
        <p:spPr>
          <a:xfrm>
            <a:off x="4919472" y="1627632"/>
            <a:ext cx="35661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1200"/>
              <a:buFont typeface="Calibri"/>
              <a:buNone/>
            </a:pPr>
            <a:r>
              <a:rPr lang="en-US" sz="1200" b="1" i="0" u="none" strike="noStrike" cap="none">
                <a:solidFill>
                  <a:srgbClr val="2E9E6B"/>
                </a:solidFill>
                <a:latin typeface="Calibri"/>
                <a:ea typeface="Calibri"/>
                <a:cs typeface="Calibri"/>
                <a:sym typeface="Calibri"/>
              </a:rPr>
              <a:t>NOW - AUTOMATED</a:t>
            </a:r>
            <a:endParaRPr sz="1200" b="0" i="0" u="none" strike="noStrike" cap="none">
              <a:solidFill>
                <a:schemeClr val="dk1"/>
              </a:solidFill>
              <a:latin typeface="Calibri"/>
              <a:ea typeface="Calibri"/>
              <a:cs typeface="Calibri"/>
              <a:sym typeface="Calibri"/>
            </a:endParaRPr>
          </a:p>
        </p:txBody>
      </p:sp>
      <p:sp>
        <p:nvSpPr>
          <p:cNvPr id="474" name="Google Shape;474;p17"/>
          <p:cNvSpPr/>
          <p:nvPr/>
        </p:nvSpPr>
        <p:spPr>
          <a:xfrm>
            <a:off x="4919472" y="1956816"/>
            <a:ext cx="3611880" cy="17830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Invoice data extracted &amp; collated automatically</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One consolidated, payment-ready summary</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Consistent, auditable format every cycle</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Team time shifted to review, not re-keying</a:t>
            </a:r>
            <a:endParaRPr sz="1250" b="0" i="0" u="none" strike="noStrike" cap="none">
              <a:solidFill>
                <a:schemeClr val="dk1"/>
              </a:solidFill>
              <a:latin typeface="Calibri"/>
              <a:ea typeface="Calibri"/>
              <a:cs typeface="Calibri"/>
              <a:sym typeface="Calibri"/>
            </a:endParaRPr>
          </a:p>
        </p:txBody>
      </p:sp>
      <p:sp>
        <p:nvSpPr>
          <p:cNvPr id="475" name="Google Shape;475;p17"/>
          <p:cNvSpPr/>
          <p:nvPr/>
        </p:nvSpPr>
        <p:spPr>
          <a:xfrm>
            <a:off x="502920" y="4069080"/>
            <a:ext cx="8183880" cy="749808"/>
          </a:xfrm>
          <a:prstGeom prst="roundRect">
            <a:avLst>
              <a:gd name="adj" fmla="val 10976"/>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7"/>
          <p:cNvSpPr/>
          <p:nvPr/>
        </p:nvSpPr>
        <p:spPr>
          <a:xfrm>
            <a:off x="777240" y="4069080"/>
            <a:ext cx="768096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0" i="1" u="none" strike="noStrike" cap="none">
                <a:solidFill>
                  <a:srgbClr val="FFFFFF"/>
                </a:solidFill>
                <a:latin typeface="Calibri"/>
                <a:ea typeface="Calibri"/>
                <a:cs typeface="Calibri"/>
                <a:sym typeface="Calibri"/>
              </a:rPr>
              <a:t>Chapter 1 taught us the recipe: the machine collates, the human reviews. Chapters 2 &amp; 3 apply it to bigger pots.</a:t>
            </a:r>
            <a:endParaRPr sz="1300" b="0" i="0" u="none" strike="noStrike" cap="none">
              <a:solidFill>
                <a:schemeClr val="dk1"/>
              </a:solidFill>
              <a:latin typeface="Calibri"/>
              <a:ea typeface="Calibri"/>
              <a:cs typeface="Calibri"/>
              <a:sym typeface="Calibri"/>
            </a:endParaRPr>
          </a:p>
        </p:txBody>
      </p:sp>
      <p:sp>
        <p:nvSpPr>
          <p:cNvPr id="477" name="Google Shape;477;p17"/>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2"/>
        <p:cNvGrpSpPr/>
        <p:nvPr/>
      </p:nvGrpSpPr>
      <p:grpSpPr>
        <a:xfrm>
          <a:off x="0" y="0"/>
          <a:ext cx="0" cy="0"/>
          <a:chOff x="0" y="0"/>
          <a:chExt cx="0" cy="0"/>
        </a:xfrm>
      </p:grpSpPr>
      <p:sp>
        <p:nvSpPr>
          <p:cNvPr id="483" name="Google Shape;483;p18"/>
          <p:cNvSpPr/>
          <p:nvPr/>
        </p:nvSpPr>
        <p:spPr>
          <a:xfrm>
            <a:off x="457200" y="384048"/>
            <a:ext cx="566928" cy="566928"/>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4" name="Google Shape;484;p18"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85" name="Google Shape;485;p18"/>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AUTOMATION JOURNEY · CHAPTER 3</a:t>
            </a:r>
            <a:endParaRPr sz="1100" b="0" i="0" u="none" strike="noStrike" cap="none">
              <a:solidFill>
                <a:schemeClr val="dk1"/>
              </a:solidFill>
              <a:latin typeface="Calibri"/>
              <a:ea typeface="Calibri"/>
              <a:cs typeface="Calibri"/>
              <a:sym typeface="Calibri"/>
            </a:endParaRPr>
          </a:p>
        </p:txBody>
      </p:sp>
      <p:sp>
        <p:nvSpPr>
          <p:cNvPr id="486" name="Google Shape;486;p18"/>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Next Up: Scaling the Recipe</a:t>
            </a:r>
            <a:endParaRPr sz="2900" b="0" i="0" u="none" strike="noStrike" cap="none">
              <a:solidFill>
                <a:schemeClr val="dk1"/>
              </a:solidFill>
              <a:latin typeface="Calibri"/>
              <a:ea typeface="Calibri"/>
              <a:cs typeface="Calibri"/>
              <a:sym typeface="Calibri"/>
            </a:endParaRPr>
          </a:p>
        </p:txBody>
      </p:sp>
      <p:sp>
        <p:nvSpPr>
          <p:cNvPr id="487" name="Google Shape;487;p18"/>
          <p:cNvSpPr/>
          <p:nvPr/>
        </p:nvSpPr>
        <p:spPr>
          <a:xfrm>
            <a:off x="502920" y="1481328"/>
            <a:ext cx="4023360" cy="2286000"/>
          </a:xfrm>
          <a:prstGeom prst="roundRect">
            <a:avLst>
              <a:gd name="adj" fmla="val 3600"/>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8"/>
          <p:cNvSpPr/>
          <p:nvPr/>
        </p:nvSpPr>
        <p:spPr>
          <a:xfrm>
            <a:off x="704088" y="1645920"/>
            <a:ext cx="36118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600"/>
              <a:buFont typeface="Calibri"/>
              <a:buNone/>
            </a:pPr>
            <a:r>
              <a:rPr lang="en-US" sz="1600" b="1" i="0" u="none" strike="noStrike" cap="none">
                <a:solidFill>
                  <a:srgbClr val="028090"/>
                </a:solidFill>
                <a:latin typeface="Calibri"/>
                <a:ea typeface="Calibri"/>
                <a:cs typeface="Calibri"/>
                <a:sym typeface="Calibri"/>
              </a:rPr>
              <a:t>India GL working</a:t>
            </a:r>
            <a:endParaRPr sz="1600" b="0" i="0" u="none" strike="noStrike" cap="none">
              <a:solidFill>
                <a:schemeClr val="dk1"/>
              </a:solidFill>
              <a:latin typeface="Calibri"/>
              <a:ea typeface="Calibri"/>
              <a:cs typeface="Calibri"/>
              <a:sym typeface="Calibri"/>
            </a:endParaRPr>
          </a:p>
        </p:txBody>
      </p:sp>
      <p:sp>
        <p:nvSpPr>
          <p:cNvPr id="489" name="Google Shape;489;p18"/>
          <p:cNvSpPr/>
          <p:nvPr/>
        </p:nvSpPr>
        <p:spPr>
          <a:xfrm>
            <a:off x="704088" y="1975104"/>
            <a:ext cx="3611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000"/>
              <a:buFont typeface="Calibri"/>
              <a:buNone/>
            </a:pPr>
            <a:r>
              <a:rPr lang="en-US" sz="1000" b="1" i="0" u="none" strike="noStrike" cap="none">
                <a:solidFill>
                  <a:srgbClr val="8F7115"/>
                </a:solidFill>
                <a:latin typeface="Calibri"/>
                <a:ea typeface="Calibri"/>
                <a:cs typeface="Calibri"/>
                <a:sym typeface="Calibri"/>
              </a:rPr>
              <a:t>NEXT: SAME RECIPE AS THE USA</a:t>
            </a:r>
            <a:endParaRPr sz="1000" b="0" i="0" u="none" strike="noStrike" cap="none">
              <a:solidFill>
                <a:schemeClr val="dk1"/>
              </a:solidFill>
              <a:latin typeface="Calibri"/>
              <a:ea typeface="Calibri"/>
              <a:cs typeface="Calibri"/>
              <a:sym typeface="Calibri"/>
            </a:endParaRPr>
          </a:p>
        </p:txBody>
      </p:sp>
      <p:sp>
        <p:nvSpPr>
          <p:cNvPr id="490" name="Google Shape;490;p18"/>
          <p:cNvSpPr/>
          <p:nvPr/>
        </p:nvSpPr>
        <p:spPr>
          <a:xfrm>
            <a:off x="704088" y="2304288"/>
            <a:ext cx="361188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200"/>
              <a:buFont typeface="Calibri"/>
              <a:buNone/>
            </a:pPr>
            <a:r>
              <a:rPr lang="en-US" sz="1200" b="0" i="0" u="none" strike="noStrike" cap="none">
                <a:solidFill>
                  <a:srgbClr val="23283F"/>
                </a:solidFill>
                <a:latin typeface="Calibri"/>
                <a:ea typeface="Calibri"/>
                <a:cs typeface="Calibri"/>
                <a:sym typeface="Calibri"/>
              </a:rPr>
              <a:t>Paybooks gross-to-net + inputs go in → Claude builds the monthly journal &amp; headcount working in our standard format</a:t>
            </a:r>
            <a:endParaRPr sz="1200" b="0" i="0" u="none" strike="noStrike" cap="none">
              <a:solidFill>
                <a:schemeClr val="dk1"/>
              </a:solidFill>
              <a:latin typeface="Calibri"/>
              <a:ea typeface="Calibri"/>
              <a:cs typeface="Calibri"/>
              <a:sym typeface="Calibri"/>
            </a:endParaRPr>
          </a:p>
        </p:txBody>
      </p:sp>
      <p:sp>
        <p:nvSpPr>
          <p:cNvPr id="491" name="Google Shape;491;p18"/>
          <p:cNvSpPr/>
          <p:nvPr/>
        </p:nvSpPr>
        <p:spPr>
          <a:xfrm>
            <a:off x="4709160" y="1481328"/>
            <a:ext cx="4023360" cy="2286000"/>
          </a:xfrm>
          <a:prstGeom prst="roundRect">
            <a:avLst>
              <a:gd name="adj" fmla="val 3600"/>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8"/>
          <p:cNvSpPr/>
          <p:nvPr/>
        </p:nvSpPr>
        <p:spPr>
          <a:xfrm>
            <a:off x="4910328" y="1645920"/>
            <a:ext cx="36118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AB6"/>
              </a:buClr>
              <a:buSzPts val="1600"/>
              <a:buFont typeface="Calibri"/>
              <a:buNone/>
            </a:pPr>
            <a:r>
              <a:rPr lang="en-US" sz="1600" b="1" i="0" u="none" strike="noStrike" cap="none">
                <a:solidFill>
                  <a:srgbClr val="6C4AB6"/>
                </a:solidFill>
                <a:latin typeface="Calibri"/>
                <a:ea typeface="Calibri"/>
                <a:cs typeface="Calibri"/>
                <a:sym typeface="Calibri"/>
              </a:rPr>
              <a:t>USA pipeline</a:t>
            </a:r>
            <a:endParaRPr sz="1600" b="0" i="0" u="none" strike="noStrike" cap="none">
              <a:solidFill>
                <a:schemeClr val="dk1"/>
              </a:solidFill>
              <a:latin typeface="Calibri"/>
              <a:ea typeface="Calibri"/>
              <a:cs typeface="Calibri"/>
              <a:sym typeface="Calibri"/>
            </a:endParaRPr>
          </a:p>
        </p:txBody>
      </p:sp>
      <p:sp>
        <p:nvSpPr>
          <p:cNvPr id="493" name="Google Shape;493;p18"/>
          <p:cNvSpPr/>
          <p:nvPr/>
        </p:nvSpPr>
        <p:spPr>
          <a:xfrm>
            <a:off x="4910328" y="1975104"/>
            <a:ext cx="3611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000"/>
              <a:buFont typeface="Calibri"/>
              <a:buNone/>
            </a:pPr>
            <a:r>
              <a:rPr lang="en-US" sz="1000" b="1" i="0" u="none" strike="noStrike" cap="none">
                <a:solidFill>
                  <a:srgbClr val="8F7115"/>
                </a:solidFill>
                <a:latin typeface="Calibri"/>
                <a:ea typeface="Calibri"/>
                <a:cs typeface="Calibri"/>
                <a:sym typeface="Calibri"/>
              </a:rPr>
              <a:t>LIVE - SEE PREVIOUS SLIDES</a:t>
            </a:r>
            <a:endParaRPr sz="1000" b="0" i="0" u="none" strike="noStrike" cap="none">
              <a:solidFill>
                <a:schemeClr val="dk1"/>
              </a:solidFill>
              <a:latin typeface="Calibri"/>
              <a:ea typeface="Calibri"/>
              <a:cs typeface="Calibri"/>
              <a:sym typeface="Calibri"/>
            </a:endParaRPr>
          </a:p>
        </p:txBody>
      </p:sp>
      <p:sp>
        <p:nvSpPr>
          <p:cNvPr id="494" name="Google Shape;494;p18"/>
          <p:cNvSpPr/>
          <p:nvPr/>
        </p:nvSpPr>
        <p:spPr>
          <a:xfrm>
            <a:off x="4910328" y="2304288"/>
            <a:ext cx="361188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200"/>
              <a:buFont typeface="Calibri"/>
              <a:buNone/>
            </a:pPr>
            <a:r>
              <a:rPr lang="en-US" sz="1200" b="0" i="0" u="none" strike="noStrike" cap="none">
                <a:solidFill>
                  <a:srgbClr val="23283F"/>
                </a:solidFill>
                <a:latin typeface="Calibri"/>
                <a:ea typeface="Calibri"/>
                <a:cs typeface="Calibri"/>
                <a:sym typeface="Calibri"/>
              </a:rPr>
              <a:t>Gusto runs → working, NS JV, consolidated &amp; headcount - proven 3-4 times a month, now the template for India</a:t>
            </a:r>
            <a:endParaRPr sz="1200" b="0" i="0" u="none" strike="noStrike" cap="none">
              <a:solidFill>
                <a:schemeClr val="dk1"/>
              </a:solidFill>
              <a:latin typeface="Calibri"/>
              <a:ea typeface="Calibri"/>
              <a:cs typeface="Calibri"/>
              <a:sym typeface="Calibri"/>
            </a:endParaRPr>
          </a:p>
        </p:txBody>
      </p:sp>
      <p:sp>
        <p:nvSpPr>
          <p:cNvPr id="495" name="Google Shape;495;p18"/>
          <p:cNvSpPr/>
          <p:nvPr/>
        </p:nvSpPr>
        <p:spPr>
          <a:xfrm>
            <a:off x="502920" y="3977640"/>
            <a:ext cx="8183880" cy="841248"/>
          </a:xfrm>
          <a:prstGeom prst="roundRect">
            <a:avLst>
              <a:gd name="adj" fmla="val 9783"/>
            </a:avLst>
          </a:prstGeom>
          <a:solidFill>
            <a:srgbClr val="FBF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6" name="Google Shape;496;p18" descr="preencoded.png"/>
          <p:cNvPicPr preferRelativeResize="0"/>
          <p:nvPr/>
        </p:nvPicPr>
        <p:blipFill rotWithShape="1">
          <a:blip r:embed="rId4">
            <a:alphaModFix/>
          </a:blip>
          <a:srcRect/>
          <a:stretch/>
        </p:blipFill>
        <p:spPr>
          <a:xfrm>
            <a:off x="685800" y="4251960"/>
            <a:ext cx="292608" cy="292608"/>
          </a:xfrm>
          <a:prstGeom prst="rect">
            <a:avLst/>
          </a:prstGeom>
          <a:noFill/>
          <a:ln>
            <a:noFill/>
          </a:ln>
        </p:spPr>
      </p:pic>
      <p:sp>
        <p:nvSpPr>
          <p:cNvPr id="497" name="Google Shape;497;p18"/>
          <p:cNvSpPr/>
          <p:nvPr/>
        </p:nvSpPr>
        <p:spPr>
          <a:xfrm>
            <a:off x="1097280" y="4041648"/>
            <a:ext cx="745236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250"/>
              <a:buFont typeface="Calibri"/>
              <a:buNone/>
            </a:pPr>
            <a:r>
              <a:rPr lang="en-US" sz="1250" b="0" i="1" u="none" strike="noStrike" cap="none">
                <a:solidFill>
                  <a:srgbClr val="8F7115"/>
                </a:solidFill>
                <a:latin typeface="Calibri"/>
                <a:ea typeface="Calibri"/>
                <a:cs typeface="Calibri"/>
                <a:sym typeface="Calibri"/>
              </a:rPr>
              <a:t>Same recipe as Chapter 1: Claude prepares the working, the payroll team reviews and approves. The control stays human; the drudgery doesn't.</a:t>
            </a:r>
            <a:endParaRPr sz="1250" b="0" i="0" u="none" strike="noStrike" cap="none">
              <a:solidFill>
                <a:schemeClr val="dk1"/>
              </a:solidFill>
              <a:latin typeface="Calibri"/>
              <a:ea typeface="Calibri"/>
              <a:cs typeface="Calibri"/>
              <a:sym typeface="Calibri"/>
            </a:endParaRPr>
          </a:p>
        </p:txBody>
      </p:sp>
      <p:sp>
        <p:nvSpPr>
          <p:cNvPr id="498" name="Google Shape;498;p18"/>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20</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3"/>
        <p:cNvGrpSpPr/>
        <p:nvPr/>
      </p:nvGrpSpPr>
      <p:grpSpPr>
        <a:xfrm>
          <a:off x="0" y="0"/>
          <a:ext cx="0" cy="0"/>
          <a:chOff x="0" y="0"/>
          <a:chExt cx="0" cy="0"/>
        </a:xfrm>
      </p:grpSpPr>
      <p:sp>
        <p:nvSpPr>
          <p:cNvPr id="504" name="Google Shape;504;p19"/>
          <p:cNvSpPr/>
          <p:nvPr/>
        </p:nvSpPr>
        <p:spPr>
          <a:xfrm>
            <a:off x="457200" y="384048"/>
            <a:ext cx="566928" cy="566928"/>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5" name="Google Shape;505;p19"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506" name="Google Shape;506;p19"/>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AUTOMATION JOURNEY · THE QUESTION EVERYONE ASKS</a:t>
            </a:r>
            <a:endParaRPr sz="1100" b="0" i="0" u="none" strike="noStrike" cap="none">
              <a:solidFill>
                <a:schemeClr val="dk1"/>
              </a:solidFill>
              <a:latin typeface="Calibri"/>
              <a:ea typeface="Calibri"/>
              <a:cs typeface="Calibri"/>
              <a:sym typeface="Calibri"/>
            </a:endParaRPr>
          </a:p>
        </p:txBody>
      </p:sp>
      <p:sp>
        <p:nvSpPr>
          <p:cNvPr id="507" name="Google Shape;507;p19"/>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NetSuite Cost Booking: Yes, We Can</a:t>
            </a:r>
            <a:endParaRPr sz="2900" b="0" i="0" u="none" strike="noStrike" cap="none">
              <a:solidFill>
                <a:schemeClr val="dk1"/>
              </a:solidFill>
              <a:latin typeface="Calibri"/>
              <a:ea typeface="Calibri"/>
              <a:cs typeface="Calibri"/>
              <a:sym typeface="Calibri"/>
            </a:endParaRPr>
          </a:p>
        </p:txBody>
      </p:sp>
      <p:sp>
        <p:nvSpPr>
          <p:cNvPr id="508" name="Google Shape;508;p19"/>
          <p:cNvSpPr/>
          <p:nvPr/>
        </p:nvSpPr>
        <p:spPr>
          <a:xfrm>
            <a:off x="502920" y="1481328"/>
            <a:ext cx="2633472" cy="2514600"/>
          </a:xfrm>
          <a:prstGeom prst="roundRect">
            <a:avLst>
              <a:gd name="adj" fmla="val 3273"/>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658368" y="1609344"/>
            <a:ext cx="234086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950"/>
              <a:buFont typeface="Calibri"/>
              <a:buNone/>
            </a:pPr>
            <a:r>
              <a:rPr lang="en-US" sz="950" b="1" i="0" u="none" strike="noStrike" cap="none">
                <a:solidFill>
                  <a:srgbClr val="2E9E6B"/>
                </a:solidFill>
                <a:latin typeface="Calibri"/>
                <a:ea typeface="Calibri"/>
                <a:cs typeface="Calibri"/>
                <a:sym typeface="Calibri"/>
              </a:rPr>
              <a:t>ROUTE 1 · QUICK WIN · WE START HERE</a:t>
            </a:r>
            <a:endParaRPr sz="950" b="0" i="0" u="none" strike="noStrike" cap="none">
              <a:solidFill>
                <a:schemeClr val="dk1"/>
              </a:solidFill>
              <a:latin typeface="Calibri"/>
              <a:ea typeface="Calibri"/>
              <a:cs typeface="Calibri"/>
              <a:sym typeface="Calibri"/>
            </a:endParaRPr>
          </a:p>
        </p:txBody>
      </p:sp>
      <p:sp>
        <p:nvSpPr>
          <p:cNvPr id="510" name="Google Shape;510;p19"/>
          <p:cNvSpPr/>
          <p:nvPr/>
        </p:nvSpPr>
        <p:spPr>
          <a:xfrm>
            <a:off x="658368" y="1865376"/>
            <a:ext cx="2340864"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CSV Journal Import</a:t>
            </a:r>
            <a:endParaRPr sz="1350" b="0" i="0" u="none" strike="noStrike" cap="none">
              <a:solidFill>
                <a:schemeClr val="dk1"/>
              </a:solidFill>
              <a:latin typeface="Calibri"/>
              <a:ea typeface="Calibri"/>
              <a:cs typeface="Calibri"/>
              <a:sym typeface="Calibri"/>
            </a:endParaRPr>
          </a:p>
        </p:txBody>
      </p:sp>
      <p:sp>
        <p:nvSpPr>
          <p:cNvPr id="511" name="Google Shape;511;p19"/>
          <p:cNvSpPr/>
          <p:nvPr/>
        </p:nvSpPr>
        <p:spPr>
          <a:xfrm>
            <a:off x="658368" y="2450592"/>
            <a:ext cx="2340864"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Claude turns the GL working into an import-ready journal CSV. Team uploads to NetSuite &amp; approves. Low effort, live in weeks.</a:t>
            </a:r>
            <a:endParaRPr sz="1050" b="0" i="0" u="none" strike="noStrike" cap="none">
              <a:solidFill>
                <a:schemeClr val="dk1"/>
              </a:solidFill>
              <a:latin typeface="Calibri"/>
              <a:ea typeface="Calibri"/>
              <a:cs typeface="Calibri"/>
              <a:sym typeface="Calibri"/>
            </a:endParaRPr>
          </a:p>
        </p:txBody>
      </p:sp>
      <p:sp>
        <p:nvSpPr>
          <p:cNvPr id="512" name="Google Shape;512;p19"/>
          <p:cNvSpPr/>
          <p:nvPr/>
        </p:nvSpPr>
        <p:spPr>
          <a:xfrm>
            <a:off x="3319272" y="1481328"/>
            <a:ext cx="2633472" cy="2514600"/>
          </a:xfrm>
          <a:prstGeom prst="roundRect">
            <a:avLst>
              <a:gd name="adj" fmla="val 3273"/>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9"/>
          <p:cNvSpPr/>
          <p:nvPr/>
        </p:nvSpPr>
        <p:spPr>
          <a:xfrm>
            <a:off x="3474720" y="1609344"/>
            <a:ext cx="234086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950"/>
              <a:buFont typeface="Calibri"/>
              <a:buNone/>
            </a:pPr>
            <a:r>
              <a:rPr lang="en-US" sz="950" b="1" i="0" u="none" strike="noStrike" cap="none">
                <a:solidFill>
                  <a:srgbClr val="028090"/>
                </a:solidFill>
                <a:latin typeface="Calibri"/>
                <a:ea typeface="Calibri"/>
                <a:cs typeface="Calibri"/>
                <a:sym typeface="Calibri"/>
              </a:rPr>
              <a:t>ROUTE 2 · SCALE</a:t>
            </a:r>
            <a:endParaRPr sz="950" b="0" i="0" u="none" strike="noStrike" cap="none">
              <a:solidFill>
                <a:schemeClr val="dk1"/>
              </a:solidFill>
              <a:latin typeface="Calibri"/>
              <a:ea typeface="Calibri"/>
              <a:cs typeface="Calibri"/>
              <a:sym typeface="Calibri"/>
            </a:endParaRPr>
          </a:p>
        </p:txBody>
      </p:sp>
      <p:sp>
        <p:nvSpPr>
          <p:cNvPr id="514" name="Google Shape;514;p19"/>
          <p:cNvSpPr/>
          <p:nvPr/>
        </p:nvSpPr>
        <p:spPr>
          <a:xfrm>
            <a:off x="3474720" y="1865376"/>
            <a:ext cx="2340864"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SuiteScript / Scheduled Scripts</a:t>
            </a:r>
            <a:endParaRPr sz="1350" b="0" i="0" u="none" strike="noStrike" cap="none">
              <a:solidFill>
                <a:schemeClr val="dk1"/>
              </a:solidFill>
              <a:latin typeface="Calibri"/>
              <a:ea typeface="Calibri"/>
              <a:cs typeface="Calibri"/>
              <a:sym typeface="Calibri"/>
            </a:endParaRPr>
          </a:p>
        </p:txBody>
      </p:sp>
      <p:sp>
        <p:nvSpPr>
          <p:cNvPr id="515" name="Google Shape;515;p19"/>
          <p:cNvSpPr/>
          <p:nvPr/>
        </p:nvSpPr>
        <p:spPr>
          <a:xfrm>
            <a:off x="3474720" y="2450592"/>
            <a:ext cx="2340864"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Scripts inside NetSuite create journals from a staged file automatically - built once by NetSuite admins, runs monthly.</a:t>
            </a:r>
            <a:endParaRPr sz="1050" b="0" i="0" u="none" strike="noStrike" cap="none">
              <a:solidFill>
                <a:schemeClr val="dk1"/>
              </a:solidFill>
              <a:latin typeface="Calibri"/>
              <a:ea typeface="Calibri"/>
              <a:cs typeface="Calibri"/>
              <a:sym typeface="Calibri"/>
            </a:endParaRPr>
          </a:p>
        </p:txBody>
      </p:sp>
      <p:sp>
        <p:nvSpPr>
          <p:cNvPr id="516" name="Google Shape;516;p19"/>
          <p:cNvSpPr/>
          <p:nvPr/>
        </p:nvSpPr>
        <p:spPr>
          <a:xfrm>
            <a:off x="6135624" y="1481328"/>
            <a:ext cx="2633472" cy="2514600"/>
          </a:xfrm>
          <a:prstGeom prst="roundRect">
            <a:avLst>
              <a:gd name="adj" fmla="val 3273"/>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9"/>
          <p:cNvSpPr/>
          <p:nvPr/>
        </p:nvSpPr>
        <p:spPr>
          <a:xfrm>
            <a:off x="6291072" y="1609344"/>
            <a:ext cx="234086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AB6"/>
              </a:buClr>
              <a:buSzPts val="950"/>
              <a:buFont typeface="Calibri"/>
              <a:buNone/>
            </a:pPr>
            <a:r>
              <a:rPr lang="en-US" sz="950" b="1" i="0" u="none" strike="noStrike" cap="none">
                <a:solidFill>
                  <a:srgbClr val="6C4AB6"/>
                </a:solidFill>
                <a:latin typeface="Calibri"/>
                <a:ea typeface="Calibri"/>
                <a:cs typeface="Calibri"/>
                <a:sym typeface="Calibri"/>
              </a:rPr>
              <a:t>ROUTE 3 · END-STATE</a:t>
            </a:r>
            <a:endParaRPr sz="950" b="0" i="0" u="none" strike="noStrike" cap="none">
              <a:solidFill>
                <a:schemeClr val="dk1"/>
              </a:solidFill>
              <a:latin typeface="Calibri"/>
              <a:ea typeface="Calibri"/>
              <a:cs typeface="Calibri"/>
              <a:sym typeface="Calibri"/>
            </a:endParaRPr>
          </a:p>
        </p:txBody>
      </p:sp>
      <p:sp>
        <p:nvSpPr>
          <p:cNvPr id="518" name="Google Shape;518;p19"/>
          <p:cNvSpPr/>
          <p:nvPr/>
        </p:nvSpPr>
        <p:spPr>
          <a:xfrm>
            <a:off x="6291072" y="1865376"/>
            <a:ext cx="2340864"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API / iPaaS Integration</a:t>
            </a:r>
            <a:endParaRPr sz="1350" b="0" i="0" u="none" strike="noStrike" cap="none">
              <a:solidFill>
                <a:schemeClr val="dk1"/>
              </a:solidFill>
              <a:latin typeface="Calibri"/>
              <a:ea typeface="Calibri"/>
              <a:cs typeface="Calibri"/>
              <a:sym typeface="Calibri"/>
            </a:endParaRPr>
          </a:p>
        </p:txBody>
      </p:sp>
      <p:sp>
        <p:nvSpPr>
          <p:cNvPr id="519" name="Google Shape;519;p19"/>
          <p:cNvSpPr/>
          <p:nvPr/>
        </p:nvSpPr>
        <p:spPr>
          <a:xfrm>
            <a:off x="6291072" y="2450592"/>
            <a:ext cx="2340864" cy="1463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SuiteTalk REST API or connectors (e.g., Celigo, Workato) post journals straight from payroll outputs. Fully hands-off.</a:t>
            </a:r>
            <a:endParaRPr sz="1050" b="0" i="0" u="none" strike="noStrike" cap="none">
              <a:solidFill>
                <a:schemeClr val="dk1"/>
              </a:solidFill>
              <a:latin typeface="Calibri"/>
              <a:ea typeface="Calibri"/>
              <a:cs typeface="Calibri"/>
              <a:sym typeface="Calibri"/>
            </a:endParaRPr>
          </a:p>
        </p:txBody>
      </p:sp>
      <p:sp>
        <p:nvSpPr>
          <p:cNvPr id="520" name="Google Shape;520;p19"/>
          <p:cNvSpPr/>
          <p:nvPr/>
        </p:nvSpPr>
        <p:spPr>
          <a:xfrm>
            <a:off x="502920" y="4160520"/>
            <a:ext cx="8183880" cy="676656"/>
          </a:xfrm>
          <a:prstGeom prst="roundRect">
            <a:avLst>
              <a:gd name="adj" fmla="val 12162"/>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9"/>
          <p:cNvSpPr/>
          <p:nvPr/>
        </p:nvSpPr>
        <p:spPr>
          <a:xfrm>
            <a:off x="777240" y="4160520"/>
            <a:ext cx="7680960" cy="6766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0" i="1" u="none" strike="noStrike" cap="none">
                <a:solidFill>
                  <a:srgbClr val="FFFFFF"/>
                </a:solidFill>
                <a:latin typeface="Calibri"/>
                <a:ea typeface="Calibri"/>
                <a:cs typeface="Calibri"/>
                <a:sym typeface="Calibri"/>
              </a:rPr>
              <a:t>Guardrail: journals post as drafts / pending approval. Senior Manager ledger review stays - automation prepares, people approve.</a:t>
            </a:r>
            <a:endParaRPr sz="1200" b="0" i="0" u="none" strike="noStrike" cap="none">
              <a:solidFill>
                <a:schemeClr val="dk1"/>
              </a:solidFill>
              <a:latin typeface="Calibri"/>
              <a:ea typeface="Calibri"/>
              <a:cs typeface="Calibri"/>
              <a:sym typeface="Calibri"/>
            </a:endParaRPr>
          </a:p>
        </p:txBody>
      </p:sp>
      <p:sp>
        <p:nvSpPr>
          <p:cNvPr id="522" name="Google Shape;522;p19"/>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21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527"/>
        <p:cNvGrpSpPr/>
        <p:nvPr/>
      </p:nvGrpSpPr>
      <p:grpSpPr>
        <a:xfrm>
          <a:off x="0" y="0"/>
          <a:ext cx="0" cy="0"/>
          <a:chOff x="0" y="0"/>
          <a:chExt cx="0" cy="0"/>
        </a:xfrm>
      </p:grpSpPr>
      <p:sp>
        <p:nvSpPr>
          <p:cNvPr id="528" name="Google Shape;528;p20"/>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9" name="Google Shape;529;p20"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530" name="Google Shape;530;p20"/>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AUTOMATION JOURNEY · THE ROAD AHEAD</a:t>
            </a:r>
            <a:endParaRPr sz="1100" b="0" i="0" u="none" strike="noStrike" cap="none">
              <a:solidFill>
                <a:schemeClr val="dk1"/>
              </a:solidFill>
              <a:latin typeface="Calibri"/>
              <a:ea typeface="Calibri"/>
              <a:cs typeface="Calibri"/>
              <a:sym typeface="Calibri"/>
            </a:endParaRPr>
          </a:p>
        </p:txBody>
      </p:sp>
      <p:sp>
        <p:nvSpPr>
          <p:cNvPr id="531" name="Google Shape;531;p20"/>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From Spreadsheets to Sign-offs</a:t>
            </a:r>
            <a:endParaRPr sz="2900" b="0" i="0" u="none" strike="noStrike" cap="none">
              <a:solidFill>
                <a:schemeClr val="dk1"/>
              </a:solidFill>
              <a:latin typeface="Calibri"/>
              <a:ea typeface="Calibri"/>
              <a:cs typeface="Calibri"/>
              <a:sym typeface="Calibri"/>
            </a:endParaRPr>
          </a:p>
        </p:txBody>
      </p:sp>
      <p:sp>
        <p:nvSpPr>
          <p:cNvPr id="532" name="Google Shape;532;p20"/>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640080" y="1920240"/>
            <a:ext cx="1600200" cy="1920240"/>
          </a:xfrm>
          <a:prstGeom prst="roundRect">
            <a:avLst>
              <a:gd name="adj" fmla="val 5143"/>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749808" y="2048256"/>
            <a:ext cx="138074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00"/>
              <a:buFont typeface="Calibri"/>
              <a:buNone/>
            </a:pPr>
            <a:r>
              <a:rPr lang="en-US" sz="1100" b="1" i="0" u="none" strike="noStrike" cap="none">
                <a:solidFill>
                  <a:srgbClr val="1E2761"/>
                </a:solidFill>
                <a:latin typeface="Calibri"/>
                <a:ea typeface="Calibri"/>
                <a:cs typeface="Calibri"/>
                <a:sym typeface="Calibri"/>
              </a:rPr>
              <a:t>DONE · LIVE</a:t>
            </a:r>
            <a:endParaRPr sz="1100" b="0" i="0" u="none" strike="noStrike" cap="none">
              <a:solidFill>
                <a:schemeClr val="dk1"/>
              </a:solidFill>
              <a:latin typeface="Calibri"/>
              <a:ea typeface="Calibri"/>
              <a:cs typeface="Calibri"/>
              <a:sym typeface="Calibri"/>
            </a:endParaRPr>
          </a:p>
        </p:txBody>
      </p:sp>
      <p:sp>
        <p:nvSpPr>
          <p:cNvPr id="542" name="Google Shape;542;p20"/>
          <p:cNvSpPr/>
          <p:nvPr/>
        </p:nvSpPr>
        <p:spPr>
          <a:xfrm>
            <a:off x="749808" y="2377440"/>
            <a:ext cx="1380744"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150"/>
              <a:buFont typeface="Calibri"/>
              <a:buNone/>
            </a:pPr>
            <a:r>
              <a:rPr lang="en-US" sz="1150" b="1" i="0" u="none" strike="noStrike" cap="none">
                <a:solidFill>
                  <a:srgbClr val="1E2761"/>
                </a:solidFill>
                <a:latin typeface="Calibri"/>
                <a:ea typeface="Calibri"/>
                <a:cs typeface="Calibri"/>
                <a:sym typeface="Calibri"/>
              </a:rPr>
              <a:t>Contractor invoice data collation</a:t>
            </a:r>
            <a:endParaRPr sz="1150" b="0" i="0" u="none" strike="noStrike" cap="none">
              <a:solidFill>
                <a:schemeClr val="dk1"/>
              </a:solidFill>
              <a:latin typeface="Calibri"/>
              <a:ea typeface="Calibri"/>
              <a:cs typeface="Calibri"/>
              <a:sym typeface="Calibri"/>
            </a:endParaRPr>
          </a:p>
        </p:txBody>
      </p:sp>
      <p:sp>
        <p:nvSpPr>
          <p:cNvPr id="543" name="Google Shape;543;p20"/>
          <p:cNvSpPr/>
          <p:nvPr/>
        </p:nvSpPr>
        <p:spPr>
          <a:xfrm>
            <a:off x="2286000" y="1920240"/>
            <a:ext cx="1600200" cy="1920240"/>
          </a:xfrm>
          <a:prstGeom prst="roundRect">
            <a:avLst>
              <a:gd name="adj" fmla="val 5143"/>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2395728" y="2048256"/>
            <a:ext cx="138074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Calibri"/>
              <a:buNone/>
            </a:pPr>
            <a:r>
              <a:rPr lang="en-US" sz="1100" b="1" i="0" u="none" strike="noStrike" cap="none">
                <a:solidFill>
                  <a:srgbClr val="028090"/>
                </a:solidFill>
                <a:latin typeface="Calibri"/>
                <a:ea typeface="Calibri"/>
                <a:cs typeface="Calibri"/>
                <a:sym typeface="Calibri"/>
              </a:rPr>
              <a:t>DONE · LIVE </a:t>
            </a:r>
            <a:endParaRPr sz="1100" b="0" i="0" u="none" strike="noStrike" cap="none">
              <a:solidFill>
                <a:schemeClr val="dk1"/>
              </a:solidFill>
              <a:latin typeface="Calibri"/>
              <a:ea typeface="Calibri"/>
              <a:cs typeface="Calibri"/>
              <a:sym typeface="Calibri"/>
            </a:endParaRPr>
          </a:p>
        </p:txBody>
      </p:sp>
      <p:sp>
        <p:nvSpPr>
          <p:cNvPr id="545" name="Google Shape;545;p20"/>
          <p:cNvSpPr/>
          <p:nvPr/>
        </p:nvSpPr>
        <p:spPr>
          <a:xfrm>
            <a:off x="2395728" y="2377440"/>
            <a:ext cx="1380744"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0" i="0" u="none" strike="noStrike" cap="none">
                <a:solidFill>
                  <a:srgbClr val="FFFFFF"/>
                </a:solidFill>
                <a:latin typeface="Calibri"/>
                <a:ea typeface="Calibri"/>
                <a:cs typeface="Calibri"/>
                <a:sym typeface="Calibri"/>
              </a:rPr>
              <a:t>USA payroll workbook - raw Gusto CSV to NS JV, consolidated &amp; headcount, every run</a:t>
            </a:r>
            <a:endParaRPr sz="1150" b="0" i="0" u="none" strike="noStrike" cap="none">
              <a:solidFill>
                <a:schemeClr val="dk1"/>
              </a:solidFill>
              <a:latin typeface="Calibri"/>
              <a:ea typeface="Calibri"/>
              <a:cs typeface="Calibri"/>
              <a:sym typeface="Calibri"/>
            </a:endParaRPr>
          </a:p>
        </p:txBody>
      </p:sp>
      <p:sp>
        <p:nvSpPr>
          <p:cNvPr id="546" name="Google Shape;546;p20"/>
          <p:cNvSpPr/>
          <p:nvPr/>
        </p:nvSpPr>
        <p:spPr>
          <a:xfrm>
            <a:off x="3931920" y="1920240"/>
            <a:ext cx="1600200" cy="1920240"/>
          </a:xfrm>
          <a:prstGeom prst="roundRect">
            <a:avLst>
              <a:gd name="adj" fmla="val 5143"/>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4041648" y="2048256"/>
            <a:ext cx="138074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AB6"/>
              </a:buClr>
              <a:buSzPts val="1100"/>
              <a:buFont typeface="Calibri"/>
              <a:buNone/>
            </a:pPr>
            <a:r>
              <a:rPr lang="en-US" sz="1100" b="1" i="0" u="none" strike="noStrike" cap="none">
                <a:solidFill>
                  <a:srgbClr val="6C4AB6"/>
                </a:solidFill>
                <a:latin typeface="Calibri"/>
                <a:ea typeface="Calibri"/>
                <a:cs typeface="Calibri"/>
                <a:sym typeface="Calibri"/>
              </a:rPr>
              <a:t>NEXT · Q3 2026</a:t>
            </a:r>
            <a:endParaRPr sz="1100" b="0" i="0" u="none" strike="noStrike" cap="none">
              <a:solidFill>
                <a:schemeClr val="dk1"/>
              </a:solidFill>
              <a:latin typeface="Calibri"/>
              <a:ea typeface="Calibri"/>
              <a:cs typeface="Calibri"/>
              <a:sym typeface="Calibri"/>
            </a:endParaRPr>
          </a:p>
        </p:txBody>
      </p:sp>
      <p:sp>
        <p:nvSpPr>
          <p:cNvPr id="548" name="Google Shape;548;p20"/>
          <p:cNvSpPr/>
          <p:nvPr/>
        </p:nvSpPr>
        <p:spPr>
          <a:xfrm>
            <a:off x="4041648" y="2377440"/>
            <a:ext cx="1380744"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0" i="0" u="none" strike="noStrike" cap="none">
                <a:solidFill>
                  <a:srgbClr val="FFFFFF"/>
                </a:solidFill>
                <a:latin typeface="Calibri"/>
                <a:ea typeface="Calibri"/>
                <a:cs typeface="Calibri"/>
                <a:sym typeface="Calibri"/>
              </a:rPr>
              <a:t>India GL working - same recipe, Paybooks in</a:t>
            </a:r>
            <a:endParaRPr sz="1150" b="0" i="0" u="none" strike="noStrike" cap="none">
              <a:solidFill>
                <a:schemeClr val="dk1"/>
              </a:solidFill>
              <a:latin typeface="Calibri"/>
              <a:ea typeface="Calibri"/>
              <a:cs typeface="Calibri"/>
              <a:sym typeface="Calibri"/>
            </a:endParaRPr>
          </a:p>
        </p:txBody>
      </p:sp>
      <p:sp>
        <p:nvSpPr>
          <p:cNvPr id="549" name="Google Shape;549;p20"/>
          <p:cNvSpPr/>
          <p:nvPr/>
        </p:nvSpPr>
        <p:spPr>
          <a:xfrm>
            <a:off x="5577840" y="1920240"/>
            <a:ext cx="1600200" cy="1920240"/>
          </a:xfrm>
          <a:prstGeom prst="roundRect">
            <a:avLst>
              <a:gd name="adj" fmla="val 5143"/>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5687568" y="2048256"/>
            <a:ext cx="138074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6167"/>
              </a:buClr>
              <a:buSzPts val="1100"/>
              <a:buFont typeface="Calibri"/>
              <a:buNone/>
            </a:pPr>
            <a:r>
              <a:rPr lang="en-US" sz="1100" b="1" i="0" u="none" strike="noStrike" cap="none">
                <a:solidFill>
                  <a:srgbClr val="F96167"/>
                </a:solidFill>
                <a:latin typeface="Calibri"/>
                <a:ea typeface="Calibri"/>
                <a:cs typeface="Calibri"/>
                <a:sym typeface="Calibri"/>
              </a:rPr>
              <a:t>PILOT · H1 2027</a:t>
            </a:r>
            <a:endParaRPr sz="1100" b="0" i="0" u="none" strike="noStrike" cap="none">
              <a:solidFill>
                <a:schemeClr val="dk1"/>
              </a:solidFill>
              <a:latin typeface="Calibri"/>
              <a:ea typeface="Calibri"/>
              <a:cs typeface="Calibri"/>
              <a:sym typeface="Calibri"/>
            </a:endParaRPr>
          </a:p>
        </p:txBody>
      </p:sp>
      <p:sp>
        <p:nvSpPr>
          <p:cNvPr id="551" name="Google Shape;551;p20"/>
          <p:cNvSpPr/>
          <p:nvPr/>
        </p:nvSpPr>
        <p:spPr>
          <a:xfrm>
            <a:off x="5687568" y="2377440"/>
            <a:ext cx="1380744"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0" i="0" u="none" strike="noStrike" cap="none">
                <a:solidFill>
                  <a:srgbClr val="FFFFFF"/>
                </a:solidFill>
                <a:latin typeface="Calibri"/>
                <a:ea typeface="Calibri"/>
                <a:cs typeface="Calibri"/>
                <a:sym typeface="Calibri"/>
              </a:rPr>
              <a:t>NetSuite cost booking via journal import</a:t>
            </a:r>
            <a:endParaRPr sz="1150" b="0" i="0" u="none" strike="noStrike" cap="none">
              <a:solidFill>
                <a:schemeClr val="dk1"/>
              </a:solidFill>
              <a:latin typeface="Calibri"/>
              <a:ea typeface="Calibri"/>
              <a:cs typeface="Calibri"/>
              <a:sym typeface="Calibri"/>
            </a:endParaRPr>
          </a:p>
        </p:txBody>
      </p:sp>
      <p:sp>
        <p:nvSpPr>
          <p:cNvPr id="552" name="Google Shape;552;p20"/>
          <p:cNvSpPr/>
          <p:nvPr/>
        </p:nvSpPr>
        <p:spPr>
          <a:xfrm>
            <a:off x="7223760" y="1920240"/>
            <a:ext cx="1600200" cy="1920240"/>
          </a:xfrm>
          <a:prstGeom prst="roundRect">
            <a:avLst>
              <a:gd name="adj" fmla="val 5143"/>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333488" y="2048256"/>
            <a:ext cx="138074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1100"/>
              <a:buFont typeface="Calibri"/>
              <a:buNone/>
            </a:pPr>
            <a:r>
              <a:rPr lang="en-US" sz="1100" b="1" i="0" u="none" strike="noStrike" cap="none">
                <a:solidFill>
                  <a:srgbClr val="2E9E6B"/>
                </a:solidFill>
                <a:latin typeface="Calibri"/>
                <a:ea typeface="Calibri"/>
                <a:cs typeface="Calibri"/>
                <a:sym typeface="Calibri"/>
              </a:rPr>
              <a:t>VISION</a:t>
            </a:r>
            <a:endParaRPr sz="1100" b="0" i="0" u="none" strike="noStrike" cap="none">
              <a:solidFill>
                <a:schemeClr val="dk1"/>
              </a:solidFill>
              <a:latin typeface="Calibri"/>
              <a:ea typeface="Calibri"/>
              <a:cs typeface="Calibri"/>
              <a:sym typeface="Calibri"/>
            </a:endParaRPr>
          </a:p>
        </p:txBody>
      </p:sp>
      <p:sp>
        <p:nvSpPr>
          <p:cNvPr id="554" name="Google Shape;554;p20"/>
          <p:cNvSpPr/>
          <p:nvPr/>
        </p:nvSpPr>
        <p:spPr>
          <a:xfrm>
            <a:off x="7333488" y="2377440"/>
            <a:ext cx="1380744"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0" i="0" u="none" strike="noStrike" cap="none">
                <a:solidFill>
                  <a:srgbClr val="FFFFFF"/>
                </a:solidFill>
                <a:latin typeface="Calibri"/>
                <a:ea typeface="Calibri"/>
                <a:cs typeface="Calibri"/>
                <a:sym typeface="Calibri"/>
              </a:rPr>
              <a:t>Touchless payroll accounting - humans approve, never re-key</a:t>
            </a:r>
            <a:endParaRPr sz="1150" b="0" i="0" u="none" strike="noStrike" cap="none">
              <a:solidFill>
                <a:schemeClr val="dk1"/>
              </a:solidFill>
              <a:latin typeface="Calibri"/>
              <a:ea typeface="Calibri"/>
              <a:cs typeface="Calibri"/>
              <a:sym typeface="Calibri"/>
            </a:endParaRPr>
          </a:p>
        </p:txBody>
      </p:sp>
      <p:sp>
        <p:nvSpPr>
          <p:cNvPr id="555" name="Google Shape;555;p20"/>
          <p:cNvSpPr/>
          <p:nvPr/>
        </p:nvSpPr>
        <p:spPr>
          <a:xfrm>
            <a:off x="640080" y="4206240"/>
            <a:ext cx="78638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ADCFC"/>
              </a:buClr>
              <a:buSzPts val="1300"/>
              <a:buFont typeface="Calibri"/>
              <a:buNone/>
            </a:pPr>
            <a:r>
              <a:rPr lang="en-US" sz="1300" b="0" i="1" u="none" strike="noStrike" cap="none">
                <a:solidFill>
                  <a:srgbClr val="CADCFC"/>
                </a:solidFill>
                <a:latin typeface="Calibri"/>
                <a:ea typeface="Calibri"/>
                <a:cs typeface="Calibri"/>
                <a:sym typeface="Calibri"/>
              </a:rPr>
              <a:t>Principles: automate preparation, never approval · every output auditable · start small, prove it, scale it.  |  Today's ask: Fin-OS - partner on the NetSuite pilot · Finance - journal formats &amp; controls</a:t>
            </a:r>
            <a:endParaRPr sz="1300" b="0" i="0" u="none" strike="noStrike" cap="none">
              <a:solidFill>
                <a:schemeClr val="dk1"/>
              </a:solidFill>
              <a:latin typeface="Calibri"/>
              <a:ea typeface="Calibri"/>
              <a:cs typeface="Calibri"/>
              <a:sym typeface="Calibri"/>
            </a:endParaRPr>
          </a:p>
        </p:txBody>
      </p:sp>
      <p:sp>
        <p:nvSpPr>
          <p:cNvPr id="556" name="Google Shape;556;p20"/>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22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561"/>
        <p:cNvGrpSpPr/>
        <p:nvPr/>
      </p:nvGrpSpPr>
      <p:grpSpPr>
        <a:xfrm>
          <a:off x="0" y="0"/>
          <a:ext cx="0" cy="0"/>
          <a:chOff x="0" y="0"/>
          <a:chExt cx="0" cy="0"/>
        </a:xfrm>
      </p:grpSpPr>
      <p:sp>
        <p:nvSpPr>
          <p:cNvPr id="562" name="Google Shape;562;p21"/>
          <p:cNvSpPr/>
          <p:nvPr/>
        </p:nvSpPr>
        <p:spPr>
          <a:xfrm>
            <a:off x="457200" y="384048"/>
            <a:ext cx="566928" cy="566928"/>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3" name="Google Shape;563;p21"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564" name="Google Shape;564;p21"/>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THE BIG PAYROLL QUIZ · ROUND 3</a:t>
            </a:r>
            <a:endParaRPr sz="1100" b="0" i="0" u="none" strike="noStrike" cap="none">
              <a:solidFill>
                <a:schemeClr val="dk1"/>
              </a:solidFill>
              <a:latin typeface="Calibri"/>
              <a:ea typeface="Calibri"/>
              <a:cs typeface="Calibri"/>
              <a:sym typeface="Calibri"/>
            </a:endParaRPr>
          </a:p>
        </p:txBody>
      </p:sp>
      <p:sp>
        <p:nvSpPr>
          <p:cNvPr id="565" name="Google Shape;565;p21"/>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Round 3: Rapid Recap</a:t>
            </a:r>
            <a:endParaRPr sz="2900" b="0" i="0" u="none" strike="noStrike" cap="none">
              <a:solidFill>
                <a:schemeClr val="dk1"/>
              </a:solidFill>
              <a:latin typeface="Calibri"/>
              <a:ea typeface="Calibri"/>
              <a:cs typeface="Calibri"/>
              <a:sym typeface="Calibri"/>
            </a:endParaRPr>
          </a:p>
        </p:txBody>
      </p:sp>
      <p:sp>
        <p:nvSpPr>
          <p:cNvPr id="566" name="Google Shape;566;p21"/>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1"/>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1"/>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1"/>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1"/>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1"/>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1"/>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1"/>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1"/>
          <p:cNvSpPr/>
          <p:nvPr/>
        </p:nvSpPr>
        <p:spPr>
          <a:xfrm>
            <a:off x="502920" y="1463040"/>
            <a:ext cx="8092440" cy="438912"/>
          </a:xfrm>
          <a:prstGeom prst="roundRect">
            <a:avLst>
              <a:gd name="adj" fmla="val 18750"/>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1"/>
          <p:cNvSpPr/>
          <p:nvPr/>
        </p:nvSpPr>
        <p:spPr>
          <a:xfrm>
            <a:off x="676656" y="1609344"/>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1"/>
          <p:cNvSpPr/>
          <p:nvPr/>
        </p:nvSpPr>
        <p:spPr>
          <a:xfrm>
            <a:off x="960120" y="1463040"/>
            <a:ext cx="7498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1.  On which date do VDT reports arrive from HiBob to kick off payroll?</a:t>
            </a:r>
            <a:endParaRPr sz="1250" b="0" i="0" u="none" strike="noStrike" cap="none">
              <a:solidFill>
                <a:schemeClr val="dk1"/>
              </a:solidFill>
              <a:latin typeface="Calibri"/>
              <a:ea typeface="Calibri"/>
              <a:cs typeface="Calibri"/>
              <a:sym typeface="Calibri"/>
            </a:endParaRPr>
          </a:p>
        </p:txBody>
      </p:sp>
      <p:sp>
        <p:nvSpPr>
          <p:cNvPr id="577" name="Google Shape;577;p21"/>
          <p:cNvSpPr/>
          <p:nvPr/>
        </p:nvSpPr>
        <p:spPr>
          <a:xfrm>
            <a:off x="502920" y="1975104"/>
            <a:ext cx="8092440" cy="438912"/>
          </a:xfrm>
          <a:prstGeom prst="roundRect">
            <a:avLst>
              <a:gd name="adj" fmla="val 18750"/>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1"/>
          <p:cNvSpPr/>
          <p:nvPr/>
        </p:nvSpPr>
        <p:spPr>
          <a:xfrm>
            <a:off x="676656" y="2121408"/>
            <a:ext cx="146304" cy="14630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1"/>
          <p:cNvSpPr/>
          <p:nvPr/>
        </p:nvSpPr>
        <p:spPr>
          <a:xfrm>
            <a:off x="960120" y="1975104"/>
            <a:ext cx="7498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2.  Which TWO locations run payroll on a shared Google Sheet?</a:t>
            </a:r>
            <a:endParaRPr sz="1250" b="0" i="0" u="none" strike="noStrike" cap="none">
              <a:solidFill>
                <a:schemeClr val="dk1"/>
              </a:solidFill>
              <a:latin typeface="Calibri"/>
              <a:ea typeface="Calibri"/>
              <a:cs typeface="Calibri"/>
              <a:sym typeface="Calibri"/>
            </a:endParaRPr>
          </a:p>
        </p:txBody>
      </p:sp>
      <p:sp>
        <p:nvSpPr>
          <p:cNvPr id="580" name="Google Shape;580;p21"/>
          <p:cNvSpPr/>
          <p:nvPr/>
        </p:nvSpPr>
        <p:spPr>
          <a:xfrm>
            <a:off x="502920" y="2487168"/>
            <a:ext cx="8092440" cy="438912"/>
          </a:xfrm>
          <a:prstGeom prst="roundRect">
            <a:avLst>
              <a:gd name="adj" fmla="val 18750"/>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1"/>
          <p:cNvSpPr/>
          <p:nvPr/>
        </p:nvSpPr>
        <p:spPr>
          <a:xfrm>
            <a:off x="676656" y="2633472"/>
            <a:ext cx="146304" cy="14630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1"/>
          <p:cNvSpPr/>
          <p:nvPr/>
        </p:nvSpPr>
        <p:spPr>
          <a:xfrm>
            <a:off x="960120" y="2487168"/>
            <a:ext cx="7498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3.  On which date is the salary review &amp; approval call held?</a:t>
            </a:r>
            <a:endParaRPr sz="1250" b="0" i="0" u="none" strike="noStrike" cap="none">
              <a:solidFill>
                <a:schemeClr val="dk1"/>
              </a:solidFill>
              <a:latin typeface="Calibri"/>
              <a:ea typeface="Calibri"/>
              <a:cs typeface="Calibri"/>
              <a:sym typeface="Calibri"/>
            </a:endParaRPr>
          </a:p>
        </p:txBody>
      </p:sp>
      <p:sp>
        <p:nvSpPr>
          <p:cNvPr id="583" name="Google Shape;583;p21"/>
          <p:cNvSpPr/>
          <p:nvPr/>
        </p:nvSpPr>
        <p:spPr>
          <a:xfrm>
            <a:off x="502920" y="2999232"/>
            <a:ext cx="8092440" cy="438912"/>
          </a:xfrm>
          <a:prstGeom prst="roundRect">
            <a:avLst>
              <a:gd name="adj" fmla="val 18750"/>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1"/>
          <p:cNvSpPr/>
          <p:nvPr/>
        </p:nvSpPr>
        <p:spPr>
          <a:xfrm>
            <a:off x="676656" y="3145536"/>
            <a:ext cx="146304" cy="14630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1"/>
          <p:cNvSpPr/>
          <p:nvPr/>
        </p:nvSpPr>
        <p:spPr>
          <a:xfrm>
            <a:off x="960120" y="2999232"/>
            <a:ext cx="7498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4.  Within how many working days must bank reconciliation be cleared in NetSuite?</a:t>
            </a:r>
            <a:endParaRPr sz="1250" b="0" i="0" u="none" strike="noStrike" cap="none">
              <a:solidFill>
                <a:schemeClr val="dk1"/>
              </a:solidFill>
              <a:latin typeface="Calibri"/>
              <a:ea typeface="Calibri"/>
              <a:cs typeface="Calibri"/>
              <a:sym typeface="Calibri"/>
            </a:endParaRPr>
          </a:p>
        </p:txBody>
      </p:sp>
      <p:sp>
        <p:nvSpPr>
          <p:cNvPr id="586" name="Google Shape;586;p21"/>
          <p:cNvSpPr/>
          <p:nvPr/>
        </p:nvSpPr>
        <p:spPr>
          <a:xfrm>
            <a:off x="502920" y="3511296"/>
            <a:ext cx="8092440" cy="438912"/>
          </a:xfrm>
          <a:prstGeom prst="roundRect">
            <a:avLst>
              <a:gd name="adj" fmla="val 18750"/>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1"/>
          <p:cNvSpPr/>
          <p:nvPr/>
        </p:nvSpPr>
        <p:spPr>
          <a:xfrm>
            <a:off x="676656" y="3657600"/>
            <a:ext cx="146304" cy="14630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1"/>
          <p:cNvSpPr/>
          <p:nvPr/>
        </p:nvSpPr>
        <p:spPr>
          <a:xfrm>
            <a:off x="960120" y="3511296"/>
            <a:ext cx="7498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5.  What was our FIRST payroll automation win?</a:t>
            </a:r>
            <a:endParaRPr sz="1250" b="0" i="0" u="none" strike="noStrike" cap="none">
              <a:solidFill>
                <a:schemeClr val="dk1"/>
              </a:solidFill>
              <a:latin typeface="Calibri"/>
              <a:ea typeface="Calibri"/>
              <a:cs typeface="Calibri"/>
              <a:sym typeface="Calibri"/>
            </a:endParaRPr>
          </a:p>
        </p:txBody>
      </p:sp>
      <p:sp>
        <p:nvSpPr>
          <p:cNvPr id="589" name="Google Shape;589;p21"/>
          <p:cNvSpPr/>
          <p:nvPr/>
        </p:nvSpPr>
        <p:spPr>
          <a:xfrm>
            <a:off x="502920" y="4023360"/>
            <a:ext cx="8092440" cy="438912"/>
          </a:xfrm>
          <a:prstGeom prst="roundRect">
            <a:avLst>
              <a:gd name="adj" fmla="val 18750"/>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1"/>
          <p:cNvSpPr/>
          <p:nvPr/>
        </p:nvSpPr>
        <p:spPr>
          <a:xfrm>
            <a:off x="676656" y="4169664"/>
            <a:ext cx="146304" cy="146304"/>
          </a:xfrm>
          <a:prstGeom prst="ellipse">
            <a:avLst/>
          </a:prstGeom>
          <a:solidFill>
            <a:srgbClr val="D63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1"/>
          <p:cNvSpPr/>
          <p:nvPr/>
        </p:nvSpPr>
        <p:spPr>
          <a:xfrm>
            <a:off x="960120" y="4023360"/>
            <a:ext cx="7498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0" i="0" u="none" strike="noStrike" cap="none">
                <a:solidFill>
                  <a:srgbClr val="FFFFFF"/>
                </a:solidFill>
                <a:latin typeface="Calibri"/>
                <a:ea typeface="Calibri"/>
                <a:cs typeface="Calibri"/>
                <a:sym typeface="Calibri"/>
              </a:rPr>
              <a:t>6.  Which tool already builds the USA payroll workbook every run - and what's the golden rule that stays?</a:t>
            </a:r>
            <a:endParaRPr sz="1250" b="0" i="0" u="none" strike="noStrike" cap="none">
              <a:solidFill>
                <a:schemeClr val="dk1"/>
              </a:solidFill>
              <a:latin typeface="Calibri"/>
              <a:ea typeface="Calibri"/>
              <a:cs typeface="Calibri"/>
              <a:sym typeface="Calibri"/>
            </a:endParaRPr>
          </a:p>
        </p:txBody>
      </p:sp>
      <p:sp>
        <p:nvSpPr>
          <p:cNvPr id="592" name="Google Shape;592;p21"/>
          <p:cNvSpPr/>
          <p:nvPr/>
        </p:nvSpPr>
        <p:spPr>
          <a:xfrm>
            <a:off x="502920" y="4645152"/>
            <a:ext cx="818388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227"/>
              </a:buClr>
              <a:buSzPts val="1200"/>
              <a:buFont typeface="Calibri"/>
              <a:buNone/>
            </a:pPr>
            <a:r>
              <a:rPr lang="en-US" sz="1200" b="0" i="1" u="none" strike="noStrike" cap="none">
                <a:solidFill>
                  <a:srgbClr val="C9A227"/>
                </a:solidFill>
                <a:latin typeface="Calibri"/>
                <a:ea typeface="Calibri"/>
                <a:cs typeface="Calibri"/>
                <a:sym typeface="Calibri"/>
              </a:rPr>
              <a:t>Highest score takes the trophy + eternal payroll priority* (*not really - cut-offs are cut-offs). Thank you!  -  payroll@nivoda.com</a:t>
            </a:r>
            <a:endParaRPr sz="1200" b="0" i="0" u="none" strike="noStrike" cap="none">
              <a:solidFill>
                <a:schemeClr val="dk1"/>
              </a:solidFill>
              <a:latin typeface="Calibri"/>
              <a:ea typeface="Calibri"/>
              <a:cs typeface="Calibri"/>
              <a:sym typeface="Calibri"/>
            </a:endParaRPr>
          </a:p>
        </p:txBody>
      </p:sp>
      <p:sp>
        <p:nvSpPr>
          <p:cNvPr id="593" name="Google Shape;593;p21"/>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27</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
        <p:cNvGrpSpPr/>
        <p:nvPr/>
      </p:nvGrpSpPr>
      <p:grpSpPr>
        <a:xfrm>
          <a:off x="0" y="0"/>
          <a:ext cx="0" cy="0"/>
          <a:chOff x="0" y="0"/>
          <a:chExt cx="0" cy="0"/>
        </a:xfrm>
      </p:grpSpPr>
      <p:sp>
        <p:nvSpPr>
          <p:cNvPr id="36" name="Google Shape;36;p4"/>
          <p:cNvSpPr/>
          <p:nvPr/>
        </p:nvSpPr>
        <p:spPr>
          <a:xfrm>
            <a:off x="457200" y="384048"/>
            <a:ext cx="566928" cy="566928"/>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4"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8" name="Google Shape;38;p4"/>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WARM-UP · GUESSING GAME</a:t>
            </a:r>
            <a:endParaRPr sz="1100" b="0" i="0" u="none" strike="noStrike" cap="none">
              <a:solidFill>
                <a:schemeClr val="dk1"/>
              </a:solidFill>
              <a:latin typeface="Calibri"/>
              <a:ea typeface="Calibri"/>
              <a:cs typeface="Calibri"/>
              <a:sym typeface="Calibri"/>
            </a:endParaRPr>
          </a:p>
        </p:txBody>
      </p:sp>
      <p:sp>
        <p:nvSpPr>
          <p:cNvPr id="39" name="Google Shape;39;p4"/>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Global Payroll: Shout Your Guesses!</a:t>
            </a:r>
            <a:endParaRPr sz="2900" b="0" i="0" u="none" strike="noStrike" cap="none">
              <a:solidFill>
                <a:schemeClr val="dk1"/>
              </a:solidFill>
              <a:latin typeface="Calibri"/>
              <a:ea typeface="Calibri"/>
              <a:cs typeface="Calibri"/>
              <a:sym typeface="Calibri"/>
            </a:endParaRPr>
          </a:p>
        </p:txBody>
      </p:sp>
      <p:sp>
        <p:nvSpPr>
          <p:cNvPr id="40" name="Google Shape;40;p4"/>
          <p:cNvSpPr/>
          <p:nvPr/>
        </p:nvSpPr>
        <p:spPr>
          <a:xfrm>
            <a:off x="502920" y="1481328"/>
            <a:ext cx="2606040" cy="1481328"/>
          </a:xfrm>
          <a:prstGeom prst="roundRect">
            <a:avLst>
              <a:gd name="adj" fmla="val 5556"/>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667512" y="1591056"/>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4000"/>
              <a:buFont typeface="Cambria"/>
              <a:buNone/>
            </a:pPr>
            <a:r>
              <a:rPr lang="en-US" sz="4000" b="1" i="0" u="none" strike="noStrike" cap="none">
                <a:solidFill>
                  <a:srgbClr val="028090"/>
                </a:solidFill>
                <a:latin typeface="Cambria"/>
                <a:ea typeface="Cambria"/>
                <a:cs typeface="Cambria"/>
                <a:sym typeface="Cambria"/>
              </a:rPr>
              <a:t>?</a:t>
            </a:r>
            <a:endParaRPr sz="4000" b="0" i="0" u="none" strike="noStrike" cap="none">
              <a:solidFill>
                <a:schemeClr val="dk1"/>
              </a:solidFill>
              <a:latin typeface="Calibri"/>
              <a:ea typeface="Calibri"/>
              <a:cs typeface="Calibri"/>
              <a:sym typeface="Calibri"/>
            </a:endParaRPr>
          </a:p>
        </p:txBody>
      </p:sp>
      <p:sp>
        <p:nvSpPr>
          <p:cNvPr id="42" name="Google Shape;42;p4"/>
          <p:cNvSpPr/>
          <p:nvPr/>
        </p:nvSpPr>
        <p:spPr>
          <a:xfrm>
            <a:off x="2532888" y="1645920"/>
            <a:ext cx="420624" cy="42062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 name="Google Shape;43;p4" descr="preencoded.png"/>
          <p:cNvPicPr preferRelativeResize="0"/>
          <p:nvPr/>
        </p:nvPicPr>
        <p:blipFill rotWithShape="1">
          <a:blip r:embed="rId3">
            <a:alphaModFix/>
          </a:blip>
          <a:srcRect/>
          <a:stretch/>
        </p:blipFill>
        <p:spPr>
          <a:xfrm>
            <a:off x="2638044" y="1751076"/>
            <a:ext cx="210312" cy="210312"/>
          </a:xfrm>
          <a:prstGeom prst="rect">
            <a:avLst/>
          </a:prstGeom>
          <a:noFill/>
          <a:ln>
            <a:noFill/>
          </a:ln>
        </p:spPr>
      </p:pic>
      <p:sp>
        <p:nvSpPr>
          <p:cNvPr id="44" name="Google Shape;44;p4"/>
          <p:cNvSpPr/>
          <p:nvPr/>
        </p:nvSpPr>
        <p:spPr>
          <a:xfrm>
            <a:off x="667512" y="2249424"/>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payroll geographies</a:t>
            </a:r>
            <a:endParaRPr sz="1300" b="0" i="0" u="none" strike="noStrike" cap="none">
              <a:solidFill>
                <a:schemeClr val="dk1"/>
              </a:solidFill>
              <a:latin typeface="Calibri"/>
              <a:ea typeface="Calibri"/>
              <a:cs typeface="Calibri"/>
              <a:sym typeface="Calibri"/>
            </a:endParaRPr>
          </a:p>
        </p:txBody>
      </p:sp>
      <p:sp>
        <p:nvSpPr>
          <p:cNvPr id="45" name="Google Shape;45;p4"/>
          <p:cNvSpPr/>
          <p:nvPr/>
        </p:nvSpPr>
        <p:spPr>
          <a:xfrm>
            <a:off x="667512" y="2514600"/>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from India to South Africa</a:t>
            </a:r>
            <a:endParaRPr sz="1000" b="0" i="0" u="none" strike="noStrike" cap="none">
              <a:solidFill>
                <a:schemeClr val="dk1"/>
              </a:solidFill>
              <a:latin typeface="Calibri"/>
              <a:ea typeface="Calibri"/>
              <a:cs typeface="Calibri"/>
              <a:sym typeface="Calibri"/>
            </a:endParaRPr>
          </a:p>
        </p:txBody>
      </p:sp>
      <p:sp>
        <p:nvSpPr>
          <p:cNvPr id="46" name="Google Shape;46;p4"/>
          <p:cNvSpPr/>
          <p:nvPr/>
        </p:nvSpPr>
        <p:spPr>
          <a:xfrm>
            <a:off x="3291840" y="1481328"/>
            <a:ext cx="2606040" cy="1481328"/>
          </a:xfrm>
          <a:prstGeom prst="roundRect">
            <a:avLst>
              <a:gd name="adj" fmla="val 5556"/>
            </a:avLst>
          </a:prstGeom>
          <a:solidFill>
            <a:srgbClr val="FBF6E7"/>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3456432" y="1591056"/>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4000"/>
              <a:buFont typeface="Cambria"/>
              <a:buNone/>
            </a:pPr>
            <a:r>
              <a:rPr lang="en-US" sz="4000" b="1" i="0" u="none" strike="noStrike" cap="none">
                <a:solidFill>
                  <a:srgbClr val="8F7115"/>
                </a:solidFill>
                <a:latin typeface="Cambria"/>
                <a:ea typeface="Cambria"/>
                <a:cs typeface="Cambria"/>
                <a:sym typeface="Cambria"/>
              </a:rPr>
              <a:t>?</a:t>
            </a:r>
            <a:endParaRPr sz="4000" b="0" i="0" u="none" strike="noStrike" cap="none">
              <a:solidFill>
                <a:schemeClr val="dk1"/>
              </a:solidFill>
              <a:latin typeface="Calibri"/>
              <a:ea typeface="Calibri"/>
              <a:cs typeface="Calibri"/>
              <a:sym typeface="Calibri"/>
            </a:endParaRPr>
          </a:p>
        </p:txBody>
      </p:sp>
      <p:sp>
        <p:nvSpPr>
          <p:cNvPr id="48" name="Google Shape;48;p4"/>
          <p:cNvSpPr/>
          <p:nvPr/>
        </p:nvSpPr>
        <p:spPr>
          <a:xfrm>
            <a:off x="5321808" y="1645920"/>
            <a:ext cx="420624" cy="42062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Google Shape;49;p4" descr="preencoded.png"/>
          <p:cNvPicPr preferRelativeResize="0"/>
          <p:nvPr/>
        </p:nvPicPr>
        <p:blipFill rotWithShape="1">
          <a:blip r:embed="rId4">
            <a:alphaModFix/>
          </a:blip>
          <a:srcRect/>
          <a:stretch/>
        </p:blipFill>
        <p:spPr>
          <a:xfrm>
            <a:off x="5426964" y="1751076"/>
            <a:ext cx="210312" cy="210312"/>
          </a:xfrm>
          <a:prstGeom prst="rect">
            <a:avLst/>
          </a:prstGeom>
          <a:noFill/>
          <a:ln>
            <a:noFill/>
          </a:ln>
        </p:spPr>
      </p:pic>
      <p:sp>
        <p:nvSpPr>
          <p:cNvPr id="50" name="Google Shape;50;p4"/>
          <p:cNvSpPr/>
          <p:nvPr/>
        </p:nvSpPr>
        <p:spPr>
          <a:xfrm>
            <a:off x="3456432" y="2249424"/>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currencies paid</a:t>
            </a:r>
            <a:endParaRPr sz="1300" b="0" i="0" u="none" strike="noStrike" cap="none">
              <a:solidFill>
                <a:schemeClr val="dk1"/>
              </a:solidFill>
              <a:latin typeface="Calibri"/>
              <a:ea typeface="Calibri"/>
              <a:cs typeface="Calibri"/>
              <a:sym typeface="Calibri"/>
            </a:endParaRPr>
          </a:p>
        </p:txBody>
      </p:sp>
      <p:sp>
        <p:nvSpPr>
          <p:cNvPr id="51" name="Google Shape;51;p4"/>
          <p:cNvSpPr/>
          <p:nvPr/>
        </p:nvSpPr>
        <p:spPr>
          <a:xfrm>
            <a:off x="3456432" y="2514600"/>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INR · GBP · USD · EUR · AUD · HKD &amp; more</a:t>
            </a:r>
            <a:endParaRPr sz="1000" b="0" i="0" u="none" strike="noStrike" cap="none">
              <a:solidFill>
                <a:schemeClr val="dk1"/>
              </a:solidFill>
              <a:latin typeface="Calibri"/>
              <a:ea typeface="Calibri"/>
              <a:cs typeface="Calibri"/>
              <a:sym typeface="Calibri"/>
            </a:endParaRPr>
          </a:p>
        </p:txBody>
      </p:sp>
      <p:sp>
        <p:nvSpPr>
          <p:cNvPr id="52" name="Google Shape;52;p4"/>
          <p:cNvSpPr/>
          <p:nvPr/>
        </p:nvSpPr>
        <p:spPr>
          <a:xfrm>
            <a:off x="6080760" y="1481328"/>
            <a:ext cx="2606040" cy="1481328"/>
          </a:xfrm>
          <a:prstGeom prst="roundRect">
            <a:avLst>
              <a:gd name="adj" fmla="val 5556"/>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6245352" y="1591056"/>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AB6"/>
              </a:buClr>
              <a:buSzPts val="4000"/>
              <a:buFont typeface="Cambria"/>
              <a:buNone/>
            </a:pPr>
            <a:r>
              <a:rPr lang="en-US" sz="4000" b="1" i="0" u="none" strike="noStrike" cap="none">
                <a:solidFill>
                  <a:srgbClr val="6C4AB6"/>
                </a:solidFill>
                <a:latin typeface="Cambria"/>
                <a:ea typeface="Cambria"/>
                <a:cs typeface="Cambria"/>
                <a:sym typeface="Cambria"/>
              </a:rPr>
              <a:t>?</a:t>
            </a:r>
            <a:endParaRPr sz="4000" b="0" i="0" u="none" strike="noStrike" cap="none">
              <a:solidFill>
                <a:schemeClr val="dk1"/>
              </a:solidFill>
              <a:latin typeface="Calibri"/>
              <a:ea typeface="Calibri"/>
              <a:cs typeface="Calibri"/>
              <a:sym typeface="Calibri"/>
            </a:endParaRPr>
          </a:p>
        </p:txBody>
      </p:sp>
      <p:sp>
        <p:nvSpPr>
          <p:cNvPr id="54" name="Google Shape;54;p4"/>
          <p:cNvSpPr/>
          <p:nvPr/>
        </p:nvSpPr>
        <p:spPr>
          <a:xfrm>
            <a:off x="8110728" y="1645920"/>
            <a:ext cx="420624" cy="42062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 name="Google Shape;55;p4" descr="preencoded.png"/>
          <p:cNvPicPr preferRelativeResize="0"/>
          <p:nvPr/>
        </p:nvPicPr>
        <p:blipFill rotWithShape="1">
          <a:blip r:embed="rId5">
            <a:alphaModFix/>
          </a:blip>
          <a:srcRect/>
          <a:stretch/>
        </p:blipFill>
        <p:spPr>
          <a:xfrm>
            <a:off x="8215884" y="1751076"/>
            <a:ext cx="210312" cy="210312"/>
          </a:xfrm>
          <a:prstGeom prst="rect">
            <a:avLst/>
          </a:prstGeom>
          <a:noFill/>
          <a:ln>
            <a:noFill/>
          </a:ln>
        </p:spPr>
      </p:pic>
      <p:sp>
        <p:nvSpPr>
          <p:cNvPr id="56" name="Google Shape;56;p4"/>
          <p:cNvSpPr/>
          <p:nvPr/>
        </p:nvSpPr>
        <p:spPr>
          <a:xfrm>
            <a:off x="6245352" y="2249424"/>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payroll platforms</a:t>
            </a:r>
            <a:endParaRPr sz="1300" b="0" i="0" u="none" strike="noStrike" cap="none">
              <a:solidFill>
                <a:schemeClr val="dk1"/>
              </a:solidFill>
              <a:latin typeface="Calibri"/>
              <a:ea typeface="Calibri"/>
              <a:cs typeface="Calibri"/>
              <a:sym typeface="Calibri"/>
            </a:endParaRPr>
          </a:p>
        </p:txBody>
      </p:sp>
      <p:sp>
        <p:nvSpPr>
          <p:cNvPr id="57" name="Google Shape;57;p4"/>
          <p:cNvSpPr/>
          <p:nvPr/>
        </p:nvSpPr>
        <p:spPr>
          <a:xfrm>
            <a:off x="6245352" y="2514600"/>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Paybooks, Gusto, NMBRS, Paycircle &amp; more</a:t>
            </a:r>
            <a:endParaRPr sz="1000" b="0" i="0" u="none" strike="noStrike" cap="none">
              <a:solidFill>
                <a:schemeClr val="dk1"/>
              </a:solidFill>
              <a:latin typeface="Calibri"/>
              <a:ea typeface="Calibri"/>
              <a:cs typeface="Calibri"/>
              <a:sym typeface="Calibri"/>
            </a:endParaRPr>
          </a:p>
        </p:txBody>
      </p:sp>
      <p:sp>
        <p:nvSpPr>
          <p:cNvPr id="58" name="Google Shape;58;p4"/>
          <p:cNvSpPr/>
          <p:nvPr/>
        </p:nvSpPr>
        <p:spPr>
          <a:xfrm>
            <a:off x="502920" y="3145536"/>
            <a:ext cx="2606040" cy="1481328"/>
          </a:xfrm>
          <a:prstGeom prst="roundRect">
            <a:avLst>
              <a:gd name="adj" fmla="val 5556"/>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667512" y="3255264"/>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6167"/>
              </a:buClr>
              <a:buSzPts val="4000"/>
              <a:buFont typeface="Cambria"/>
              <a:buNone/>
            </a:pPr>
            <a:r>
              <a:rPr lang="en-US" sz="4000" b="1" i="0" u="none" strike="noStrike" cap="none">
                <a:solidFill>
                  <a:srgbClr val="F96167"/>
                </a:solidFill>
                <a:latin typeface="Cambria"/>
                <a:ea typeface="Cambria"/>
                <a:cs typeface="Cambria"/>
                <a:sym typeface="Cambria"/>
              </a:rPr>
              <a:t>?</a:t>
            </a:r>
            <a:endParaRPr sz="4000" b="0" i="0" u="none" strike="noStrike" cap="none">
              <a:solidFill>
                <a:schemeClr val="dk1"/>
              </a:solidFill>
              <a:latin typeface="Calibri"/>
              <a:ea typeface="Calibri"/>
              <a:cs typeface="Calibri"/>
              <a:sym typeface="Calibri"/>
            </a:endParaRPr>
          </a:p>
        </p:txBody>
      </p:sp>
      <p:sp>
        <p:nvSpPr>
          <p:cNvPr id="60" name="Google Shape;60;p4"/>
          <p:cNvSpPr/>
          <p:nvPr/>
        </p:nvSpPr>
        <p:spPr>
          <a:xfrm>
            <a:off x="2532888" y="3310128"/>
            <a:ext cx="420624" cy="42062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 name="Google Shape;61;p4" descr="preencoded.png"/>
          <p:cNvPicPr preferRelativeResize="0"/>
          <p:nvPr/>
        </p:nvPicPr>
        <p:blipFill rotWithShape="1">
          <a:blip r:embed="rId6">
            <a:alphaModFix/>
          </a:blip>
          <a:srcRect/>
          <a:stretch/>
        </p:blipFill>
        <p:spPr>
          <a:xfrm>
            <a:off x="2638044" y="3415284"/>
            <a:ext cx="210312" cy="210312"/>
          </a:xfrm>
          <a:prstGeom prst="rect">
            <a:avLst/>
          </a:prstGeom>
          <a:noFill/>
          <a:ln>
            <a:noFill/>
          </a:ln>
        </p:spPr>
      </p:pic>
      <p:sp>
        <p:nvSpPr>
          <p:cNvPr id="62" name="Google Shape;62;p4"/>
          <p:cNvSpPr/>
          <p:nvPr/>
        </p:nvSpPr>
        <p:spPr>
          <a:xfrm>
            <a:off x="667512" y="3913632"/>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bank accounts</a:t>
            </a:r>
            <a:endParaRPr sz="1300" b="0" i="0" u="none" strike="noStrike" cap="none">
              <a:solidFill>
                <a:schemeClr val="dk1"/>
              </a:solidFill>
              <a:latin typeface="Calibri"/>
              <a:ea typeface="Calibri"/>
              <a:cs typeface="Calibri"/>
              <a:sym typeface="Calibri"/>
            </a:endParaRPr>
          </a:p>
        </p:txBody>
      </p:sp>
      <p:sp>
        <p:nvSpPr>
          <p:cNvPr id="63" name="Google Shape;63;p4"/>
          <p:cNvSpPr/>
          <p:nvPr/>
        </p:nvSpPr>
        <p:spPr>
          <a:xfrm>
            <a:off x="667512" y="4178808"/>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NatWest, HSBC, ING, Kotak, BoA, Wise...</a:t>
            </a:r>
            <a:endParaRPr sz="1000" b="0" i="0" u="none" strike="noStrike" cap="none">
              <a:solidFill>
                <a:schemeClr val="dk1"/>
              </a:solidFill>
              <a:latin typeface="Calibri"/>
              <a:ea typeface="Calibri"/>
              <a:cs typeface="Calibri"/>
              <a:sym typeface="Calibri"/>
            </a:endParaRPr>
          </a:p>
        </p:txBody>
      </p:sp>
      <p:sp>
        <p:nvSpPr>
          <p:cNvPr id="64" name="Google Shape;64;p4"/>
          <p:cNvSpPr/>
          <p:nvPr/>
        </p:nvSpPr>
        <p:spPr>
          <a:xfrm>
            <a:off x="3291840" y="3145536"/>
            <a:ext cx="2606040" cy="1481328"/>
          </a:xfrm>
          <a:prstGeom prst="roundRect">
            <a:avLst>
              <a:gd name="adj" fmla="val 5556"/>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3456432" y="3255264"/>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4000"/>
              <a:buFont typeface="Cambria"/>
              <a:buNone/>
            </a:pPr>
            <a:r>
              <a:rPr lang="en-US" sz="4000" b="1" i="0" u="none" strike="noStrike" cap="none">
                <a:solidFill>
                  <a:srgbClr val="2E9E6B"/>
                </a:solidFill>
                <a:latin typeface="Cambria"/>
                <a:ea typeface="Cambria"/>
                <a:cs typeface="Cambria"/>
                <a:sym typeface="Cambria"/>
              </a:rPr>
              <a:t>?</a:t>
            </a:r>
            <a:endParaRPr sz="4000" b="0" i="0" u="none" strike="noStrike" cap="none">
              <a:solidFill>
                <a:schemeClr val="dk1"/>
              </a:solidFill>
              <a:latin typeface="Calibri"/>
              <a:ea typeface="Calibri"/>
              <a:cs typeface="Calibri"/>
              <a:sym typeface="Calibri"/>
            </a:endParaRPr>
          </a:p>
        </p:txBody>
      </p:sp>
      <p:sp>
        <p:nvSpPr>
          <p:cNvPr id="66" name="Google Shape;66;p4"/>
          <p:cNvSpPr/>
          <p:nvPr/>
        </p:nvSpPr>
        <p:spPr>
          <a:xfrm>
            <a:off x="5321808" y="3310128"/>
            <a:ext cx="420624" cy="42062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Google Shape;67;p4" descr="preencoded.png"/>
          <p:cNvPicPr preferRelativeResize="0"/>
          <p:nvPr/>
        </p:nvPicPr>
        <p:blipFill rotWithShape="1">
          <a:blip r:embed="rId7">
            <a:alphaModFix/>
          </a:blip>
          <a:srcRect/>
          <a:stretch/>
        </p:blipFill>
        <p:spPr>
          <a:xfrm>
            <a:off x="5426964" y="3415284"/>
            <a:ext cx="210312" cy="210312"/>
          </a:xfrm>
          <a:prstGeom prst="rect">
            <a:avLst/>
          </a:prstGeom>
          <a:noFill/>
          <a:ln>
            <a:noFill/>
          </a:ln>
        </p:spPr>
      </p:pic>
      <p:sp>
        <p:nvSpPr>
          <p:cNvPr id="68" name="Google Shape;68;p4"/>
          <p:cNvSpPr/>
          <p:nvPr/>
        </p:nvSpPr>
        <p:spPr>
          <a:xfrm>
            <a:off x="3456432" y="3913632"/>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US pay runs a year</a:t>
            </a:r>
            <a:endParaRPr sz="1300" b="0" i="0" u="none" strike="noStrike" cap="none">
              <a:solidFill>
                <a:schemeClr val="dk1"/>
              </a:solidFill>
              <a:latin typeface="Calibri"/>
              <a:ea typeface="Calibri"/>
              <a:cs typeface="Calibri"/>
              <a:sym typeface="Calibri"/>
            </a:endParaRPr>
          </a:p>
        </p:txBody>
      </p:sp>
      <p:sp>
        <p:nvSpPr>
          <p:cNvPr id="69" name="Google Shape;69;p4"/>
          <p:cNvSpPr/>
          <p:nvPr/>
        </p:nvSpPr>
        <p:spPr>
          <a:xfrm>
            <a:off x="3456432" y="4178808"/>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hint: paydays are every alternate Friday</a:t>
            </a:r>
            <a:endParaRPr sz="1000" b="0" i="0" u="none" strike="noStrike" cap="none">
              <a:solidFill>
                <a:schemeClr val="dk1"/>
              </a:solidFill>
              <a:latin typeface="Calibri"/>
              <a:ea typeface="Calibri"/>
              <a:cs typeface="Calibri"/>
              <a:sym typeface="Calibri"/>
            </a:endParaRPr>
          </a:p>
        </p:txBody>
      </p:sp>
      <p:sp>
        <p:nvSpPr>
          <p:cNvPr id="70" name="Google Shape;70;p4"/>
          <p:cNvSpPr/>
          <p:nvPr/>
        </p:nvSpPr>
        <p:spPr>
          <a:xfrm>
            <a:off x="6080760" y="3145536"/>
            <a:ext cx="2606040" cy="1481328"/>
          </a:xfrm>
          <a:prstGeom prst="roundRect">
            <a:avLst>
              <a:gd name="adj" fmla="val 5556"/>
            </a:avLst>
          </a:prstGeom>
          <a:solidFill>
            <a:srgbClr val="FDF1E4"/>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6245352" y="3255264"/>
            <a:ext cx="17373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67E22"/>
              </a:buClr>
              <a:buSzPts val="4000"/>
              <a:buFont typeface="Cambria"/>
              <a:buNone/>
            </a:pPr>
            <a:r>
              <a:rPr lang="en-US" sz="4000" b="1" i="0" u="none" strike="noStrike" cap="none">
                <a:solidFill>
                  <a:srgbClr val="E67E22"/>
                </a:solidFill>
                <a:latin typeface="Cambria"/>
                <a:ea typeface="Cambria"/>
                <a:cs typeface="Cambria"/>
                <a:sym typeface="Cambria"/>
              </a:rPr>
              <a:t>?</a:t>
            </a:r>
            <a:endParaRPr sz="4000" b="0" i="0" u="none" strike="noStrike" cap="none">
              <a:solidFill>
                <a:schemeClr val="dk1"/>
              </a:solidFill>
              <a:latin typeface="Calibri"/>
              <a:ea typeface="Calibri"/>
              <a:cs typeface="Calibri"/>
              <a:sym typeface="Calibri"/>
            </a:endParaRPr>
          </a:p>
        </p:txBody>
      </p:sp>
      <p:sp>
        <p:nvSpPr>
          <p:cNvPr id="72" name="Google Shape;72;p4"/>
          <p:cNvSpPr/>
          <p:nvPr/>
        </p:nvSpPr>
        <p:spPr>
          <a:xfrm>
            <a:off x="8110728" y="3310128"/>
            <a:ext cx="420624" cy="420624"/>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3" name="Google Shape;73;p4" descr="preencoded.png"/>
          <p:cNvPicPr preferRelativeResize="0"/>
          <p:nvPr/>
        </p:nvPicPr>
        <p:blipFill rotWithShape="1">
          <a:blip r:embed="rId8">
            <a:alphaModFix/>
          </a:blip>
          <a:srcRect/>
          <a:stretch/>
        </p:blipFill>
        <p:spPr>
          <a:xfrm>
            <a:off x="8215884" y="3415284"/>
            <a:ext cx="210312" cy="210312"/>
          </a:xfrm>
          <a:prstGeom prst="rect">
            <a:avLst/>
          </a:prstGeom>
          <a:noFill/>
          <a:ln>
            <a:noFill/>
          </a:ln>
        </p:spPr>
      </p:pic>
      <p:sp>
        <p:nvSpPr>
          <p:cNvPr id="74" name="Google Shape;74;p4"/>
          <p:cNvSpPr/>
          <p:nvPr/>
        </p:nvSpPr>
        <p:spPr>
          <a:xfrm>
            <a:off x="6245352" y="3913632"/>
            <a:ext cx="2331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300"/>
              <a:buFont typeface="Calibri"/>
              <a:buNone/>
            </a:pPr>
            <a:r>
              <a:rPr lang="en-US" sz="1300" b="1" i="0" u="none" strike="noStrike" cap="none">
                <a:solidFill>
                  <a:srgbClr val="23283F"/>
                </a:solidFill>
                <a:latin typeface="Calibri"/>
                <a:ea typeface="Calibri"/>
                <a:cs typeface="Calibri"/>
                <a:sym typeface="Calibri"/>
              </a:rPr>
              <a:t>payroll team</a:t>
            </a:r>
            <a:endParaRPr sz="1300" b="0" i="0" u="none" strike="noStrike" cap="none">
              <a:solidFill>
                <a:schemeClr val="dk1"/>
              </a:solidFill>
              <a:latin typeface="Calibri"/>
              <a:ea typeface="Calibri"/>
              <a:cs typeface="Calibri"/>
              <a:sym typeface="Calibri"/>
            </a:endParaRPr>
          </a:p>
        </p:txBody>
      </p:sp>
      <p:sp>
        <p:nvSpPr>
          <p:cNvPr id="75" name="Google Shape;75;p4"/>
          <p:cNvSpPr/>
          <p:nvPr/>
        </p:nvSpPr>
        <p:spPr>
          <a:xfrm>
            <a:off x="6245352" y="4178808"/>
            <a:ext cx="233172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hint: smaller than you think</a:t>
            </a:r>
            <a:endParaRPr sz="1000" b="0" i="0" u="none" strike="noStrike" cap="none">
              <a:solidFill>
                <a:schemeClr val="dk1"/>
              </a:solidFill>
              <a:latin typeface="Calibri"/>
              <a:ea typeface="Calibri"/>
              <a:cs typeface="Calibri"/>
              <a:sym typeface="Calibri"/>
            </a:endParaRPr>
          </a:p>
        </p:txBody>
      </p:sp>
      <p:sp>
        <p:nvSpPr>
          <p:cNvPr id="76" name="Google Shape;76;p4"/>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402"/>
        <p:cNvGrpSpPr/>
        <p:nvPr/>
      </p:nvGrpSpPr>
      <p:grpSpPr>
        <a:xfrm>
          <a:off x="0" y="0"/>
          <a:ext cx="0" cy="0"/>
          <a:chOff x="0" y="0"/>
          <a:chExt cx="0" cy="0"/>
        </a:xfrm>
      </p:grpSpPr>
      <p:sp>
        <p:nvSpPr>
          <p:cNvPr id="403" name="Google Shape;403;p15"/>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4" name="Google Shape;404;p15"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05" name="Google Shape;405;p15"/>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GAME TIME · SPOT THE ERROR</a:t>
            </a:r>
            <a:endParaRPr sz="1100" b="0" i="0" u="none" strike="noStrike" cap="none">
              <a:solidFill>
                <a:schemeClr val="dk1"/>
              </a:solidFill>
              <a:latin typeface="Calibri"/>
              <a:ea typeface="Calibri"/>
              <a:cs typeface="Calibri"/>
              <a:sym typeface="Calibri"/>
            </a:endParaRPr>
          </a:p>
        </p:txBody>
      </p:sp>
      <p:sp>
        <p:nvSpPr>
          <p:cNvPr id="406" name="Google Shape;406;p15"/>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You Be the Payroll Team</a:t>
            </a:r>
            <a:endParaRPr sz="2900" b="0" i="0" u="none" strike="noStrike" cap="none">
              <a:solidFill>
                <a:schemeClr val="dk1"/>
              </a:solidFill>
              <a:latin typeface="Calibri"/>
              <a:ea typeface="Calibri"/>
              <a:cs typeface="Calibri"/>
              <a:sym typeface="Calibri"/>
            </a:endParaRPr>
          </a:p>
        </p:txBody>
      </p:sp>
      <p:sp>
        <p:nvSpPr>
          <p:cNvPr id="407" name="Google Shape;407;p15"/>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5"/>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5"/>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5"/>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5"/>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5"/>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5"/>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5"/>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5"/>
          <p:cNvSpPr/>
          <p:nvPr/>
        </p:nvSpPr>
        <p:spPr>
          <a:xfrm>
            <a:off x="1207008" y="1170432"/>
            <a:ext cx="7406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200"/>
              <a:buFont typeface="Calibri"/>
              <a:buNone/>
            </a:pPr>
            <a:r>
              <a:rPr lang="en-US" sz="1200" b="0" i="1" u="none" strike="noStrike" cap="none">
                <a:solidFill>
                  <a:srgbClr val="CADCFC"/>
                </a:solidFill>
                <a:latin typeface="Calibri"/>
                <a:ea typeface="Calibri"/>
                <a:cs typeface="Calibri"/>
                <a:sym typeface="Calibri"/>
              </a:rPr>
              <a:t>A payslip for (fictional) Alex Stone just landed. 3 of these 5 lines contain an error. 60 seconds - find them!</a:t>
            </a:r>
            <a:endParaRPr sz="1200" b="0" i="0" u="none" strike="noStrike" cap="none">
              <a:solidFill>
                <a:schemeClr val="dk1"/>
              </a:solidFill>
              <a:latin typeface="Calibri"/>
              <a:ea typeface="Calibri"/>
              <a:cs typeface="Calibri"/>
              <a:sym typeface="Calibri"/>
            </a:endParaRPr>
          </a:p>
        </p:txBody>
      </p:sp>
      <p:sp>
        <p:nvSpPr>
          <p:cNvPr id="416" name="Google Shape;416;p15"/>
          <p:cNvSpPr/>
          <p:nvPr/>
        </p:nvSpPr>
        <p:spPr>
          <a:xfrm>
            <a:off x="502920" y="1627632"/>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5"/>
          <p:cNvSpPr/>
          <p:nvPr/>
        </p:nvSpPr>
        <p:spPr>
          <a:xfrm>
            <a:off x="676656" y="1819656"/>
            <a:ext cx="146304" cy="14630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5"/>
          <p:cNvSpPr/>
          <p:nvPr/>
        </p:nvSpPr>
        <p:spPr>
          <a:xfrm>
            <a:off x="960120" y="1627632"/>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1.  Pay period: 1 June - 31 June 2026.</a:t>
            </a:r>
            <a:endParaRPr sz="1350" b="0" i="0" u="none" strike="noStrike" cap="none">
              <a:solidFill>
                <a:schemeClr val="dk1"/>
              </a:solidFill>
              <a:latin typeface="Calibri"/>
              <a:ea typeface="Calibri"/>
              <a:cs typeface="Calibri"/>
              <a:sym typeface="Calibri"/>
            </a:endParaRPr>
          </a:p>
        </p:txBody>
      </p:sp>
      <p:sp>
        <p:nvSpPr>
          <p:cNvPr id="419" name="Google Shape;419;p15"/>
          <p:cNvSpPr/>
          <p:nvPr/>
        </p:nvSpPr>
        <p:spPr>
          <a:xfrm>
            <a:off x="502920" y="2249424"/>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5"/>
          <p:cNvSpPr/>
          <p:nvPr/>
        </p:nvSpPr>
        <p:spPr>
          <a:xfrm>
            <a:off x="676656" y="2441448"/>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5"/>
          <p:cNvSpPr/>
          <p:nvPr/>
        </p:nvSpPr>
        <p:spPr>
          <a:xfrm>
            <a:off x="960120" y="2249424"/>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2.  Basic salary: full month paid - last working day recorded as 12 June.</a:t>
            </a:r>
            <a:endParaRPr sz="1350" b="0" i="0" u="none" strike="noStrike" cap="none">
              <a:solidFill>
                <a:schemeClr val="dk1"/>
              </a:solidFill>
              <a:latin typeface="Calibri"/>
              <a:ea typeface="Calibri"/>
              <a:cs typeface="Calibri"/>
              <a:sym typeface="Calibri"/>
            </a:endParaRPr>
          </a:p>
        </p:txBody>
      </p:sp>
      <p:sp>
        <p:nvSpPr>
          <p:cNvPr id="422" name="Google Shape;422;p15"/>
          <p:cNvSpPr/>
          <p:nvPr/>
        </p:nvSpPr>
        <p:spPr>
          <a:xfrm>
            <a:off x="502920" y="2871216"/>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5"/>
          <p:cNvSpPr/>
          <p:nvPr/>
        </p:nvSpPr>
        <p:spPr>
          <a:xfrm>
            <a:off x="676656" y="3063240"/>
            <a:ext cx="146304" cy="14630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5"/>
          <p:cNvSpPr/>
          <p:nvPr/>
        </p:nvSpPr>
        <p:spPr>
          <a:xfrm>
            <a:off x="960120" y="2871216"/>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3.  Commission: 1,250.00 - matches the approved input file.</a:t>
            </a:r>
            <a:endParaRPr sz="1350" b="0" i="0" u="none" strike="noStrike" cap="none">
              <a:solidFill>
                <a:schemeClr val="dk1"/>
              </a:solidFill>
              <a:latin typeface="Calibri"/>
              <a:ea typeface="Calibri"/>
              <a:cs typeface="Calibri"/>
              <a:sym typeface="Calibri"/>
            </a:endParaRPr>
          </a:p>
        </p:txBody>
      </p:sp>
      <p:sp>
        <p:nvSpPr>
          <p:cNvPr id="425" name="Google Shape;425;p15"/>
          <p:cNvSpPr/>
          <p:nvPr/>
        </p:nvSpPr>
        <p:spPr>
          <a:xfrm>
            <a:off x="502920" y="3493008"/>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5"/>
          <p:cNvSpPr/>
          <p:nvPr/>
        </p:nvSpPr>
        <p:spPr>
          <a:xfrm>
            <a:off x="676656" y="3685032"/>
            <a:ext cx="146304" cy="14630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5"/>
          <p:cNvSpPr/>
          <p:nvPr/>
        </p:nvSpPr>
        <p:spPr>
          <a:xfrm>
            <a:off x="960120" y="3493008"/>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4.  Employer pension contribution: 0.00.</a:t>
            </a:r>
            <a:endParaRPr sz="1350" b="0" i="0" u="none" strike="noStrike" cap="none">
              <a:solidFill>
                <a:schemeClr val="dk1"/>
              </a:solidFill>
              <a:latin typeface="Calibri"/>
              <a:ea typeface="Calibri"/>
              <a:cs typeface="Calibri"/>
              <a:sym typeface="Calibri"/>
            </a:endParaRPr>
          </a:p>
        </p:txBody>
      </p:sp>
      <p:sp>
        <p:nvSpPr>
          <p:cNvPr id="428" name="Google Shape;428;p15"/>
          <p:cNvSpPr/>
          <p:nvPr/>
        </p:nvSpPr>
        <p:spPr>
          <a:xfrm>
            <a:off x="502920" y="4114800"/>
            <a:ext cx="8092440" cy="530352"/>
          </a:xfrm>
          <a:prstGeom prst="roundRect">
            <a:avLst>
              <a:gd name="adj" fmla="val 15517"/>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5"/>
          <p:cNvSpPr/>
          <p:nvPr/>
        </p:nvSpPr>
        <p:spPr>
          <a:xfrm>
            <a:off x="676656" y="4306824"/>
            <a:ext cx="146304" cy="14630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5"/>
          <p:cNvSpPr/>
          <p:nvPr/>
        </p:nvSpPr>
        <p:spPr>
          <a:xfrm>
            <a:off x="960120" y="4114800"/>
            <a:ext cx="749808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5.  Net pay: gross minus deductions - formula ties.</a:t>
            </a:r>
            <a:endParaRPr sz="1350" b="0" i="0" u="none" strike="noStrike" cap="none">
              <a:solidFill>
                <a:schemeClr val="dk1"/>
              </a:solidFill>
              <a:latin typeface="Calibri"/>
              <a:ea typeface="Calibri"/>
              <a:cs typeface="Calibri"/>
              <a:sym typeface="Calibri"/>
            </a:endParaRPr>
          </a:p>
        </p:txBody>
      </p:sp>
      <p:sp>
        <p:nvSpPr>
          <p:cNvPr id="431" name="Google Shape;431;p15"/>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10</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436"/>
        <p:cNvGrpSpPr/>
        <p:nvPr/>
      </p:nvGrpSpPr>
      <p:grpSpPr>
        <a:xfrm>
          <a:off x="0" y="0"/>
          <a:ext cx="0" cy="0"/>
          <a:chOff x="0" y="0"/>
          <a:chExt cx="0" cy="0"/>
        </a:xfrm>
      </p:grpSpPr>
      <p:sp>
        <p:nvSpPr>
          <p:cNvPr id="437" name="Google Shape;437;p16"/>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8" name="Google Shape;438;p16"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39" name="Google Shape;439;p16"/>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GAME TIME · THE REVEAL</a:t>
            </a:r>
            <a:endParaRPr sz="1100" b="0" i="0" u="none" strike="noStrike" cap="none">
              <a:solidFill>
                <a:schemeClr val="dk1"/>
              </a:solidFill>
              <a:latin typeface="Calibri"/>
              <a:ea typeface="Calibri"/>
              <a:cs typeface="Calibri"/>
              <a:sym typeface="Calibri"/>
            </a:endParaRPr>
          </a:p>
        </p:txBody>
      </p:sp>
      <p:sp>
        <p:nvSpPr>
          <p:cNvPr id="440" name="Google Shape;440;p16"/>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Spot the Error - Answers</a:t>
            </a:r>
            <a:endParaRPr sz="2900" b="0" i="0" u="none" strike="noStrike" cap="none">
              <a:solidFill>
                <a:schemeClr val="dk1"/>
              </a:solidFill>
              <a:latin typeface="Calibri"/>
              <a:ea typeface="Calibri"/>
              <a:cs typeface="Calibri"/>
              <a:sym typeface="Calibri"/>
            </a:endParaRPr>
          </a:p>
        </p:txBody>
      </p:sp>
      <p:sp>
        <p:nvSpPr>
          <p:cNvPr id="441" name="Google Shape;441;p16"/>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6"/>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6"/>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6"/>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6"/>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6"/>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6"/>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6"/>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9" name="Google Shape;449;p16" descr="preencoded.png"/>
          <p:cNvPicPr preferRelativeResize="0"/>
          <p:nvPr/>
        </p:nvPicPr>
        <p:blipFill rotWithShape="1">
          <a:blip r:embed="rId4">
            <a:alphaModFix/>
          </a:blip>
          <a:srcRect/>
          <a:stretch/>
        </p:blipFill>
        <p:spPr>
          <a:xfrm>
            <a:off x="530352" y="1572768"/>
            <a:ext cx="347472" cy="347472"/>
          </a:xfrm>
          <a:prstGeom prst="rect">
            <a:avLst/>
          </a:prstGeom>
          <a:noFill/>
          <a:ln>
            <a:noFill/>
          </a:ln>
        </p:spPr>
      </p:pic>
      <p:sp>
        <p:nvSpPr>
          <p:cNvPr id="450" name="Google Shape;450;p16"/>
          <p:cNvSpPr/>
          <p:nvPr/>
        </p:nvSpPr>
        <p:spPr>
          <a:xfrm>
            <a:off x="1042416" y="1481328"/>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1. ERROR   </a:t>
            </a:r>
            <a:r>
              <a:rPr lang="en-US" sz="1250" b="0" i="0" u="none" strike="noStrike" cap="none">
                <a:solidFill>
                  <a:srgbClr val="CADCFC"/>
                </a:solidFill>
                <a:latin typeface="Calibri"/>
                <a:ea typeface="Calibri"/>
                <a:cs typeface="Calibri"/>
                <a:sym typeface="Calibri"/>
              </a:rPr>
              <a:t>June has 30 days - a '31 June' pay period fails the very first check: correct dates.</a:t>
            </a:r>
            <a:endParaRPr sz="1500" b="0" i="0" u="none" strike="noStrike" cap="none">
              <a:solidFill>
                <a:schemeClr val="dk1"/>
              </a:solidFill>
              <a:latin typeface="Calibri"/>
              <a:ea typeface="Calibri"/>
              <a:cs typeface="Calibri"/>
              <a:sym typeface="Calibri"/>
            </a:endParaRPr>
          </a:p>
        </p:txBody>
      </p:sp>
      <p:pic>
        <p:nvPicPr>
          <p:cNvPr id="451" name="Google Shape;451;p16" descr="preencoded.png"/>
          <p:cNvPicPr preferRelativeResize="0"/>
          <p:nvPr/>
        </p:nvPicPr>
        <p:blipFill rotWithShape="1">
          <a:blip r:embed="rId4">
            <a:alphaModFix/>
          </a:blip>
          <a:srcRect/>
          <a:stretch/>
        </p:blipFill>
        <p:spPr>
          <a:xfrm>
            <a:off x="530352" y="2231136"/>
            <a:ext cx="347472" cy="347472"/>
          </a:xfrm>
          <a:prstGeom prst="rect">
            <a:avLst/>
          </a:prstGeom>
          <a:noFill/>
          <a:ln>
            <a:noFill/>
          </a:ln>
        </p:spPr>
      </p:pic>
      <p:sp>
        <p:nvSpPr>
          <p:cNvPr id="452" name="Google Shape;452;p16"/>
          <p:cNvSpPr/>
          <p:nvPr/>
        </p:nvSpPr>
        <p:spPr>
          <a:xfrm>
            <a:off x="1042416" y="2139696"/>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2. ERROR   </a:t>
            </a:r>
            <a:r>
              <a:rPr lang="en-US" sz="1250" b="0" i="0" u="none" strike="noStrike" cap="none">
                <a:solidFill>
                  <a:srgbClr val="CADCFC"/>
                </a:solidFill>
                <a:latin typeface="Calibri"/>
                <a:ea typeface="Calibri"/>
                <a:cs typeface="Calibri"/>
                <a:sym typeface="Calibri"/>
              </a:rPr>
              <a:t>A leaver with LWD on the 12th must be PRORATED - full-month pay is an overpayment.</a:t>
            </a:r>
            <a:endParaRPr sz="1500" b="0" i="0" u="none" strike="noStrike" cap="none">
              <a:solidFill>
                <a:schemeClr val="dk1"/>
              </a:solidFill>
              <a:latin typeface="Calibri"/>
              <a:ea typeface="Calibri"/>
              <a:cs typeface="Calibri"/>
              <a:sym typeface="Calibri"/>
            </a:endParaRPr>
          </a:p>
        </p:txBody>
      </p:sp>
      <p:pic>
        <p:nvPicPr>
          <p:cNvPr id="453" name="Google Shape;453;p16" descr="preencoded.png"/>
          <p:cNvPicPr preferRelativeResize="0"/>
          <p:nvPr/>
        </p:nvPicPr>
        <p:blipFill rotWithShape="1">
          <a:blip r:embed="rId5">
            <a:alphaModFix/>
          </a:blip>
          <a:srcRect/>
          <a:stretch/>
        </p:blipFill>
        <p:spPr>
          <a:xfrm>
            <a:off x="530352" y="2889504"/>
            <a:ext cx="347472" cy="347472"/>
          </a:xfrm>
          <a:prstGeom prst="rect">
            <a:avLst/>
          </a:prstGeom>
          <a:noFill/>
          <a:ln>
            <a:noFill/>
          </a:ln>
        </p:spPr>
      </p:pic>
      <p:sp>
        <p:nvSpPr>
          <p:cNvPr id="454" name="Google Shape;454;p16"/>
          <p:cNvSpPr/>
          <p:nvPr/>
        </p:nvSpPr>
        <p:spPr>
          <a:xfrm>
            <a:off x="1042416" y="2798064"/>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BD88F"/>
              </a:buClr>
              <a:buSzPts val="1500"/>
              <a:buFont typeface="Calibri"/>
              <a:buNone/>
            </a:pPr>
            <a:r>
              <a:rPr lang="en-US" sz="1500" b="1" i="0" u="none" strike="noStrike" cap="none">
                <a:solidFill>
                  <a:srgbClr val="7BD88F"/>
                </a:solidFill>
                <a:latin typeface="Calibri"/>
                <a:ea typeface="Calibri"/>
                <a:cs typeface="Calibri"/>
                <a:sym typeface="Calibri"/>
              </a:rPr>
              <a:t>3. FINE   </a:t>
            </a:r>
            <a:r>
              <a:rPr lang="en-US" sz="1250" b="0" i="0" u="none" strike="noStrike" cap="none">
                <a:solidFill>
                  <a:srgbClr val="CADCFC"/>
                </a:solidFill>
                <a:latin typeface="Calibri"/>
                <a:ea typeface="Calibri"/>
                <a:cs typeface="Calibri"/>
                <a:sym typeface="Calibri"/>
              </a:rPr>
              <a:t>Commission ties to the approved input - exactly what we want to see.</a:t>
            </a:r>
            <a:endParaRPr sz="1500" b="0" i="0" u="none" strike="noStrike" cap="none">
              <a:solidFill>
                <a:schemeClr val="dk1"/>
              </a:solidFill>
              <a:latin typeface="Calibri"/>
              <a:ea typeface="Calibri"/>
              <a:cs typeface="Calibri"/>
              <a:sym typeface="Calibri"/>
            </a:endParaRPr>
          </a:p>
        </p:txBody>
      </p:sp>
      <p:pic>
        <p:nvPicPr>
          <p:cNvPr id="455" name="Google Shape;455;p16" descr="preencoded.png"/>
          <p:cNvPicPr preferRelativeResize="0"/>
          <p:nvPr/>
        </p:nvPicPr>
        <p:blipFill rotWithShape="1">
          <a:blip r:embed="rId4">
            <a:alphaModFix/>
          </a:blip>
          <a:srcRect/>
          <a:stretch/>
        </p:blipFill>
        <p:spPr>
          <a:xfrm>
            <a:off x="530352" y="3547872"/>
            <a:ext cx="347472" cy="347472"/>
          </a:xfrm>
          <a:prstGeom prst="rect">
            <a:avLst/>
          </a:prstGeom>
          <a:noFill/>
          <a:ln>
            <a:noFill/>
          </a:ln>
        </p:spPr>
      </p:pic>
      <p:sp>
        <p:nvSpPr>
          <p:cNvPr id="456" name="Google Shape;456;p16"/>
          <p:cNvSpPr/>
          <p:nvPr/>
        </p:nvSpPr>
        <p:spPr>
          <a:xfrm>
            <a:off x="1042416" y="3456432"/>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4. ERROR   </a:t>
            </a:r>
            <a:r>
              <a:rPr lang="en-US" sz="1250" b="0" i="0" u="none" strike="noStrike" cap="none">
                <a:solidFill>
                  <a:srgbClr val="CADCFC"/>
                </a:solidFill>
                <a:latin typeface="Calibri"/>
                <a:ea typeface="Calibri"/>
                <a:cs typeface="Calibri"/>
                <a:sym typeface="Calibri"/>
              </a:rPr>
              <a:t>Employer pension at zero = a statutory contribution is missing. Employer costs are checked too.</a:t>
            </a:r>
            <a:endParaRPr sz="1500" b="0" i="0" u="none" strike="noStrike" cap="none">
              <a:solidFill>
                <a:schemeClr val="dk1"/>
              </a:solidFill>
              <a:latin typeface="Calibri"/>
              <a:ea typeface="Calibri"/>
              <a:cs typeface="Calibri"/>
              <a:sym typeface="Calibri"/>
            </a:endParaRPr>
          </a:p>
        </p:txBody>
      </p:sp>
      <p:pic>
        <p:nvPicPr>
          <p:cNvPr id="457" name="Google Shape;457;p16" descr="preencoded.png"/>
          <p:cNvPicPr preferRelativeResize="0"/>
          <p:nvPr/>
        </p:nvPicPr>
        <p:blipFill rotWithShape="1">
          <a:blip r:embed="rId5">
            <a:alphaModFix/>
          </a:blip>
          <a:srcRect/>
          <a:stretch/>
        </p:blipFill>
        <p:spPr>
          <a:xfrm>
            <a:off x="530352" y="4206240"/>
            <a:ext cx="347472" cy="347472"/>
          </a:xfrm>
          <a:prstGeom prst="rect">
            <a:avLst/>
          </a:prstGeom>
          <a:noFill/>
          <a:ln>
            <a:noFill/>
          </a:ln>
        </p:spPr>
      </p:pic>
      <p:sp>
        <p:nvSpPr>
          <p:cNvPr id="458" name="Google Shape;458;p16"/>
          <p:cNvSpPr/>
          <p:nvPr/>
        </p:nvSpPr>
        <p:spPr>
          <a:xfrm>
            <a:off x="1042416" y="4114800"/>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BD88F"/>
              </a:buClr>
              <a:buSzPts val="1500"/>
              <a:buFont typeface="Calibri"/>
              <a:buNone/>
            </a:pPr>
            <a:r>
              <a:rPr lang="en-US" sz="1500" b="1" i="0" u="none" strike="noStrike" cap="none">
                <a:solidFill>
                  <a:srgbClr val="7BD88F"/>
                </a:solidFill>
                <a:latin typeface="Calibri"/>
                <a:ea typeface="Calibri"/>
                <a:cs typeface="Calibri"/>
                <a:sym typeface="Calibri"/>
              </a:rPr>
              <a:t>5. FINE   </a:t>
            </a:r>
            <a:r>
              <a:rPr lang="en-US" sz="1250" b="0" i="0" u="none" strike="noStrike" cap="none">
                <a:solidFill>
                  <a:srgbClr val="CADCFC"/>
                </a:solidFill>
                <a:latin typeface="Calibri"/>
                <a:ea typeface="Calibri"/>
                <a:cs typeface="Calibri"/>
                <a:sym typeface="Calibri"/>
              </a:rPr>
              <a:t>Gross-to-net formula ties. You just ran our 8-point check - now imagine every employee, every entity, every month.</a:t>
            </a:r>
            <a:endParaRPr sz="1500" b="0" i="0" u="none" strike="noStrike" cap="none">
              <a:solidFill>
                <a:schemeClr val="dk1"/>
              </a:solidFill>
              <a:latin typeface="Calibri"/>
              <a:ea typeface="Calibri"/>
              <a:cs typeface="Calibri"/>
              <a:sym typeface="Calibri"/>
            </a:endParaRPr>
          </a:p>
        </p:txBody>
      </p:sp>
      <p:sp>
        <p:nvSpPr>
          <p:cNvPr id="459" name="Google Shape;459;p16"/>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11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7"/>
        <p:cNvGrpSpPr/>
        <p:nvPr/>
      </p:nvGrpSpPr>
      <p:grpSpPr>
        <a:xfrm>
          <a:off x="0" y="0"/>
          <a:ext cx="0" cy="0"/>
          <a:chOff x="0" y="0"/>
          <a:chExt cx="0" cy="0"/>
        </a:xfrm>
      </p:grpSpPr>
      <p:sp>
        <p:nvSpPr>
          <p:cNvPr id="348" name="Google Shape;348;p13"/>
          <p:cNvSpPr/>
          <p:nvPr/>
        </p:nvSpPr>
        <p:spPr>
          <a:xfrm>
            <a:off x="457200" y="384048"/>
            <a:ext cx="566928" cy="566928"/>
          </a:xfrm>
          <a:prstGeom prst="ellipse">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9" name="Google Shape;349;p13"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50" name="Google Shape;350;p13"/>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AUTOMATION JOURNEY · WHY THE USA?</a:t>
            </a:r>
            <a:endParaRPr sz="1100" b="0" i="0" u="none" strike="noStrike" cap="none">
              <a:solidFill>
                <a:schemeClr val="dk1"/>
              </a:solidFill>
              <a:latin typeface="Calibri"/>
              <a:ea typeface="Calibri"/>
              <a:cs typeface="Calibri"/>
              <a:sym typeface="Calibri"/>
            </a:endParaRPr>
          </a:p>
        </p:txBody>
      </p:sp>
      <p:sp>
        <p:nvSpPr>
          <p:cNvPr id="351" name="Google Shape;351;p13"/>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26 Pay Runs, 6 GLs, 1 Very Patient Spreadsheet</a:t>
            </a:r>
            <a:endParaRPr sz="2900" b="0" i="0" u="none" strike="noStrike" cap="none">
              <a:solidFill>
                <a:schemeClr val="dk1"/>
              </a:solidFill>
              <a:latin typeface="Calibri"/>
              <a:ea typeface="Calibri"/>
              <a:cs typeface="Calibri"/>
              <a:sym typeface="Calibri"/>
            </a:endParaRPr>
          </a:p>
        </p:txBody>
      </p:sp>
      <p:sp>
        <p:nvSpPr>
          <p:cNvPr id="352" name="Google Shape;352;p13"/>
          <p:cNvSpPr/>
          <p:nvPr/>
        </p:nvSpPr>
        <p:spPr>
          <a:xfrm>
            <a:off x="502920" y="1463040"/>
            <a:ext cx="8183880" cy="731520"/>
          </a:xfrm>
          <a:prstGeom prst="roundRect">
            <a:avLst>
              <a:gd name="adj" fmla="val 11250"/>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3"/>
          <p:cNvSpPr/>
          <p:nvPr/>
        </p:nvSpPr>
        <p:spPr>
          <a:xfrm>
            <a:off x="685800" y="1627632"/>
            <a:ext cx="402336" cy="40233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3"/>
          <p:cNvSpPr/>
          <p:nvPr/>
        </p:nvSpPr>
        <p:spPr>
          <a:xfrm>
            <a:off x="685800" y="16276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1</a:t>
            </a:r>
            <a:endParaRPr sz="1600" b="0" i="0" u="none" strike="noStrike" cap="none">
              <a:solidFill>
                <a:schemeClr val="dk1"/>
              </a:solidFill>
              <a:latin typeface="Calibri"/>
              <a:ea typeface="Calibri"/>
              <a:cs typeface="Calibri"/>
              <a:sym typeface="Calibri"/>
            </a:endParaRPr>
          </a:p>
        </p:txBody>
      </p:sp>
      <p:sp>
        <p:nvSpPr>
          <p:cNvPr id="355" name="Google Shape;355;p13"/>
          <p:cNvSpPr/>
          <p:nvPr/>
        </p:nvSpPr>
        <p:spPr>
          <a:xfrm>
            <a:off x="1280160" y="1463040"/>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Bi-weekly = 26x, not 12x   </a:t>
            </a:r>
            <a:r>
              <a:rPr lang="en-US" sz="1150" b="0" i="0" u="none" strike="noStrike" cap="none">
                <a:solidFill>
                  <a:srgbClr val="23283F"/>
                </a:solidFill>
                <a:latin typeface="Calibri"/>
                <a:ea typeface="Calibri"/>
                <a:cs typeface="Calibri"/>
                <a:sym typeface="Calibri"/>
              </a:rPr>
              <a:t>Every manual step repeats twice as often as in a monthly country - 26 pay runs, every alternate Friday</a:t>
            </a:r>
            <a:endParaRPr sz="1350" b="0" i="0" u="none" strike="noStrike" cap="none">
              <a:solidFill>
                <a:schemeClr val="dk1"/>
              </a:solidFill>
              <a:latin typeface="Calibri"/>
              <a:ea typeface="Calibri"/>
              <a:cs typeface="Calibri"/>
              <a:sym typeface="Calibri"/>
            </a:endParaRPr>
          </a:p>
        </p:txBody>
      </p:sp>
      <p:sp>
        <p:nvSpPr>
          <p:cNvPr id="356" name="Google Shape;356;p13"/>
          <p:cNvSpPr/>
          <p:nvPr/>
        </p:nvSpPr>
        <p:spPr>
          <a:xfrm>
            <a:off x="502920" y="2304288"/>
            <a:ext cx="8183880" cy="731520"/>
          </a:xfrm>
          <a:prstGeom prst="roundRect">
            <a:avLst>
              <a:gd name="adj" fmla="val 11250"/>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a:off x="685800" y="2468880"/>
            <a:ext cx="402336" cy="402336"/>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3"/>
          <p:cNvSpPr/>
          <p:nvPr/>
        </p:nvSpPr>
        <p:spPr>
          <a:xfrm>
            <a:off x="685800" y="24688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2</a:t>
            </a:r>
            <a:endParaRPr sz="1600" b="0" i="0" u="none" strike="noStrike" cap="none">
              <a:solidFill>
                <a:schemeClr val="dk1"/>
              </a:solidFill>
              <a:latin typeface="Calibri"/>
              <a:ea typeface="Calibri"/>
              <a:cs typeface="Calibri"/>
              <a:sym typeface="Calibri"/>
            </a:endParaRPr>
          </a:p>
        </p:txBody>
      </p:sp>
      <p:sp>
        <p:nvSpPr>
          <p:cNvPr id="359" name="Google Shape;359;p13"/>
          <p:cNvSpPr/>
          <p:nvPr/>
        </p:nvSpPr>
        <p:spPr>
          <a:xfrm>
            <a:off x="1280160" y="2304288"/>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Many sources, six GL accounts   </a:t>
            </a:r>
            <a:r>
              <a:rPr lang="en-US" sz="1150" b="0" i="0" u="none" strike="noStrike" cap="none">
                <a:solidFill>
                  <a:srgbClr val="23283F"/>
                </a:solidFill>
                <a:latin typeface="Calibri"/>
                <a:ea typeface="Calibri"/>
                <a:cs typeface="Calibri"/>
                <a:sym typeface="Calibri"/>
              </a:rPr>
              <a:t>Gusto registers, off-cycle runs, bonus payruns, benefits &amp; 401(k) files - every line mapped to six staff-cost GLs</a:t>
            </a:r>
            <a:endParaRPr sz="1350" b="0" i="0" u="none" strike="noStrike" cap="none">
              <a:solidFill>
                <a:schemeClr val="dk1"/>
              </a:solidFill>
              <a:latin typeface="Calibri"/>
              <a:ea typeface="Calibri"/>
              <a:cs typeface="Calibri"/>
              <a:sym typeface="Calibri"/>
            </a:endParaRPr>
          </a:p>
        </p:txBody>
      </p:sp>
      <p:sp>
        <p:nvSpPr>
          <p:cNvPr id="360" name="Google Shape;360;p13"/>
          <p:cNvSpPr/>
          <p:nvPr/>
        </p:nvSpPr>
        <p:spPr>
          <a:xfrm>
            <a:off x="502920" y="3145536"/>
            <a:ext cx="8183880" cy="731520"/>
          </a:xfrm>
          <a:prstGeom prst="roundRect">
            <a:avLst>
              <a:gd name="adj" fmla="val 11250"/>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3"/>
          <p:cNvSpPr/>
          <p:nvPr/>
        </p:nvSpPr>
        <p:spPr>
          <a:xfrm>
            <a:off x="685800" y="3310128"/>
            <a:ext cx="402336" cy="402336"/>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3"/>
          <p:cNvSpPr/>
          <p:nvPr/>
        </p:nvSpPr>
        <p:spPr>
          <a:xfrm>
            <a:off x="685800" y="33101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3</a:t>
            </a:r>
            <a:endParaRPr sz="1600" b="0" i="0" u="none" strike="noStrike" cap="none">
              <a:solidFill>
                <a:schemeClr val="dk1"/>
              </a:solidFill>
              <a:latin typeface="Calibri"/>
              <a:ea typeface="Calibri"/>
              <a:cs typeface="Calibri"/>
              <a:sym typeface="Calibri"/>
            </a:endParaRPr>
          </a:p>
        </p:txBody>
      </p:sp>
      <p:sp>
        <p:nvSpPr>
          <p:cNvPr id="363" name="Google Shape;363;p13"/>
          <p:cNvSpPr/>
          <p:nvPr/>
        </p:nvSpPr>
        <p:spPr>
          <a:xfrm>
            <a:off x="1280160" y="3145536"/>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The errors are systematic, not random   </a:t>
            </a:r>
            <a:r>
              <a:rPr lang="en-US" sz="1150" b="0" i="0" u="none" strike="noStrike" cap="none">
                <a:solidFill>
                  <a:srgbClr val="23283F"/>
                </a:solidFill>
                <a:latin typeface="Calibri"/>
                <a:ea typeface="Calibri"/>
                <a:cs typeface="Calibri"/>
                <a:sym typeface="Calibri"/>
              </a:rPr>
              <a:t>The same fault patterns recur: bonus runs missing from the consolidated file, employer 401(k) in the wrong GL, tax journals absent</a:t>
            </a:r>
            <a:endParaRPr sz="1350" b="0" i="0" u="none" strike="noStrike" cap="none">
              <a:solidFill>
                <a:schemeClr val="dk1"/>
              </a:solidFill>
              <a:latin typeface="Calibri"/>
              <a:ea typeface="Calibri"/>
              <a:cs typeface="Calibri"/>
              <a:sym typeface="Calibri"/>
            </a:endParaRPr>
          </a:p>
        </p:txBody>
      </p:sp>
      <p:sp>
        <p:nvSpPr>
          <p:cNvPr id="364" name="Google Shape;364;p13"/>
          <p:cNvSpPr/>
          <p:nvPr/>
        </p:nvSpPr>
        <p:spPr>
          <a:xfrm>
            <a:off x="502920" y="3986784"/>
            <a:ext cx="8183880" cy="731520"/>
          </a:xfrm>
          <a:prstGeom prst="roundRect">
            <a:avLst>
              <a:gd name="adj" fmla="val 11250"/>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a:off x="685800" y="4151376"/>
            <a:ext cx="402336" cy="402336"/>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685800" y="415137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4</a:t>
            </a:r>
            <a:endParaRPr sz="1600" b="0" i="0" u="none" strike="noStrike" cap="none">
              <a:solidFill>
                <a:schemeClr val="dk1"/>
              </a:solidFill>
              <a:latin typeface="Calibri"/>
              <a:ea typeface="Calibri"/>
              <a:cs typeface="Calibri"/>
              <a:sym typeface="Calibri"/>
            </a:endParaRPr>
          </a:p>
        </p:txBody>
      </p:sp>
      <p:sp>
        <p:nvSpPr>
          <p:cNvPr id="367" name="Google Shape;367;p13"/>
          <p:cNvSpPr/>
          <p:nvPr/>
        </p:nvSpPr>
        <p:spPr>
          <a:xfrm>
            <a:off x="1280160" y="3986784"/>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Validation is repetitive by design   </a:t>
            </a:r>
            <a:r>
              <a:rPr lang="en-US" sz="1150" b="0" i="0" u="none" strike="noStrike" cap="none">
                <a:solidFill>
                  <a:srgbClr val="23283F"/>
                </a:solidFill>
                <a:latin typeface="Calibri"/>
                <a:ea typeface="Calibri"/>
                <a:cs typeface="Calibri"/>
                <a:sym typeface="Calibri"/>
              </a:rPr>
              <a:t>The same checks, the same mappings, every single cycle - a human hunts them line by line today</a:t>
            </a:r>
            <a:endParaRPr sz="1350" b="0" i="0" u="none" strike="noStrike" cap="none">
              <a:solidFill>
                <a:schemeClr val="dk1"/>
              </a:solidFill>
              <a:latin typeface="Calibri"/>
              <a:ea typeface="Calibri"/>
              <a:cs typeface="Calibri"/>
              <a:sym typeface="Calibri"/>
            </a:endParaRPr>
          </a:p>
        </p:txBody>
      </p:sp>
      <p:sp>
        <p:nvSpPr>
          <p:cNvPr id="368" name="Google Shape;368;p13"/>
          <p:cNvSpPr/>
          <p:nvPr/>
        </p:nvSpPr>
        <p:spPr>
          <a:xfrm>
            <a:off x="502920" y="4718304"/>
            <a:ext cx="8183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50"/>
              <a:buFont typeface="Calibri"/>
              <a:buNone/>
            </a:pPr>
            <a:r>
              <a:rPr lang="en-US" sz="1150" b="0" i="1" u="none" strike="noStrike" cap="none">
                <a:solidFill>
                  <a:srgbClr val="8F7115"/>
                </a:solidFill>
                <a:latin typeface="Calibri"/>
                <a:ea typeface="Calibri"/>
                <a:cs typeface="Calibri"/>
                <a:sym typeface="Calibri"/>
              </a:rPr>
              <a:t>Repetitive + rule-based + high-frequency = the perfect automation candidate. That is why the USA is next.</a:t>
            </a:r>
            <a:endParaRPr sz="1150" b="0" i="0" u="none" strike="noStrike" cap="none">
              <a:solidFill>
                <a:schemeClr val="dk1"/>
              </a:solidFill>
              <a:latin typeface="Calibri"/>
              <a:ea typeface="Calibri"/>
              <a:cs typeface="Calibri"/>
              <a:sym typeface="Calibri"/>
            </a:endParaRPr>
          </a:p>
        </p:txBody>
      </p:sp>
      <p:sp>
        <p:nvSpPr>
          <p:cNvPr id="369" name="Google Shape;369;p13"/>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17</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436"/>
        <p:cNvGrpSpPr/>
        <p:nvPr/>
      </p:nvGrpSpPr>
      <p:grpSpPr>
        <a:xfrm>
          <a:off x="0" y="0"/>
          <a:ext cx="0" cy="0"/>
          <a:chOff x="0" y="0"/>
          <a:chExt cx="0" cy="0"/>
        </a:xfrm>
      </p:grpSpPr>
      <p:sp>
        <p:nvSpPr>
          <p:cNvPr id="437" name="Google Shape;437;p16"/>
          <p:cNvSpPr/>
          <p:nvPr/>
        </p:nvSpPr>
        <p:spPr>
          <a:xfrm>
            <a:off x="457200" y="384048"/>
            <a:ext cx="566928" cy="566928"/>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8" name="Google Shape;438;p16"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39" name="Google Shape;439;p16"/>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100"/>
              <a:buFont typeface="Calibri"/>
              <a:buNone/>
            </a:pPr>
            <a:r>
              <a:rPr lang="en-US" sz="1100" b="1" i="0" u="none" strike="noStrike" cap="none">
                <a:solidFill>
                  <a:srgbClr val="C9A227"/>
                </a:solidFill>
                <a:latin typeface="Calibri"/>
                <a:ea typeface="Calibri"/>
                <a:cs typeface="Calibri"/>
                <a:sym typeface="Calibri"/>
              </a:rPr>
              <a:t>ROUND 3 · ANSWERS</a:t>
            </a:r>
            <a:endParaRPr sz="1100" b="0" i="0" u="none" strike="noStrike" cap="none">
              <a:solidFill>
                <a:schemeClr val="dk1"/>
              </a:solidFill>
              <a:latin typeface="Calibri"/>
              <a:ea typeface="Calibri"/>
              <a:cs typeface="Calibri"/>
              <a:sym typeface="Calibri"/>
            </a:endParaRPr>
          </a:p>
        </p:txBody>
      </p:sp>
      <p:sp>
        <p:nvSpPr>
          <p:cNvPr id="440" name="Google Shape;440;p16"/>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900"/>
              <a:buFont typeface="Cambria"/>
              <a:buNone/>
            </a:pPr>
            <a:r>
              <a:rPr lang="en-US" sz="2900" b="1" i="0" u="none" strike="noStrike" cap="none">
                <a:solidFill>
                  <a:srgbClr val="FFFFFF"/>
                </a:solidFill>
                <a:latin typeface="Cambria"/>
                <a:ea typeface="Cambria"/>
                <a:cs typeface="Cambria"/>
                <a:sym typeface="Cambria"/>
              </a:rPr>
              <a:t>The Big Payroll Quiz - Answers</a:t>
            </a:r>
            <a:endParaRPr sz="2900" b="0" i="0" u="none" strike="noStrike" cap="none">
              <a:solidFill>
                <a:schemeClr val="dk1"/>
              </a:solidFill>
              <a:latin typeface="Calibri"/>
              <a:ea typeface="Calibri"/>
              <a:cs typeface="Calibri"/>
              <a:sym typeface="Calibri"/>
            </a:endParaRPr>
          </a:p>
        </p:txBody>
      </p:sp>
      <p:sp>
        <p:nvSpPr>
          <p:cNvPr id="441" name="Google Shape;441;p16"/>
          <p:cNvSpPr/>
          <p:nvPr/>
        </p:nvSpPr>
        <p:spPr>
          <a:xfrm>
            <a:off x="8275320" y="45720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6"/>
          <p:cNvSpPr/>
          <p:nvPr/>
        </p:nvSpPr>
        <p:spPr>
          <a:xfrm>
            <a:off x="8686800" y="118872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6"/>
          <p:cNvSpPr/>
          <p:nvPr/>
        </p:nvSpPr>
        <p:spPr>
          <a:xfrm>
            <a:off x="8458200" y="21945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6"/>
          <p:cNvSpPr/>
          <p:nvPr/>
        </p:nvSpPr>
        <p:spPr>
          <a:xfrm>
            <a:off x="8796528" y="3017520"/>
            <a:ext cx="100584" cy="100584"/>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6"/>
          <p:cNvSpPr/>
          <p:nvPr/>
        </p:nvSpPr>
        <p:spPr>
          <a:xfrm>
            <a:off x="8321040" y="3977640"/>
            <a:ext cx="100584" cy="100584"/>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6"/>
          <p:cNvSpPr/>
          <p:nvPr/>
        </p:nvSpPr>
        <p:spPr>
          <a:xfrm>
            <a:off x="8732520" y="4480560"/>
            <a:ext cx="100584" cy="100584"/>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6"/>
          <p:cNvSpPr/>
          <p:nvPr/>
        </p:nvSpPr>
        <p:spPr>
          <a:xfrm>
            <a:off x="256032" y="4709160"/>
            <a:ext cx="100584" cy="100584"/>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6"/>
          <p:cNvSpPr/>
          <p:nvPr/>
        </p:nvSpPr>
        <p:spPr>
          <a:xfrm>
            <a:off x="137160" y="1737360"/>
            <a:ext cx="100584" cy="10058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9" name="Google Shape;449;p16" descr="preencoded.png"/>
          <p:cNvPicPr preferRelativeResize="0"/>
          <p:nvPr/>
        </p:nvPicPr>
        <p:blipFill rotWithShape="1">
          <a:blip r:embed="rId5">
            <a:alphaModFix/>
          </a:blip>
          <a:srcRect/>
          <a:stretch/>
        </p:blipFill>
        <p:spPr>
          <a:xfrm>
            <a:off x="530352" y="1572768"/>
            <a:ext cx="347472" cy="347472"/>
          </a:xfrm>
          <a:prstGeom prst="rect">
            <a:avLst/>
          </a:prstGeom>
          <a:noFill/>
          <a:ln>
            <a:noFill/>
          </a:ln>
        </p:spPr>
      </p:pic>
      <p:sp>
        <p:nvSpPr>
          <p:cNvPr id="450" name="Google Shape;450;p16"/>
          <p:cNvSpPr/>
          <p:nvPr/>
        </p:nvSpPr>
        <p:spPr>
          <a:xfrm>
            <a:off x="1042416" y="1481328"/>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1. The 16th   </a:t>
            </a:r>
            <a:r>
              <a:rPr lang="en-US" sz="1250" b="0" i="0" u="none" strike="noStrike" cap="none">
                <a:solidFill>
                  <a:srgbClr val="CADCFC"/>
                </a:solidFill>
                <a:latin typeface="Calibri"/>
                <a:ea typeface="Calibri"/>
                <a:cs typeface="Calibri"/>
                <a:sym typeface="Calibri"/>
              </a:rPr>
              <a:t>VDT reports land from HiBob on the 16th - the payroll month starts two weeks early.</a:t>
            </a:r>
            <a:endParaRPr sz="1500" b="0" i="0" u="none" strike="noStrike" cap="none">
              <a:solidFill>
                <a:schemeClr val="dk1"/>
              </a:solidFill>
              <a:latin typeface="Calibri"/>
              <a:ea typeface="Calibri"/>
              <a:cs typeface="Calibri"/>
              <a:sym typeface="Calibri"/>
            </a:endParaRPr>
          </a:p>
        </p:txBody>
      </p:sp>
      <p:pic>
        <p:nvPicPr>
          <p:cNvPr id="451" name="Google Shape;451;p16" descr="preencoded.png"/>
          <p:cNvPicPr preferRelativeResize="0"/>
          <p:nvPr/>
        </p:nvPicPr>
        <p:blipFill rotWithShape="1">
          <a:blip r:embed="rId5">
            <a:alphaModFix/>
          </a:blip>
          <a:srcRect/>
          <a:stretch/>
        </p:blipFill>
        <p:spPr>
          <a:xfrm>
            <a:off x="530352" y="2231136"/>
            <a:ext cx="347472" cy="347472"/>
          </a:xfrm>
          <a:prstGeom prst="rect">
            <a:avLst/>
          </a:prstGeom>
          <a:noFill/>
          <a:ln>
            <a:noFill/>
          </a:ln>
        </p:spPr>
      </p:pic>
      <p:sp>
        <p:nvSpPr>
          <p:cNvPr id="452" name="Google Shape;452;p16"/>
          <p:cNvSpPr/>
          <p:nvPr/>
        </p:nvSpPr>
        <p:spPr>
          <a:xfrm>
            <a:off x="1042416" y="2139696"/>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2. Hong Kong &amp; Dubai   </a:t>
            </a:r>
            <a:r>
              <a:rPr lang="en-US" sz="1250" b="0" i="0" u="none" strike="noStrike" cap="none">
                <a:solidFill>
                  <a:srgbClr val="CADCFC"/>
                </a:solidFill>
                <a:latin typeface="Calibri"/>
                <a:ea typeface="Calibri"/>
                <a:cs typeface="Calibri"/>
                <a:sym typeface="Calibri"/>
              </a:rPr>
              <a:t>Both run in-house on a shared Google Sheet - our most manual corner of the map.</a:t>
            </a:r>
            <a:endParaRPr sz="1500" b="0" i="0" u="none" strike="noStrike" cap="none">
              <a:solidFill>
                <a:schemeClr val="dk1"/>
              </a:solidFill>
              <a:latin typeface="Calibri"/>
              <a:ea typeface="Calibri"/>
              <a:cs typeface="Calibri"/>
              <a:sym typeface="Calibri"/>
            </a:endParaRPr>
          </a:p>
        </p:txBody>
      </p:sp>
      <p:pic>
        <p:nvPicPr>
          <p:cNvPr id="453" name="Google Shape;453;p16" descr="preencoded.png"/>
          <p:cNvPicPr preferRelativeResize="0"/>
          <p:nvPr/>
        </p:nvPicPr>
        <p:blipFill rotWithShape="1">
          <a:blip r:embed="rId5">
            <a:alphaModFix/>
          </a:blip>
          <a:srcRect/>
          <a:stretch/>
        </p:blipFill>
        <p:spPr>
          <a:xfrm>
            <a:off x="530352" y="2889504"/>
            <a:ext cx="347472" cy="347472"/>
          </a:xfrm>
          <a:prstGeom prst="rect">
            <a:avLst/>
          </a:prstGeom>
          <a:noFill/>
          <a:ln>
            <a:noFill/>
          </a:ln>
        </p:spPr>
      </p:pic>
      <p:sp>
        <p:nvSpPr>
          <p:cNvPr id="454" name="Google Shape;454;p16"/>
          <p:cNvSpPr/>
          <p:nvPr/>
        </p:nvSpPr>
        <p:spPr>
          <a:xfrm>
            <a:off x="1042416" y="2798064"/>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BD88F"/>
              </a:buClr>
              <a:buSzPts val="1500"/>
              <a:buFont typeface="Calibri"/>
              <a:buNone/>
            </a:pPr>
            <a:r>
              <a:rPr lang="en-US" sz="1500" b="1" i="0" u="none" strike="noStrike" cap="none">
                <a:solidFill>
                  <a:srgbClr val="7BD88F"/>
                </a:solidFill>
                <a:latin typeface="Calibri"/>
                <a:ea typeface="Calibri"/>
                <a:cs typeface="Calibri"/>
                <a:sym typeface="Calibri"/>
              </a:rPr>
              <a:t>3. The 23rd   </a:t>
            </a:r>
            <a:r>
              <a:rPr lang="en-US" sz="1250" b="0" i="0" u="none" strike="noStrike" cap="none">
                <a:solidFill>
                  <a:srgbClr val="CADCFC"/>
                </a:solidFill>
                <a:latin typeface="Calibri"/>
                <a:ea typeface="Calibri"/>
                <a:cs typeface="Calibri"/>
                <a:sym typeface="Calibri"/>
              </a:rPr>
              <a:t>The review call - the Senior Payroll Manager approves final salaries before payday.</a:t>
            </a:r>
            <a:endParaRPr sz="1500" b="0" i="0" u="none" strike="noStrike" cap="none">
              <a:solidFill>
                <a:schemeClr val="dk1"/>
              </a:solidFill>
              <a:latin typeface="Calibri"/>
              <a:ea typeface="Calibri"/>
              <a:cs typeface="Calibri"/>
              <a:sym typeface="Calibri"/>
            </a:endParaRPr>
          </a:p>
        </p:txBody>
      </p:sp>
      <p:pic>
        <p:nvPicPr>
          <p:cNvPr id="455" name="Google Shape;455;p16" descr="preencoded.png"/>
          <p:cNvPicPr preferRelativeResize="0"/>
          <p:nvPr/>
        </p:nvPicPr>
        <p:blipFill rotWithShape="1">
          <a:blip r:embed="rId5">
            <a:alphaModFix/>
          </a:blip>
          <a:srcRect/>
          <a:stretch/>
        </p:blipFill>
        <p:spPr>
          <a:xfrm>
            <a:off x="530352" y="3547872"/>
            <a:ext cx="347472" cy="347472"/>
          </a:xfrm>
          <a:prstGeom prst="rect">
            <a:avLst/>
          </a:prstGeom>
          <a:noFill/>
          <a:ln>
            <a:noFill/>
          </a:ln>
        </p:spPr>
      </p:pic>
      <p:sp>
        <p:nvSpPr>
          <p:cNvPr id="456" name="Google Shape;456;p16"/>
          <p:cNvSpPr/>
          <p:nvPr/>
        </p:nvSpPr>
        <p:spPr>
          <a:xfrm>
            <a:off x="1042416" y="3456432"/>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9B9B"/>
              </a:buClr>
              <a:buSzPts val="1500"/>
              <a:buFont typeface="Calibri"/>
              <a:buNone/>
            </a:pPr>
            <a:r>
              <a:rPr lang="en-US" sz="1500" b="1" i="0" u="none" strike="noStrike" cap="none">
                <a:solidFill>
                  <a:srgbClr val="FF9B9B"/>
                </a:solidFill>
                <a:latin typeface="Calibri"/>
                <a:ea typeface="Calibri"/>
                <a:cs typeface="Calibri"/>
                <a:sym typeface="Calibri"/>
              </a:rPr>
              <a:t>4. 2-3 working days   </a:t>
            </a:r>
            <a:r>
              <a:rPr lang="en-US" sz="1250" b="0" i="0" u="none" strike="noStrike" cap="none">
                <a:solidFill>
                  <a:srgbClr val="CADCFC"/>
                </a:solidFill>
                <a:latin typeface="Calibri"/>
                <a:ea typeface="Calibri"/>
                <a:cs typeface="Calibri"/>
                <a:sym typeface="Calibri"/>
              </a:rPr>
              <a:t>Bank reconciliation is cleared in NetSuite within 2-3 working days of payout.</a:t>
            </a:r>
            <a:endParaRPr sz="1500" b="0" i="0" u="none" strike="noStrike" cap="none">
              <a:solidFill>
                <a:schemeClr val="dk1"/>
              </a:solidFill>
              <a:latin typeface="Calibri"/>
              <a:ea typeface="Calibri"/>
              <a:cs typeface="Calibri"/>
              <a:sym typeface="Calibri"/>
            </a:endParaRPr>
          </a:p>
        </p:txBody>
      </p:sp>
      <p:pic>
        <p:nvPicPr>
          <p:cNvPr id="457" name="Google Shape;457;p16" descr="preencoded.png"/>
          <p:cNvPicPr preferRelativeResize="0"/>
          <p:nvPr/>
        </p:nvPicPr>
        <p:blipFill rotWithShape="1">
          <a:blip r:embed="rId5">
            <a:alphaModFix/>
          </a:blip>
          <a:srcRect/>
          <a:stretch/>
        </p:blipFill>
        <p:spPr>
          <a:xfrm>
            <a:off x="530352" y="4206240"/>
            <a:ext cx="347472" cy="347472"/>
          </a:xfrm>
          <a:prstGeom prst="rect">
            <a:avLst/>
          </a:prstGeom>
          <a:noFill/>
          <a:ln>
            <a:noFill/>
          </a:ln>
        </p:spPr>
      </p:pic>
      <p:sp>
        <p:nvSpPr>
          <p:cNvPr id="458" name="Google Shape;458;p16"/>
          <p:cNvSpPr/>
          <p:nvPr/>
        </p:nvSpPr>
        <p:spPr>
          <a:xfrm>
            <a:off x="1042416" y="4114800"/>
            <a:ext cx="76352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BD88F"/>
              </a:buClr>
              <a:buSzPts val="1500"/>
              <a:buFont typeface="Calibri"/>
              <a:buNone/>
            </a:pPr>
            <a:r>
              <a:rPr lang="en-US" sz="1500" b="1" i="0" u="none" strike="noStrike" cap="none">
                <a:solidFill>
                  <a:srgbClr val="7BD88F"/>
                </a:solidFill>
                <a:latin typeface="Calibri"/>
                <a:ea typeface="Calibri"/>
                <a:cs typeface="Calibri"/>
                <a:sym typeface="Calibri"/>
              </a:rPr>
              <a:t>5 &amp; 6. Invoices + Claude   </a:t>
            </a:r>
            <a:r>
              <a:rPr lang="en-US" sz="1250" b="0" i="0" u="none" strike="noStrike" cap="none">
                <a:solidFill>
                  <a:srgbClr val="CADCFC"/>
                </a:solidFill>
                <a:latin typeface="Calibri"/>
                <a:ea typeface="Calibri"/>
                <a:cs typeface="Calibri"/>
                <a:sym typeface="Calibri"/>
              </a:rPr>
              <a:t>First win: contractor invoices. Claude now builds the USA payroll workbook every run; India is next. Golden rule: automation prepares, humans APPROVE.</a:t>
            </a:r>
            <a:endParaRPr sz="1500" b="0" i="0" u="none" strike="noStrike" cap="none">
              <a:solidFill>
                <a:schemeClr val="dk1"/>
              </a:solidFill>
              <a:latin typeface="Calibri"/>
              <a:ea typeface="Calibri"/>
              <a:cs typeface="Calibri"/>
              <a:sym typeface="Calibri"/>
            </a:endParaRPr>
          </a:p>
        </p:txBody>
      </p:sp>
      <p:sp>
        <p:nvSpPr>
          <p:cNvPr id="459" name="Google Shape;459;p16"/>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ADCFC"/>
              </a:buClr>
              <a:buSzPts val="1000"/>
              <a:buFont typeface="Calibri"/>
              <a:buNone/>
            </a:pPr>
            <a:r>
              <a:rPr lang="en-US" sz="1000" b="0" i="0" u="none" strike="noStrike" cap="none">
                <a:solidFill>
                  <a:srgbClr val="CADCFC"/>
                </a:solidFill>
                <a:latin typeface="Calibri"/>
                <a:ea typeface="Calibri"/>
                <a:cs typeface="Calibri"/>
                <a:sym typeface="Calibri"/>
              </a:rPr>
              <a:t>28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15"/>
        <p:cNvGrpSpPr/>
        <p:nvPr/>
      </p:nvGrpSpPr>
      <p:grpSpPr>
        <a:xfrm>
          <a:off x="0" y="0"/>
          <a:ext cx="0" cy="0"/>
          <a:chOff x="0" y="0"/>
          <a:chExt cx="0" cy="0"/>
        </a:xfrm>
      </p:grpSpPr>
      <p:sp>
        <p:nvSpPr>
          <p:cNvPr id="16" name="Google Shape;16;p3"/>
          <p:cNvSpPr/>
          <p:nvPr/>
        </p:nvSpPr>
        <p:spPr>
          <a:xfrm>
            <a:off x="6537960" y="-1371600"/>
            <a:ext cx="4206240" cy="4206240"/>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1188720" y="3657600"/>
            <a:ext cx="3108960" cy="3108960"/>
          </a:xfrm>
          <a:prstGeom prst="ellipse">
            <a:avLst/>
          </a:prstGeom>
          <a:solidFill>
            <a:srgbClr val="273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6126480" y="4206240"/>
            <a:ext cx="118872" cy="118872"/>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6492240" y="822960"/>
            <a:ext cx="118872" cy="118872"/>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5897880" y="1554480"/>
            <a:ext cx="118872" cy="118872"/>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778240" y="4297680"/>
            <a:ext cx="118872" cy="118872"/>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8138160" y="4709160"/>
            <a:ext cx="118872" cy="118872"/>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6309360" y="4572000"/>
            <a:ext cx="118872" cy="118872"/>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Google Shape;24;p3" descr="preencoded.png"/>
          <p:cNvPicPr preferRelativeResize="0"/>
          <p:nvPr/>
        </p:nvPicPr>
        <p:blipFill rotWithShape="1">
          <a:blip r:embed="rId3">
            <a:alphaModFix/>
          </a:blip>
          <a:srcRect/>
          <a:stretch/>
        </p:blipFill>
        <p:spPr>
          <a:xfrm>
            <a:off x="6446520" y="1417320"/>
            <a:ext cx="2377440" cy="2157984"/>
          </a:xfrm>
          <a:prstGeom prst="rect">
            <a:avLst/>
          </a:prstGeom>
          <a:noFill/>
          <a:ln>
            <a:noFill/>
          </a:ln>
        </p:spPr>
      </p:pic>
      <p:sp>
        <p:nvSpPr>
          <p:cNvPr id="25" name="Google Shape;25;p3"/>
          <p:cNvSpPr/>
          <p:nvPr/>
        </p:nvSpPr>
        <p:spPr>
          <a:xfrm>
            <a:off x="502920" y="566928"/>
            <a:ext cx="777240" cy="777240"/>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 name="Google Shape;26;p3" descr="preencoded.png"/>
          <p:cNvPicPr preferRelativeResize="0"/>
          <p:nvPr/>
        </p:nvPicPr>
        <p:blipFill rotWithShape="1">
          <a:blip r:embed="rId4">
            <a:alphaModFix/>
          </a:blip>
          <a:srcRect/>
          <a:stretch/>
        </p:blipFill>
        <p:spPr>
          <a:xfrm>
            <a:off x="690372" y="754380"/>
            <a:ext cx="402336" cy="402336"/>
          </a:xfrm>
          <a:prstGeom prst="rect">
            <a:avLst/>
          </a:prstGeom>
          <a:noFill/>
          <a:ln>
            <a:noFill/>
          </a:ln>
        </p:spPr>
      </p:pic>
      <p:sp>
        <p:nvSpPr>
          <p:cNvPr id="27" name="Google Shape;27;p3"/>
          <p:cNvSpPr/>
          <p:nvPr/>
        </p:nvSpPr>
        <p:spPr>
          <a:xfrm>
            <a:off x="502920" y="1627632"/>
            <a:ext cx="81381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227"/>
              </a:buClr>
              <a:buSzPts val="1300"/>
              <a:buFont typeface="Calibri"/>
              <a:buNone/>
            </a:pPr>
            <a:r>
              <a:rPr lang="en-US" sz="1300" b="1" i="0" u="none" strike="noStrike" cap="none">
                <a:solidFill>
                  <a:srgbClr val="C9A227"/>
                </a:solidFill>
                <a:latin typeface="Calibri"/>
                <a:ea typeface="Calibri"/>
                <a:cs typeface="Calibri"/>
                <a:sym typeface="Calibri"/>
              </a:rPr>
              <a:t>THANK YOU  |  THREE THINGS TO TAKE HOME</a:t>
            </a:r>
            <a:endParaRPr sz="1300" b="0" i="0" u="none" strike="noStrike" cap="none">
              <a:solidFill>
                <a:schemeClr val="dk1"/>
              </a:solidFill>
              <a:latin typeface="Calibri"/>
              <a:ea typeface="Calibri"/>
              <a:cs typeface="Calibri"/>
              <a:sym typeface="Calibri"/>
            </a:endParaRPr>
          </a:p>
        </p:txBody>
      </p:sp>
      <p:sp>
        <p:nvSpPr>
          <p:cNvPr id="28" name="Google Shape;28;p3"/>
          <p:cNvSpPr/>
          <p:nvPr/>
        </p:nvSpPr>
        <p:spPr>
          <a:xfrm>
            <a:off x="502920" y="1938528"/>
            <a:ext cx="6035040" cy="14813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400"/>
              <a:buFont typeface="Cambria"/>
              <a:buNone/>
            </a:pPr>
            <a:r>
              <a:rPr lang="en-US" sz="4400" b="1" i="0" u="none" strike="noStrike" cap="none">
                <a:solidFill>
                  <a:srgbClr val="FFFFFF"/>
                </a:solidFill>
                <a:latin typeface="Cambria"/>
                <a:ea typeface="Cambria"/>
                <a:cs typeface="Cambria"/>
                <a:sym typeface="Cambria"/>
              </a:rPr>
              <a:t>Payday is a promise ·</a:t>
            </a:r>
            <a:endParaRPr sz="4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4400"/>
              <a:buFont typeface="Cambria"/>
              <a:buNone/>
            </a:pPr>
            <a:r>
              <a:rPr lang="en-US" sz="4400" b="1" i="0" u="none" strike="noStrike" cap="none">
                <a:solidFill>
                  <a:srgbClr val="FFFFFF"/>
                </a:solidFill>
                <a:latin typeface="Cambria"/>
                <a:ea typeface="Cambria"/>
                <a:cs typeface="Cambria"/>
                <a:sym typeface="Cambria"/>
              </a:rPr>
              <a:t>Cut-offs are king</a:t>
            </a:r>
            <a:endParaRPr sz="4400" b="0" i="0" u="none" strike="noStrike" cap="none">
              <a:solidFill>
                <a:schemeClr val="dk1"/>
              </a:solidFill>
              <a:latin typeface="Calibri"/>
              <a:ea typeface="Calibri"/>
              <a:cs typeface="Calibri"/>
              <a:sym typeface="Calibri"/>
            </a:endParaRPr>
          </a:p>
        </p:txBody>
      </p:sp>
      <p:sp>
        <p:nvSpPr>
          <p:cNvPr id="29" name="Google Shape;29;p3"/>
          <p:cNvSpPr/>
          <p:nvPr/>
        </p:nvSpPr>
        <p:spPr>
          <a:xfrm>
            <a:off x="502920" y="3474720"/>
            <a:ext cx="60350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2200"/>
              <a:buFont typeface="Cambria"/>
              <a:buNone/>
            </a:pPr>
            <a:r>
              <a:rPr lang="en-US" sz="2200" b="0" i="1" u="none" strike="noStrike" cap="none">
                <a:solidFill>
                  <a:srgbClr val="CADCFC"/>
                </a:solidFill>
                <a:latin typeface="Cambria"/>
                <a:ea typeface="Cambria"/>
                <a:cs typeface="Cambria"/>
                <a:sym typeface="Cambria"/>
              </a:rPr>
              <a:t>The control stays human; the drudgery does not - automation prepares, people approve</a:t>
            </a:r>
            <a:endParaRPr sz="2200" b="0" i="0" u="none" strike="noStrike" cap="none">
              <a:solidFill>
                <a:schemeClr val="dk1"/>
              </a:solidFill>
              <a:latin typeface="Calibri"/>
              <a:ea typeface="Calibri"/>
              <a:cs typeface="Calibri"/>
              <a:sym typeface="Calibri"/>
            </a:endParaRPr>
          </a:p>
        </p:txBody>
      </p:sp>
      <p:sp>
        <p:nvSpPr>
          <p:cNvPr id="30" name="Google Shape;30;p3"/>
          <p:cNvSpPr/>
          <p:nvPr/>
        </p:nvSpPr>
        <p:spPr>
          <a:xfrm>
            <a:off x="502920" y="4315968"/>
            <a:ext cx="81381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300"/>
              <a:buFont typeface="Calibri"/>
              <a:buNone/>
            </a:pPr>
            <a:r>
              <a:rPr lang="en-US" sz="1300" b="0" i="0" u="none" strike="noStrike" cap="none">
                <a:solidFill>
                  <a:srgbClr val="CADCFC"/>
                </a:solidFill>
                <a:latin typeface="Calibri"/>
                <a:ea typeface="Calibri"/>
                <a:cs typeface="Calibri"/>
                <a:sym typeface="Calibri"/>
              </a:rPr>
              <a:t>Our ask: Fin-OS - partner on the NetSuite pilot  ·  Finance - journal formats &amp; controls  ·  Everyone - meet the cut-offs, read the FAQ  ·  payroll@nivoda.com</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4"/>
        <p:cNvGrpSpPr/>
        <p:nvPr/>
      </p:nvGrpSpPr>
      <p:grpSpPr>
        <a:xfrm>
          <a:off x="0" y="0"/>
          <a:ext cx="0" cy="0"/>
          <a:chOff x="0" y="0"/>
          <a:chExt cx="0" cy="0"/>
        </a:xfrm>
      </p:grpSpPr>
      <p:sp>
        <p:nvSpPr>
          <p:cNvPr id="465" name="Google Shape;465;p17"/>
          <p:cNvSpPr/>
          <p:nvPr/>
        </p:nvSpPr>
        <p:spPr>
          <a:xfrm>
            <a:off x="457200" y="384048"/>
            <a:ext cx="566928" cy="566928"/>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6" name="Google Shape;466;p17"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467" name="Google Shape;467;p17"/>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AUTOMATION JOURNEY · CHAPTER 2 · LIVE TODAY</a:t>
            </a:r>
            <a:endParaRPr sz="1100" b="0" i="0" u="none" strike="noStrike" cap="none">
              <a:solidFill>
                <a:schemeClr val="dk1"/>
              </a:solidFill>
              <a:latin typeface="Calibri"/>
              <a:ea typeface="Calibri"/>
              <a:cs typeface="Calibri"/>
              <a:sym typeface="Calibri"/>
            </a:endParaRPr>
          </a:p>
        </p:txBody>
      </p:sp>
      <p:sp>
        <p:nvSpPr>
          <p:cNvPr id="468" name="Google Shape;468;p17"/>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USA Payroll: CSV In, JV Out</a:t>
            </a:r>
            <a:endParaRPr sz="2900" b="0" i="0" u="none" strike="noStrike" cap="none">
              <a:solidFill>
                <a:schemeClr val="dk1"/>
              </a:solidFill>
              <a:latin typeface="Calibri"/>
              <a:ea typeface="Calibri"/>
              <a:cs typeface="Calibri"/>
              <a:sym typeface="Calibri"/>
            </a:endParaRPr>
          </a:p>
        </p:txBody>
      </p:sp>
      <p:sp>
        <p:nvSpPr>
          <p:cNvPr id="469" name="Google Shape;469;p17"/>
          <p:cNvSpPr/>
          <p:nvPr/>
        </p:nvSpPr>
        <p:spPr>
          <a:xfrm>
            <a:off x="502920" y="1481328"/>
            <a:ext cx="3977640" cy="2377440"/>
          </a:xfrm>
          <a:prstGeom prst="roundRect">
            <a:avLst>
              <a:gd name="adj" fmla="val 3462"/>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7"/>
          <p:cNvSpPr/>
          <p:nvPr/>
        </p:nvSpPr>
        <p:spPr>
          <a:xfrm>
            <a:off x="713232" y="1627632"/>
            <a:ext cx="35661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6167"/>
              </a:buClr>
              <a:buSzPts val="1200"/>
              <a:buFont typeface="Calibri"/>
              <a:buNone/>
            </a:pPr>
            <a:r>
              <a:rPr lang="en-US" sz="1200" b="1" i="0" u="none" strike="noStrike" cap="none">
                <a:solidFill>
                  <a:srgbClr val="F96167"/>
                </a:solidFill>
                <a:latin typeface="Calibri"/>
                <a:ea typeface="Calibri"/>
                <a:cs typeface="Calibri"/>
                <a:sym typeface="Calibri"/>
              </a:rPr>
              <a:t>BEFORE</a:t>
            </a:r>
            <a:endParaRPr sz="1200" b="0" i="0" u="none" strike="noStrike" cap="none">
              <a:solidFill>
                <a:schemeClr val="dk1"/>
              </a:solidFill>
              <a:latin typeface="Calibri"/>
              <a:ea typeface="Calibri"/>
              <a:cs typeface="Calibri"/>
              <a:sym typeface="Calibri"/>
            </a:endParaRPr>
          </a:p>
        </p:txBody>
      </p:sp>
      <p:sp>
        <p:nvSpPr>
          <p:cNvPr id="471" name="Google Shape;471;p17"/>
          <p:cNvSpPr/>
          <p:nvPr/>
        </p:nvSpPr>
        <p:spPr>
          <a:xfrm>
            <a:off x="713232" y="1956816"/>
            <a:ext cx="3611880" cy="17830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Every pay run keyed into the working by hand, line by line</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Column mapping re-checked every export - Gusto reorders columns without warning</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Pivot &amp; journal rebuilt manually 3-4 times a month (2 bi-weekly runs + off-cycles)</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Joiners, leavers &amp; department typos traced by hand every run</a:t>
            </a:r>
            <a:endParaRPr sz="1250" b="0" i="0" u="none" strike="noStrike" cap="none">
              <a:solidFill>
                <a:schemeClr val="dk1"/>
              </a:solidFill>
              <a:latin typeface="Calibri"/>
              <a:ea typeface="Calibri"/>
              <a:cs typeface="Calibri"/>
              <a:sym typeface="Calibri"/>
            </a:endParaRPr>
          </a:p>
        </p:txBody>
      </p:sp>
      <p:sp>
        <p:nvSpPr>
          <p:cNvPr id="472" name="Google Shape;472;p17"/>
          <p:cNvSpPr/>
          <p:nvPr/>
        </p:nvSpPr>
        <p:spPr>
          <a:xfrm>
            <a:off x="4709160" y="1481328"/>
            <a:ext cx="3977640" cy="2377440"/>
          </a:xfrm>
          <a:prstGeom prst="roundRect">
            <a:avLst>
              <a:gd name="adj" fmla="val 3462"/>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7"/>
          <p:cNvSpPr/>
          <p:nvPr/>
        </p:nvSpPr>
        <p:spPr>
          <a:xfrm>
            <a:off x="4919472" y="1627632"/>
            <a:ext cx="35661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1200"/>
              <a:buFont typeface="Calibri"/>
              <a:buNone/>
            </a:pPr>
            <a:r>
              <a:rPr lang="en-US" sz="1200" b="1" i="0" u="none" strike="noStrike" cap="none">
                <a:solidFill>
                  <a:srgbClr val="2E9E6B"/>
                </a:solidFill>
                <a:latin typeface="Calibri"/>
                <a:ea typeface="Calibri"/>
                <a:cs typeface="Calibri"/>
                <a:sym typeface="Calibri"/>
              </a:rPr>
              <a:t>NOW - AUTOMATED</a:t>
            </a:r>
            <a:endParaRPr sz="1200" b="0" i="0" u="none" strike="noStrike" cap="none">
              <a:solidFill>
                <a:schemeClr val="dk1"/>
              </a:solidFill>
              <a:latin typeface="Calibri"/>
              <a:ea typeface="Calibri"/>
              <a:cs typeface="Calibri"/>
              <a:sym typeface="Calibri"/>
            </a:endParaRPr>
          </a:p>
        </p:txBody>
      </p:sp>
      <p:sp>
        <p:nvSpPr>
          <p:cNvPr id="474" name="Google Shape;474;p17"/>
          <p:cNvSpPr/>
          <p:nvPr/>
        </p:nvSpPr>
        <p:spPr>
          <a:xfrm>
            <a:off x="4919472" y="1956816"/>
            <a:ext cx="3611880" cy="17830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Vishnu drops the raw Gusto CSV in - Claude builds the whole workbook</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Working tab with rollup formulas + a NetSuite JV that ties to the cent</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Roster &amp; sub-department mapping applied automatically; new names STOP the run</a:t>
            </a:r>
            <a:endParaRPr sz="125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23283F"/>
              </a:buClr>
              <a:buSzPts val="1250"/>
              <a:buFont typeface="Calibri"/>
              <a:buChar char="•"/>
            </a:pPr>
            <a:r>
              <a:rPr lang="en-US" sz="1250" b="0" i="0" u="none" strike="noStrike" cap="none">
                <a:solidFill>
                  <a:srgbClr val="23283F"/>
                </a:solidFill>
                <a:latin typeface="Calibri"/>
                <a:ea typeface="Calibri"/>
                <a:cs typeface="Calibri"/>
                <a:sym typeface="Calibri"/>
              </a:rPr>
              <a:t>Debits = credits = Gusto employer cost, verified before the file is handed over</a:t>
            </a:r>
            <a:endParaRPr sz="1250" b="0" i="0" u="none" strike="noStrike" cap="none">
              <a:solidFill>
                <a:schemeClr val="dk1"/>
              </a:solidFill>
              <a:latin typeface="Calibri"/>
              <a:ea typeface="Calibri"/>
              <a:cs typeface="Calibri"/>
              <a:sym typeface="Calibri"/>
            </a:endParaRPr>
          </a:p>
        </p:txBody>
      </p:sp>
      <p:sp>
        <p:nvSpPr>
          <p:cNvPr id="475" name="Google Shape;475;p17"/>
          <p:cNvSpPr/>
          <p:nvPr/>
        </p:nvSpPr>
        <p:spPr>
          <a:xfrm>
            <a:off x="502920" y="4069080"/>
            <a:ext cx="8183880" cy="749808"/>
          </a:xfrm>
          <a:prstGeom prst="roundRect">
            <a:avLst>
              <a:gd name="adj" fmla="val 10976"/>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7"/>
          <p:cNvSpPr/>
          <p:nvPr/>
        </p:nvSpPr>
        <p:spPr>
          <a:xfrm>
            <a:off x="777240" y="4069080"/>
            <a:ext cx="768096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0" i="1" u="none" strike="noStrike" cap="none">
                <a:solidFill>
                  <a:srgbClr val="FFFFFF"/>
                </a:solidFill>
                <a:latin typeface="Calibri"/>
                <a:ea typeface="Calibri"/>
                <a:cs typeface="Calibri"/>
                <a:sym typeface="Calibri"/>
              </a:rPr>
              <a:t>Live for every US pay run: same recipe as Chapter 1 - Claude prepares, payroll reviews, a human approves before anything posts.</a:t>
            </a:r>
            <a:endParaRPr sz="1300" b="0" i="0" u="none" strike="noStrike" cap="none">
              <a:solidFill>
                <a:schemeClr val="dk1"/>
              </a:solidFill>
              <a:latin typeface="Calibri"/>
              <a:ea typeface="Calibri"/>
              <a:cs typeface="Calibri"/>
              <a:sym typeface="Calibri"/>
            </a:endParaRPr>
          </a:p>
        </p:txBody>
      </p:sp>
      <p:sp>
        <p:nvSpPr>
          <p:cNvPr id="477" name="Google Shape;477;p17"/>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7"/>
        <p:cNvGrpSpPr/>
        <p:nvPr/>
      </p:nvGrpSpPr>
      <p:grpSpPr>
        <a:xfrm>
          <a:off x="0" y="0"/>
          <a:ext cx="0" cy="0"/>
          <a:chOff x="0" y="0"/>
          <a:chExt cx="0" cy="0"/>
        </a:xfrm>
      </p:grpSpPr>
      <p:sp>
        <p:nvSpPr>
          <p:cNvPr id="348" name="Google Shape;348;p13"/>
          <p:cNvSpPr/>
          <p:nvPr/>
        </p:nvSpPr>
        <p:spPr>
          <a:xfrm>
            <a:off x="457200" y="384048"/>
            <a:ext cx="566928" cy="566928"/>
          </a:xfrm>
          <a:prstGeom prst="ellipse">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9" name="Google Shape;349;p13"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50" name="Google Shape;350;p13"/>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AUTOMATION JOURNEY · CHAPTER 2 · THE OUTPUTS</a:t>
            </a:r>
            <a:endParaRPr sz="1100" b="0" i="0" u="none" strike="noStrike" cap="none">
              <a:solidFill>
                <a:schemeClr val="dk1"/>
              </a:solidFill>
              <a:latin typeface="Calibri"/>
              <a:ea typeface="Calibri"/>
              <a:cs typeface="Calibri"/>
              <a:sym typeface="Calibri"/>
            </a:endParaRPr>
          </a:p>
        </p:txBody>
      </p:sp>
      <p:sp>
        <p:nvSpPr>
          <p:cNvPr id="351" name="Google Shape;351;p13"/>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One CSV In, Four Deliverables Out</a:t>
            </a:r>
            <a:endParaRPr sz="2900" b="0" i="0" u="none" strike="noStrike" cap="none">
              <a:solidFill>
                <a:schemeClr val="dk1"/>
              </a:solidFill>
              <a:latin typeface="Calibri"/>
              <a:ea typeface="Calibri"/>
              <a:cs typeface="Calibri"/>
              <a:sym typeface="Calibri"/>
            </a:endParaRPr>
          </a:p>
        </p:txBody>
      </p:sp>
      <p:sp>
        <p:nvSpPr>
          <p:cNvPr id="352" name="Google Shape;352;p13"/>
          <p:cNvSpPr/>
          <p:nvPr/>
        </p:nvSpPr>
        <p:spPr>
          <a:xfrm>
            <a:off x="502920" y="1463040"/>
            <a:ext cx="8183880" cy="731520"/>
          </a:xfrm>
          <a:prstGeom prst="roundRect">
            <a:avLst>
              <a:gd name="adj" fmla="val 11250"/>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3"/>
          <p:cNvSpPr/>
          <p:nvPr/>
        </p:nvSpPr>
        <p:spPr>
          <a:xfrm>
            <a:off x="685800" y="1627632"/>
            <a:ext cx="402336" cy="40233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3"/>
          <p:cNvSpPr/>
          <p:nvPr/>
        </p:nvSpPr>
        <p:spPr>
          <a:xfrm>
            <a:off x="685800" y="16276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1</a:t>
            </a:r>
            <a:endParaRPr sz="1600" b="0" i="0" u="none" strike="noStrike" cap="none">
              <a:solidFill>
                <a:schemeClr val="dk1"/>
              </a:solidFill>
              <a:latin typeface="Calibri"/>
              <a:ea typeface="Calibri"/>
              <a:cs typeface="Calibri"/>
              <a:sym typeface="Calibri"/>
            </a:endParaRPr>
          </a:p>
        </p:txBody>
      </p:sp>
      <p:sp>
        <p:nvSpPr>
          <p:cNvPr id="355" name="Google Shape;355;p13"/>
          <p:cNvSpPr/>
          <p:nvPr/>
        </p:nvSpPr>
        <p:spPr>
          <a:xfrm>
            <a:off x="1280160" y="1463040"/>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Working tab   </a:t>
            </a:r>
            <a:r>
              <a:rPr lang="en-US" sz="1150" b="0" i="0" u="none" strike="noStrike" cap="none">
                <a:solidFill>
                  <a:srgbClr val="23283F"/>
                </a:solidFill>
                <a:latin typeface="Calibri"/>
                <a:ea typeface="Calibri"/>
                <a:cs typeface="Calibri"/>
                <a:sym typeface="Calibri"/>
              </a:rPr>
              <a:t>Per-employee restructure with rollup formulas - health, 401(k) &amp; taxes totalled, alphabetised, roster-mapped</a:t>
            </a:r>
            <a:endParaRPr sz="1350" b="0" i="0" u="none" strike="noStrike" cap="none">
              <a:solidFill>
                <a:schemeClr val="dk1"/>
              </a:solidFill>
              <a:latin typeface="Calibri"/>
              <a:ea typeface="Calibri"/>
              <a:cs typeface="Calibri"/>
              <a:sym typeface="Calibri"/>
            </a:endParaRPr>
          </a:p>
        </p:txBody>
      </p:sp>
      <p:sp>
        <p:nvSpPr>
          <p:cNvPr id="356" name="Google Shape;356;p13"/>
          <p:cNvSpPr/>
          <p:nvPr/>
        </p:nvSpPr>
        <p:spPr>
          <a:xfrm>
            <a:off x="502920" y="2304288"/>
            <a:ext cx="8183880" cy="731520"/>
          </a:xfrm>
          <a:prstGeom prst="roundRect">
            <a:avLst>
              <a:gd name="adj" fmla="val 11250"/>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a:off x="685800" y="2468880"/>
            <a:ext cx="402336" cy="402336"/>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3"/>
          <p:cNvSpPr/>
          <p:nvPr/>
        </p:nvSpPr>
        <p:spPr>
          <a:xfrm>
            <a:off x="685800" y="24688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2</a:t>
            </a:r>
            <a:endParaRPr sz="1600" b="0" i="0" u="none" strike="noStrike" cap="none">
              <a:solidFill>
                <a:schemeClr val="dk1"/>
              </a:solidFill>
              <a:latin typeface="Calibri"/>
              <a:ea typeface="Calibri"/>
              <a:cs typeface="Calibri"/>
              <a:sym typeface="Calibri"/>
            </a:endParaRPr>
          </a:p>
        </p:txBody>
      </p:sp>
      <p:sp>
        <p:nvSpPr>
          <p:cNvPr id="359" name="Google Shape;359;p13"/>
          <p:cNvSpPr/>
          <p:nvPr/>
        </p:nvSpPr>
        <p:spPr>
          <a:xfrm>
            <a:off x="1280160" y="2304288"/>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NS GL journal (JV)   </a:t>
            </a:r>
            <a:r>
              <a:rPr lang="en-US" sz="1150" b="0" i="0" u="none" strike="noStrike" cap="none">
                <a:solidFill>
                  <a:srgbClr val="23283F"/>
                </a:solidFill>
                <a:latin typeface="Calibri"/>
                <a:ea typeface="Calibri"/>
                <a:cs typeface="Calibri"/>
                <a:sym typeface="Calibri"/>
              </a:rPr>
              <a:t>Sub-department pivot + a NetSuite-ready journal - salary, employer tax, 401(k) &amp; health debits, payables credited, commissions split out</a:t>
            </a:r>
            <a:endParaRPr sz="1350" b="0" i="0" u="none" strike="noStrike" cap="none">
              <a:solidFill>
                <a:schemeClr val="dk1"/>
              </a:solidFill>
              <a:latin typeface="Calibri"/>
              <a:ea typeface="Calibri"/>
              <a:cs typeface="Calibri"/>
              <a:sym typeface="Calibri"/>
            </a:endParaRPr>
          </a:p>
        </p:txBody>
      </p:sp>
      <p:sp>
        <p:nvSpPr>
          <p:cNvPr id="360" name="Google Shape;360;p13"/>
          <p:cNvSpPr/>
          <p:nvPr/>
        </p:nvSpPr>
        <p:spPr>
          <a:xfrm>
            <a:off x="502920" y="3145536"/>
            <a:ext cx="8183880" cy="731520"/>
          </a:xfrm>
          <a:prstGeom prst="roundRect">
            <a:avLst>
              <a:gd name="adj" fmla="val 11250"/>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3"/>
          <p:cNvSpPr/>
          <p:nvPr/>
        </p:nvSpPr>
        <p:spPr>
          <a:xfrm>
            <a:off x="685800" y="3310128"/>
            <a:ext cx="402336" cy="402336"/>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3"/>
          <p:cNvSpPr/>
          <p:nvPr/>
        </p:nvSpPr>
        <p:spPr>
          <a:xfrm>
            <a:off x="685800" y="33101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3</a:t>
            </a:r>
            <a:endParaRPr sz="1600" b="0" i="0" u="none" strike="noStrike" cap="none">
              <a:solidFill>
                <a:schemeClr val="dk1"/>
              </a:solidFill>
              <a:latin typeface="Calibri"/>
              <a:ea typeface="Calibri"/>
              <a:cs typeface="Calibri"/>
              <a:sym typeface="Calibri"/>
            </a:endParaRPr>
          </a:p>
        </p:txBody>
      </p:sp>
      <p:sp>
        <p:nvSpPr>
          <p:cNvPr id="363" name="Google Shape;363;p13"/>
          <p:cNvSpPr/>
          <p:nvPr/>
        </p:nvSpPr>
        <p:spPr>
          <a:xfrm>
            <a:off x="1280160" y="3145536"/>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Consolidated working   </a:t>
            </a:r>
            <a:r>
              <a:rPr lang="en-US" sz="1150" b="0" i="0" u="none" strike="noStrike" cap="none">
                <a:solidFill>
                  <a:srgbClr val="23283F"/>
                </a:solidFill>
                <a:latin typeface="Calibri"/>
                <a:ea typeface="Calibri"/>
                <a:cs typeface="Calibri"/>
                <a:sym typeface="Calibri"/>
              </a:rPr>
              <a:t>All of the month's runs - regular + off-cycle - merged into one monthly view that reconciles to the NetSuite GL</a:t>
            </a:r>
            <a:endParaRPr sz="1350" b="0" i="0" u="none" strike="noStrike" cap="none">
              <a:solidFill>
                <a:schemeClr val="dk1"/>
              </a:solidFill>
              <a:latin typeface="Calibri"/>
              <a:ea typeface="Calibri"/>
              <a:cs typeface="Calibri"/>
              <a:sym typeface="Calibri"/>
            </a:endParaRPr>
          </a:p>
        </p:txBody>
      </p:sp>
      <p:sp>
        <p:nvSpPr>
          <p:cNvPr id="364" name="Google Shape;364;p13"/>
          <p:cNvSpPr/>
          <p:nvPr/>
        </p:nvSpPr>
        <p:spPr>
          <a:xfrm>
            <a:off x="502920" y="3986784"/>
            <a:ext cx="8183880" cy="731520"/>
          </a:xfrm>
          <a:prstGeom prst="roundRect">
            <a:avLst>
              <a:gd name="adj" fmla="val 11250"/>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a:off x="685800" y="4151376"/>
            <a:ext cx="402336" cy="402336"/>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685800" y="415137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4</a:t>
            </a:r>
            <a:endParaRPr sz="1600" b="0" i="0" u="none" strike="noStrike" cap="none">
              <a:solidFill>
                <a:schemeClr val="dk1"/>
              </a:solidFill>
              <a:latin typeface="Calibri"/>
              <a:ea typeface="Calibri"/>
              <a:cs typeface="Calibri"/>
              <a:sym typeface="Calibri"/>
            </a:endParaRPr>
          </a:p>
        </p:txBody>
      </p:sp>
      <p:sp>
        <p:nvSpPr>
          <p:cNvPr id="367" name="Google Shape;367;p13"/>
          <p:cNvSpPr/>
          <p:nvPr/>
        </p:nvSpPr>
        <p:spPr>
          <a:xfrm>
            <a:off x="1280160" y="3986784"/>
            <a:ext cx="72694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350"/>
              <a:buFont typeface="Calibri"/>
              <a:buNone/>
            </a:pPr>
            <a:r>
              <a:rPr lang="en-US" sz="1350" b="1" i="0" u="none" strike="noStrike" cap="none">
                <a:solidFill>
                  <a:srgbClr val="1E2761"/>
                </a:solidFill>
                <a:latin typeface="Calibri"/>
                <a:ea typeface="Calibri"/>
                <a:cs typeface="Calibri"/>
                <a:sym typeface="Calibri"/>
              </a:rPr>
              <a:t>Headcount report   </a:t>
            </a:r>
            <a:r>
              <a:rPr lang="en-US" sz="1150" b="0" i="0" u="none" strike="noStrike" cap="none">
                <a:solidFill>
                  <a:srgbClr val="23283F"/>
                </a:solidFill>
                <a:latin typeface="Calibri"/>
                <a:ea typeface="Calibri"/>
                <a:cs typeface="Calibri"/>
                <a:sym typeface="Calibri"/>
              </a:rPr>
              <a:t>Joiners, leavers &amp; roster changes flagged every run - an unknown name halts the pipeline until payroll confirms it</a:t>
            </a:r>
            <a:endParaRPr sz="1350" b="0" i="0" u="none" strike="noStrike" cap="none">
              <a:solidFill>
                <a:schemeClr val="dk1"/>
              </a:solidFill>
              <a:latin typeface="Calibri"/>
              <a:ea typeface="Calibri"/>
              <a:cs typeface="Calibri"/>
              <a:sym typeface="Calibri"/>
            </a:endParaRPr>
          </a:p>
        </p:txBody>
      </p:sp>
      <p:sp>
        <p:nvSpPr>
          <p:cNvPr id="368" name="Google Shape;368;p13"/>
          <p:cNvSpPr/>
          <p:nvPr/>
        </p:nvSpPr>
        <p:spPr>
          <a:xfrm>
            <a:off x="502920" y="4718304"/>
            <a:ext cx="8183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50"/>
              <a:buFont typeface="Calibri"/>
              <a:buNone/>
            </a:pPr>
            <a:r>
              <a:rPr lang="en-US" sz="1150" b="0" i="1" u="none" strike="noStrike" cap="none">
                <a:solidFill>
                  <a:srgbClr val="8F7115"/>
                </a:solidFill>
                <a:latin typeface="Calibri"/>
                <a:ea typeface="Calibri"/>
                <a:cs typeface="Calibri"/>
                <a:sym typeface="Calibri"/>
              </a:rPr>
              <a:t>Quick guess: how many checks run before handover? Debits = credits, JV = Gusto employer cost, zero formula errors - and a human still approves.</a:t>
            </a:r>
            <a:endParaRPr sz="1150" b="0" i="0" u="none" strike="noStrike" cap="none">
              <a:solidFill>
                <a:schemeClr val="dk1"/>
              </a:solidFill>
              <a:latin typeface="Calibri"/>
              <a:ea typeface="Calibri"/>
              <a:cs typeface="Calibri"/>
              <a:sym typeface="Calibri"/>
            </a:endParaRPr>
          </a:p>
        </p:txBody>
      </p:sp>
      <p:sp>
        <p:nvSpPr>
          <p:cNvPr id="369" name="Google Shape;369;p13"/>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
        <p:cNvGrpSpPr/>
        <p:nvPr/>
      </p:nvGrpSpPr>
      <p:grpSpPr>
        <a:xfrm>
          <a:off x="0" y="0"/>
          <a:ext cx="0" cy="0"/>
          <a:chOff x="0" y="0"/>
          <a:chExt cx="0" cy="0"/>
        </a:xfrm>
      </p:grpSpPr>
      <p:sp>
        <p:nvSpPr>
          <p:cNvPr id="82" name="Google Shape;82;p5"/>
          <p:cNvSpPr/>
          <p:nvPr/>
        </p:nvSpPr>
        <p:spPr>
          <a:xfrm>
            <a:off x="457200" y="384048"/>
            <a:ext cx="566928" cy="566928"/>
          </a:xfrm>
          <a:prstGeom prst="ellipse">
            <a:avLst/>
          </a:prstGeom>
          <a:solidFill>
            <a:srgbClr val="D63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 name="Google Shape;83;p5"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84" name="Google Shape;84;p5"/>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MEME BREAK</a:t>
            </a:r>
            <a:endParaRPr sz="1100" b="0" i="0" u="none" strike="noStrike" cap="none">
              <a:solidFill>
                <a:schemeClr val="dk1"/>
              </a:solidFill>
              <a:latin typeface="Calibri"/>
              <a:ea typeface="Calibri"/>
              <a:cs typeface="Calibri"/>
              <a:sym typeface="Calibri"/>
            </a:endParaRPr>
          </a:p>
        </p:txBody>
      </p:sp>
      <p:sp>
        <p:nvSpPr>
          <p:cNvPr id="85" name="Google Shape;85;p5"/>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Payroll Memes: Desi &amp; Universal Edition</a:t>
            </a:r>
            <a:endParaRPr sz="2900" b="0" i="0" u="none" strike="noStrike" cap="none">
              <a:solidFill>
                <a:schemeClr val="dk1"/>
              </a:solidFill>
              <a:latin typeface="Calibri"/>
              <a:ea typeface="Calibri"/>
              <a:cs typeface="Calibri"/>
              <a:sym typeface="Calibri"/>
            </a:endParaRPr>
          </a:p>
        </p:txBody>
      </p:sp>
      <p:sp>
        <p:nvSpPr>
          <p:cNvPr id="86" name="Google Shape;86;p5"/>
          <p:cNvSpPr/>
          <p:nvPr/>
        </p:nvSpPr>
        <p:spPr>
          <a:xfrm>
            <a:off x="502920" y="1481328"/>
            <a:ext cx="2633472" cy="1481328"/>
          </a:xfrm>
          <a:prstGeom prst="roundRect">
            <a:avLst>
              <a:gd name="adj" fmla="val 5556"/>
            </a:avLst>
          </a:prstGeom>
          <a:solidFill>
            <a:srgbClr val="FDF1E4"/>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649224" y="1609344"/>
            <a:ext cx="384048" cy="384048"/>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 name="Google Shape;88;p5" descr="preencoded.png"/>
          <p:cNvPicPr preferRelativeResize="0"/>
          <p:nvPr/>
        </p:nvPicPr>
        <p:blipFill rotWithShape="1">
          <a:blip r:embed="rId4">
            <a:alphaModFix/>
          </a:blip>
          <a:srcRect/>
          <a:stretch/>
        </p:blipFill>
        <p:spPr>
          <a:xfrm>
            <a:off x="745236" y="1705356"/>
            <a:ext cx="192024" cy="192024"/>
          </a:xfrm>
          <a:prstGeom prst="rect">
            <a:avLst/>
          </a:prstGeom>
          <a:noFill/>
          <a:ln>
            <a:noFill/>
          </a:ln>
        </p:spPr>
      </p:pic>
      <p:sp>
        <p:nvSpPr>
          <p:cNvPr id="89" name="Google Shape;89;p5"/>
          <p:cNvSpPr/>
          <p:nvPr/>
        </p:nvSpPr>
        <p:spPr>
          <a:xfrm>
            <a:off x="1143000" y="1609344"/>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67E22"/>
              </a:buClr>
              <a:buSzPts val="1300"/>
              <a:buFont typeface="Calibri"/>
              <a:buNone/>
            </a:pPr>
            <a:r>
              <a:rPr lang="en-US" sz="1300" b="1" i="0" u="none" strike="noStrike" cap="none">
                <a:solidFill>
                  <a:srgbClr val="E67E22"/>
                </a:solidFill>
                <a:latin typeface="Calibri"/>
                <a:ea typeface="Calibri"/>
                <a:cs typeface="Calibri"/>
                <a:sym typeface="Calibri"/>
              </a:rPr>
              <a:t>CTC vs in-hand</a:t>
            </a:r>
            <a:endParaRPr sz="1300" b="0" i="0" u="none" strike="noStrike" cap="none">
              <a:solidFill>
                <a:schemeClr val="dk1"/>
              </a:solidFill>
              <a:latin typeface="Calibri"/>
              <a:ea typeface="Calibri"/>
              <a:cs typeface="Calibri"/>
              <a:sym typeface="Calibri"/>
            </a:endParaRPr>
          </a:p>
        </p:txBody>
      </p:sp>
      <p:sp>
        <p:nvSpPr>
          <p:cNvPr id="90" name="Google Shape;90;p5"/>
          <p:cNvSpPr/>
          <p:nvPr/>
        </p:nvSpPr>
        <p:spPr>
          <a:xfrm>
            <a:off x="649224" y="2048256"/>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The original 'expectation vs reality' meme. Where does it all go? PF, gratuity, insurance, TDS... ask payroll - we genuinely love this question.</a:t>
            </a:r>
            <a:endParaRPr sz="1000" b="0" i="0" u="none" strike="noStrike" cap="none">
              <a:solidFill>
                <a:schemeClr val="dk1"/>
              </a:solidFill>
              <a:latin typeface="Calibri"/>
              <a:ea typeface="Calibri"/>
              <a:cs typeface="Calibri"/>
              <a:sym typeface="Calibri"/>
            </a:endParaRPr>
          </a:p>
        </p:txBody>
      </p:sp>
      <p:sp>
        <p:nvSpPr>
          <p:cNvPr id="91" name="Google Shape;91;p5"/>
          <p:cNvSpPr/>
          <p:nvPr/>
        </p:nvSpPr>
        <p:spPr>
          <a:xfrm>
            <a:off x="3319272" y="1481328"/>
            <a:ext cx="2633472" cy="1481328"/>
          </a:xfrm>
          <a:prstGeom prst="roundRect">
            <a:avLst>
              <a:gd name="adj" fmla="val 5556"/>
            </a:avLst>
          </a:prstGeom>
          <a:solidFill>
            <a:srgbClr val="FBF6E7"/>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3465576" y="1609344"/>
            <a:ext cx="384048" cy="384048"/>
          </a:xfrm>
          <a:prstGeom prst="ellipse">
            <a:avLst/>
          </a:prstGeom>
          <a:solidFill>
            <a:srgbClr val="C9A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 name="Google Shape;93;p5" descr="preencoded.png"/>
          <p:cNvPicPr preferRelativeResize="0"/>
          <p:nvPr/>
        </p:nvPicPr>
        <p:blipFill rotWithShape="1">
          <a:blip r:embed="rId5">
            <a:alphaModFix/>
          </a:blip>
          <a:srcRect/>
          <a:stretch/>
        </p:blipFill>
        <p:spPr>
          <a:xfrm>
            <a:off x="3561588" y="1705356"/>
            <a:ext cx="192024" cy="192024"/>
          </a:xfrm>
          <a:prstGeom prst="rect">
            <a:avLst/>
          </a:prstGeom>
          <a:noFill/>
          <a:ln>
            <a:noFill/>
          </a:ln>
        </p:spPr>
      </p:pic>
      <p:sp>
        <p:nvSpPr>
          <p:cNvPr id="94" name="Google Shape;94;p5"/>
          <p:cNvSpPr/>
          <p:nvPr/>
        </p:nvSpPr>
        <p:spPr>
          <a:xfrm>
            <a:off x="3959352" y="1609344"/>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300"/>
              <a:buFont typeface="Calibri"/>
              <a:buNone/>
            </a:pPr>
            <a:r>
              <a:rPr lang="en-US" sz="1300" b="1" i="0" u="none" strike="noStrike" cap="none">
                <a:solidFill>
                  <a:srgbClr val="8F7115"/>
                </a:solidFill>
                <a:latin typeface="Calibri"/>
                <a:ea typeface="Calibri"/>
                <a:cs typeface="Calibri"/>
                <a:sym typeface="Calibri"/>
              </a:rPr>
              <a:t>January panic</a:t>
            </a:r>
            <a:endParaRPr sz="1300" b="0" i="0" u="none" strike="noStrike" cap="none">
              <a:solidFill>
                <a:schemeClr val="dk1"/>
              </a:solidFill>
              <a:latin typeface="Calibri"/>
              <a:ea typeface="Calibri"/>
              <a:cs typeface="Calibri"/>
              <a:sym typeface="Calibri"/>
            </a:endParaRPr>
          </a:p>
        </p:txBody>
      </p:sp>
      <p:sp>
        <p:nvSpPr>
          <p:cNvPr id="95" name="Google Shape;95;p5"/>
          <p:cNvSpPr/>
          <p:nvPr/>
        </p:nvSpPr>
        <p:spPr>
          <a:xfrm>
            <a:off x="3465576" y="2048256"/>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Eleven months of 'I'll invest later', then one heroic week of rent receipts, ELSS and hunting for that one LIC PDF. Investment-proof season is a personality.</a:t>
            </a:r>
            <a:endParaRPr sz="1000" b="0" i="0" u="none" strike="noStrike" cap="none">
              <a:solidFill>
                <a:schemeClr val="dk1"/>
              </a:solidFill>
              <a:latin typeface="Calibri"/>
              <a:ea typeface="Calibri"/>
              <a:cs typeface="Calibri"/>
              <a:sym typeface="Calibri"/>
            </a:endParaRPr>
          </a:p>
        </p:txBody>
      </p:sp>
      <p:sp>
        <p:nvSpPr>
          <p:cNvPr id="96" name="Google Shape;96;p5"/>
          <p:cNvSpPr/>
          <p:nvPr/>
        </p:nvSpPr>
        <p:spPr>
          <a:xfrm>
            <a:off x="6135624" y="1481328"/>
            <a:ext cx="2633472" cy="1481328"/>
          </a:xfrm>
          <a:prstGeom prst="roundRect">
            <a:avLst>
              <a:gd name="adj" fmla="val 5556"/>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6281928" y="1609344"/>
            <a:ext cx="384048" cy="384048"/>
          </a:xfrm>
          <a:prstGeom prst="ellipse">
            <a:avLst/>
          </a:prstGeom>
          <a:solidFill>
            <a:srgbClr val="2E9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 name="Google Shape;98;p5" descr="preencoded.png"/>
          <p:cNvPicPr preferRelativeResize="0"/>
          <p:nvPr/>
        </p:nvPicPr>
        <p:blipFill rotWithShape="1">
          <a:blip r:embed="rId6">
            <a:alphaModFix/>
          </a:blip>
          <a:srcRect/>
          <a:stretch/>
        </p:blipFill>
        <p:spPr>
          <a:xfrm>
            <a:off x="6377940" y="1705356"/>
            <a:ext cx="192024" cy="192024"/>
          </a:xfrm>
          <a:prstGeom prst="rect">
            <a:avLst/>
          </a:prstGeom>
          <a:noFill/>
          <a:ln>
            <a:noFill/>
          </a:ln>
        </p:spPr>
      </p:pic>
      <p:sp>
        <p:nvSpPr>
          <p:cNvPr id="99" name="Google Shape;99;p5"/>
          <p:cNvSpPr/>
          <p:nvPr/>
        </p:nvSpPr>
        <p:spPr>
          <a:xfrm>
            <a:off x="6775704" y="1609344"/>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9E6B"/>
              </a:buClr>
              <a:buSzPts val="1300"/>
              <a:buFont typeface="Calibri"/>
              <a:buNone/>
            </a:pPr>
            <a:r>
              <a:rPr lang="en-US" sz="1300" b="1" i="0" u="none" strike="noStrike" cap="none">
                <a:solidFill>
                  <a:srgbClr val="2E9E6B"/>
                </a:solidFill>
                <a:latin typeface="Calibri"/>
                <a:ea typeface="Calibri"/>
                <a:cs typeface="Calibri"/>
                <a:sym typeface="Calibri"/>
              </a:rPr>
              <a:t>Form 16 day</a:t>
            </a:r>
            <a:endParaRPr sz="1300" b="0" i="0" u="none" strike="noStrike" cap="none">
              <a:solidFill>
                <a:schemeClr val="dk1"/>
              </a:solidFill>
              <a:latin typeface="Calibri"/>
              <a:ea typeface="Calibri"/>
              <a:cs typeface="Calibri"/>
              <a:sym typeface="Calibri"/>
            </a:endParaRPr>
          </a:p>
        </p:txBody>
      </p:sp>
      <p:sp>
        <p:nvSpPr>
          <p:cNvPr id="100" name="Google Shape;100;p5"/>
          <p:cNvSpPr/>
          <p:nvPr/>
        </p:nvSpPr>
        <p:spPr>
          <a:xfrm>
            <a:off x="6281928" y="2048256"/>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The only payroll email in history opened by 100% of recipients within 5 minutes of landing.</a:t>
            </a:r>
            <a:endParaRPr sz="1000" b="0" i="0" u="none" strike="noStrike" cap="none">
              <a:solidFill>
                <a:schemeClr val="dk1"/>
              </a:solidFill>
              <a:latin typeface="Calibri"/>
              <a:ea typeface="Calibri"/>
              <a:cs typeface="Calibri"/>
              <a:sym typeface="Calibri"/>
            </a:endParaRPr>
          </a:p>
        </p:txBody>
      </p:sp>
      <p:sp>
        <p:nvSpPr>
          <p:cNvPr id="101" name="Google Shape;101;p5"/>
          <p:cNvSpPr/>
          <p:nvPr/>
        </p:nvSpPr>
        <p:spPr>
          <a:xfrm>
            <a:off x="502920" y="3108960"/>
            <a:ext cx="2633472" cy="1481328"/>
          </a:xfrm>
          <a:prstGeom prst="roundRect">
            <a:avLst>
              <a:gd name="adj" fmla="val 5556"/>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649224" y="3236976"/>
            <a:ext cx="384048" cy="384048"/>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 name="Google Shape;103;p5" descr="preencoded.png"/>
          <p:cNvPicPr preferRelativeResize="0"/>
          <p:nvPr/>
        </p:nvPicPr>
        <p:blipFill rotWithShape="1">
          <a:blip r:embed="rId7">
            <a:alphaModFix/>
          </a:blip>
          <a:srcRect/>
          <a:stretch/>
        </p:blipFill>
        <p:spPr>
          <a:xfrm>
            <a:off x="745236" y="3332988"/>
            <a:ext cx="192024" cy="192024"/>
          </a:xfrm>
          <a:prstGeom prst="rect">
            <a:avLst/>
          </a:prstGeom>
          <a:noFill/>
          <a:ln>
            <a:noFill/>
          </a:ln>
        </p:spPr>
      </p:pic>
      <p:sp>
        <p:nvSpPr>
          <p:cNvPr id="104" name="Google Shape;104;p5"/>
          <p:cNvSpPr/>
          <p:nvPr/>
        </p:nvSpPr>
        <p:spPr>
          <a:xfrm>
            <a:off x="1143000" y="3236976"/>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Calibri"/>
              <a:buNone/>
            </a:pPr>
            <a:r>
              <a:rPr lang="en-US" sz="1300" b="1" i="0" u="none" strike="noStrike" cap="none">
                <a:solidFill>
                  <a:srgbClr val="028090"/>
                </a:solidFill>
                <a:latin typeface="Calibri"/>
                <a:ea typeface="Calibri"/>
                <a:cs typeface="Calibri"/>
                <a:sym typeface="Calibri"/>
              </a:rPr>
              <a:t>Nobody:</a:t>
            </a:r>
            <a:endParaRPr sz="1300" b="0" i="0" u="none" strike="noStrike" cap="none">
              <a:solidFill>
                <a:schemeClr val="dk1"/>
              </a:solidFill>
              <a:latin typeface="Calibri"/>
              <a:ea typeface="Calibri"/>
              <a:cs typeface="Calibri"/>
              <a:sym typeface="Calibri"/>
            </a:endParaRPr>
          </a:p>
        </p:txBody>
      </p:sp>
      <p:sp>
        <p:nvSpPr>
          <p:cNvPr id="105" name="Google Shape;105;p5"/>
          <p:cNvSpPr/>
          <p:nvPr/>
        </p:nvSpPr>
        <p:spPr>
          <a:xfrm>
            <a:off x="649224" y="3675888"/>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Absolutely nobody: ...  Payroll on cutoff day: 'Gentle reminder to approve before 6 pm.' There was nothing gentle about it.</a:t>
            </a:r>
            <a:endParaRPr sz="1000" b="0" i="0" u="none" strike="noStrike" cap="none">
              <a:solidFill>
                <a:schemeClr val="dk1"/>
              </a:solidFill>
              <a:latin typeface="Calibri"/>
              <a:ea typeface="Calibri"/>
              <a:cs typeface="Calibri"/>
              <a:sym typeface="Calibri"/>
            </a:endParaRPr>
          </a:p>
        </p:txBody>
      </p:sp>
      <p:sp>
        <p:nvSpPr>
          <p:cNvPr id="106" name="Google Shape;106;p5"/>
          <p:cNvSpPr/>
          <p:nvPr/>
        </p:nvSpPr>
        <p:spPr>
          <a:xfrm>
            <a:off x="3319272" y="3108960"/>
            <a:ext cx="2633472" cy="1481328"/>
          </a:xfrm>
          <a:prstGeom prst="roundRect">
            <a:avLst>
              <a:gd name="adj" fmla="val 5556"/>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3465576" y="3236976"/>
            <a:ext cx="384048" cy="384048"/>
          </a:xfrm>
          <a:prstGeom prst="ellipse">
            <a:avLst/>
          </a:prstGeom>
          <a:solidFill>
            <a:srgbClr val="6C4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8" name="Google Shape;108;p5" descr="preencoded.png"/>
          <p:cNvPicPr preferRelativeResize="0"/>
          <p:nvPr/>
        </p:nvPicPr>
        <p:blipFill rotWithShape="1">
          <a:blip r:embed="rId8">
            <a:alphaModFix/>
          </a:blip>
          <a:srcRect/>
          <a:stretch/>
        </p:blipFill>
        <p:spPr>
          <a:xfrm>
            <a:off x="3561588" y="3332988"/>
            <a:ext cx="192024" cy="192024"/>
          </a:xfrm>
          <a:prstGeom prst="rect">
            <a:avLst/>
          </a:prstGeom>
          <a:noFill/>
          <a:ln>
            <a:noFill/>
          </a:ln>
        </p:spPr>
      </p:pic>
      <p:sp>
        <p:nvSpPr>
          <p:cNvPr id="109" name="Google Shape;109;p5"/>
          <p:cNvSpPr/>
          <p:nvPr/>
        </p:nvSpPr>
        <p:spPr>
          <a:xfrm>
            <a:off x="3959352" y="3236976"/>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AB6"/>
              </a:buClr>
              <a:buSzPts val="1300"/>
              <a:buFont typeface="Calibri"/>
              <a:buNone/>
            </a:pPr>
            <a:r>
              <a:rPr lang="en-US" sz="1300" b="1" i="0" u="none" strike="noStrike" cap="none">
                <a:solidFill>
                  <a:srgbClr val="6C4AB6"/>
                </a:solidFill>
                <a:latin typeface="Calibri"/>
                <a:ea typeface="Calibri"/>
                <a:cs typeface="Calibri"/>
                <a:sym typeface="Calibri"/>
              </a:rPr>
              <a:t>'Quick question'</a:t>
            </a:r>
            <a:endParaRPr sz="1300" b="0" i="0" u="none" strike="noStrike" cap="none">
              <a:solidFill>
                <a:schemeClr val="dk1"/>
              </a:solidFill>
              <a:latin typeface="Calibri"/>
              <a:ea typeface="Calibri"/>
              <a:cs typeface="Calibri"/>
              <a:sym typeface="Calibri"/>
            </a:endParaRPr>
          </a:p>
        </p:txBody>
      </p:sp>
      <p:sp>
        <p:nvSpPr>
          <p:cNvPr id="110" name="Google Shape;110;p5"/>
          <p:cNvSpPr/>
          <p:nvPr/>
        </p:nvSpPr>
        <p:spPr>
          <a:xfrm>
            <a:off x="3465576" y="3675888"/>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'Quick question about my payslip' - a message that has never once, in recorded payroll history, been quick.</a:t>
            </a:r>
            <a:endParaRPr sz="1000" b="0" i="0" u="none" strike="noStrike" cap="none">
              <a:solidFill>
                <a:schemeClr val="dk1"/>
              </a:solidFill>
              <a:latin typeface="Calibri"/>
              <a:ea typeface="Calibri"/>
              <a:cs typeface="Calibri"/>
              <a:sym typeface="Calibri"/>
            </a:endParaRPr>
          </a:p>
        </p:txBody>
      </p:sp>
      <p:sp>
        <p:nvSpPr>
          <p:cNvPr id="111" name="Google Shape;111;p5"/>
          <p:cNvSpPr/>
          <p:nvPr/>
        </p:nvSpPr>
        <p:spPr>
          <a:xfrm>
            <a:off x="6135624" y="3108960"/>
            <a:ext cx="2633472" cy="1481328"/>
          </a:xfrm>
          <a:prstGeom prst="roundRect">
            <a:avLst>
              <a:gd name="adj" fmla="val 5556"/>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6281928" y="3236976"/>
            <a:ext cx="384048" cy="384048"/>
          </a:xfrm>
          <a:prstGeom prst="ellipse">
            <a:avLst/>
          </a:prstGeom>
          <a:solidFill>
            <a:srgbClr val="F9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 name="Google Shape;113;p5" descr="preencoded.png"/>
          <p:cNvPicPr preferRelativeResize="0"/>
          <p:nvPr/>
        </p:nvPicPr>
        <p:blipFill rotWithShape="1">
          <a:blip r:embed="rId9">
            <a:alphaModFix/>
          </a:blip>
          <a:srcRect/>
          <a:stretch/>
        </p:blipFill>
        <p:spPr>
          <a:xfrm>
            <a:off x="6377940" y="3332988"/>
            <a:ext cx="192024" cy="192024"/>
          </a:xfrm>
          <a:prstGeom prst="rect">
            <a:avLst/>
          </a:prstGeom>
          <a:noFill/>
          <a:ln>
            <a:noFill/>
          </a:ln>
        </p:spPr>
      </p:pic>
      <p:sp>
        <p:nvSpPr>
          <p:cNvPr id="114" name="Google Shape;114;p5"/>
          <p:cNvSpPr/>
          <p:nvPr/>
        </p:nvSpPr>
        <p:spPr>
          <a:xfrm>
            <a:off x="6775704" y="3236976"/>
            <a:ext cx="18745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6167"/>
              </a:buClr>
              <a:buSzPts val="1300"/>
              <a:buFont typeface="Calibri"/>
              <a:buNone/>
            </a:pPr>
            <a:r>
              <a:rPr lang="en-US" sz="1300" b="1" i="0" u="none" strike="noStrike" cap="none">
                <a:solidFill>
                  <a:srgbClr val="F96167"/>
                </a:solidFill>
                <a:latin typeface="Calibri"/>
                <a:ea typeface="Calibri"/>
                <a:cs typeface="Calibri"/>
                <a:sym typeface="Calibri"/>
              </a:rPr>
              <a:t>URGENT, 5:59 pm</a:t>
            </a:r>
            <a:endParaRPr sz="1300" b="0" i="0" u="none" strike="noStrike" cap="none">
              <a:solidFill>
                <a:schemeClr val="dk1"/>
              </a:solidFill>
              <a:latin typeface="Calibri"/>
              <a:ea typeface="Calibri"/>
              <a:cs typeface="Calibri"/>
              <a:sym typeface="Calibri"/>
            </a:endParaRPr>
          </a:p>
        </p:txBody>
      </p:sp>
      <p:sp>
        <p:nvSpPr>
          <p:cNvPr id="115" name="Google Shape;115;p5"/>
          <p:cNvSpPr/>
          <p:nvPr/>
        </p:nvSpPr>
        <p:spPr>
          <a:xfrm>
            <a:off x="6281928" y="3675888"/>
            <a:ext cx="2359152" cy="8595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00"/>
              <a:buFont typeface="Calibri"/>
              <a:buNone/>
            </a:pPr>
            <a:r>
              <a:rPr lang="en-US" sz="1000" b="0" i="0" u="none" strike="noStrike" cap="none">
                <a:solidFill>
                  <a:srgbClr val="23283F"/>
                </a:solidFill>
                <a:latin typeface="Calibri"/>
                <a:ea typeface="Calibri"/>
                <a:cs typeface="Calibri"/>
                <a:sym typeface="Calibri"/>
              </a:rPr>
              <a:t>Every payroll horror story begins the same way: an email marked URGENT, one minute before cutoff.</a:t>
            </a:r>
            <a:endParaRPr sz="1000" b="0" i="0" u="none" strike="noStrike" cap="none">
              <a:solidFill>
                <a:schemeClr val="dk1"/>
              </a:solidFill>
              <a:latin typeface="Calibri"/>
              <a:ea typeface="Calibri"/>
              <a:cs typeface="Calibri"/>
              <a:sym typeface="Calibri"/>
            </a:endParaRPr>
          </a:p>
        </p:txBody>
      </p:sp>
      <p:sp>
        <p:nvSpPr>
          <p:cNvPr id="116" name="Google Shape;116;p5"/>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4"/>
        <p:cNvGrpSpPr/>
        <p:nvPr/>
      </p:nvGrpSpPr>
      <p:grpSpPr>
        <a:xfrm>
          <a:off x="0" y="0"/>
          <a:ext cx="0" cy="0"/>
          <a:chOff x="0" y="0"/>
          <a:chExt cx="0" cy="0"/>
        </a:xfrm>
      </p:grpSpPr>
      <p:sp>
        <p:nvSpPr>
          <p:cNvPr id="375" name="Google Shape;375;p14"/>
          <p:cNvSpPr/>
          <p:nvPr/>
        </p:nvSpPr>
        <p:spPr>
          <a:xfrm>
            <a:off x="457200" y="384048"/>
            <a:ext cx="566928" cy="566928"/>
          </a:xfrm>
          <a:prstGeom prst="ellipse">
            <a:avLst/>
          </a:prstGeom>
          <a:solidFill>
            <a:srgbClr val="E67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6" name="Google Shape;376;p14" descr="preencoded.png"/>
          <p:cNvPicPr preferRelativeResize="0"/>
          <p:nvPr/>
        </p:nvPicPr>
        <p:blipFill rotWithShape="1">
          <a:blip r:embed="rId3">
            <a:alphaModFix/>
          </a:blip>
          <a:srcRect/>
          <a:stretch/>
        </p:blipFill>
        <p:spPr>
          <a:xfrm>
            <a:off x="598932" y="525780"/>
            <a:ext cx="283464" cy="283464"/>
          </a:xfrm>
          <a:prstGeom prst="rect">
            <a:avLst/>
          </a:prstGeom>
          <a:noFill/>
          <a:ln>
            <a:noFill/>
          </a:ln>
        </p:spPr>
      </p:pic>
      <p:sp>
        <p:nvSpPr>
          <p:cNvPr id="377" name="Google Shape;377;p14"/>
          <p:cNvSpPr/>
          <p:nvPr/>
        </p:nvSpPr>
        <p:spPr>
          <a:xfrm>
            <a:off x="1207008" y="329184"/>
            <a:ext cx="7406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7115"/>
              </a:buClr>
              <a:buSzPts val="1100"/>
              <a:buFont typeface="Calibri"/>
              <a:buNone/>
            </a:pPr>
            <a:r>
              <a:rPr lang="en-US" sz="1100" b="1" i="0" u="none" strike="noStrike" cap="none">
                <a:solidFill>
                  <a:srgbClr val="8F7115"/>
                </a:solidFill>
                <a:latin typeface="Calibri"/>
                <a:ea typeface="Calibri"/>
                <a:cs typeface="Calibri"/>
                <a:sym typeface="Calibri"/>
              </a:rPr>
              <a:t>GAME TIME · PAYROLL BINGO</a:t>
            </a:r>
            <a:endParaRPr sz="1100" b="0" i="0" u="none" strike="noStrike" cap="none">
              <a:solidFill>
                <a:schemeClr val="dk1"/>
              </a:solidFill>
              <a:latin typeface="Calibri"/>
              <a:ea typeface="Calibri"/>
              <a:cs typeface="Calibri"/>
              <a:sym typeface="Calibri"/>
            </a:endParaRPr>
          </a:p>
        </p:txBody>
      </p:sp>
      <p:sp>
        <p:nvSpPr>
          <p:cNvPr id="378" name="Google Shape;378;p14"/>
          <p:cNvSpPr/>
          <p:nvPr/>
        </p:nvSpPr>
        <p:spPr>
          <a:xfrm>
            <a:off x="1207008" y="566928"/>
            <a:ext cx="7498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2900"/>
              <a:buFont typeface="Cambria"/>
              <a:buNone/>
            </a:pPr>
            <a:r>
              <a:rPr lang="en-US" sz="2900" b="1" i="0" u="none" strike="noStrike" cap="none">
                <a:solidFill>
                  <a:srgbClr val="1E2761"/>
                </a:solidFill>
                <a:latin typeface="Cambria"/>
                <a:ea typeface="Cambria"/>
                <a:cs typeface="Cambria"/>
                <a:sym typeface="Cambria"/>
              </a:rPr>
              <a:t>Raise a Hand for Every Square You Score</a:t>
            </a:r>
            <a:endParaRPr sz="2900" b="0" i="0" u="none" strike="noStrike" cap="none">
              <a:solidFill>
                <a:schemeClr val="dk1"/>
              </a:solidFill>
              <a:latin typeface="Calibri"/>
              <a:ea typeface="Calibri"/>
              <a:cs typeface="Calibri"/>
              <a:sym typeface="Calibri"/>
            </a:endParaRPr>
          </a:p>
        </p:txBody>
      </p:sp>
      <p:sp>
        <p:nvSpPr>
          <p:cNvPr id="379" name="Google Shape;379;p14"/>
          <p:cNvSpPr/>
          <p:nvPr/>
        </p:nvSpPr>
        <p:spPr>
          <a:xfrm>
            <a:off x="502920" y="1481328"/>
            <a:ext cx="2633472" cy="1426464"/>
          </a:xfrm>
          <a:prstGeom prst="roundRect">
            <a:avLst>
              <a:gd name="adj" fmla="val 5769"/>
            </a:avLst>
          </a:prstGeom>
          <a:solidFill>
            <a:srgbClr val="E6F4F5"/>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4"/>
          <p:cNvSpPr/>
          <p:nvPr/>
        </p:nvSpPr>
        <p:spPr>
          <a:xfrm>
            <a:off x="658368" y="1600200"/>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28090"/>
              </a:buClr>
              <a:buSzPts val="1250"/>
              <a:buFont typeface="Calibri"/>
              <a:buNone/>
            </a:pPr>
            <a:r>
              <a:rPr lang="en-US" sz="1250" b="1" i="0" u="none" strike="noStrike" cap="none">
                <a:solidFill>
                  <a:srgbClr val="028090"/>
                </a:solidFill>
                <a:latin typeface="Calibri"/>
                <a:ea typeface="Calibri"/>
                <a:cs typeface="Calibri"/>
                <a:sym typeface="Calibri"/>
              </a:rPr>
              <a:t>After the cutoff</a:t>
            </a:r>
            <a:endParaRPr sz="1250" b="0" i="0" u="none" strike="noStrike" cap="none">
              <a:solidFill>
                <a:schemeClr val="dk1"/>
              </a:solidFill>
              <a:latin typeface="Calibri"/>
              <a:ea typeface="Calibri"/>
              <a:cs typeface="Calibri"/>
              <a:sym typeface="Calibri"/>
            </a:endParaRPr>
          </a:p>
        </p:txBody>
      </p:sp>
      <p:sp>
        <p:nvSpPr>
          <p:cNvPr id="381" name="Google Shape;381;p14"/>
          <p:cNvSpPr/>
          <p:nvPr/>
        </p:nvSpPr>
        <p:spPr>
          <a:xfrm>
            <a:off x="658368" y="2048256"/>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Submitted an expense or input after the deadline - with URGENT in the subject line.</a:t>
            </a:r>
            <a:endParaRPr sz="1050" b="0" i="0" u="none" strike="noStrike" cap="none">
              <a:solidFill>
                <a:schemeClr val="dk1"/>
              </a:solidFill>
              <a:latin typeface="Calibri"/>
              <a:ea typeface="Calibri"/>
              <a:cs typeface="Calibri"/>
              <a:sym typeface="Calibri"/>
            </a:endParaRPr>
          </a:p>
        </p:txBody>
      </p:sp>
      <p:sp>
        <p:nvSpPr>
          <p:cNvPr id="382" name="Google Shape;382;p14"/>
          <p:cNvSpPr/>
          <p:nvPr/>
        </p:nvSpPr>
        <p:spPr>
          <a:xfrm>
            <a:off x="3319272" y="1481328"/>
            <a:ext cx="2633472" cy="1426464"/>
          </a:xfrm>
          <a:prstGeom prst="roundRect">
            <a:avLst>
              <a:gd name="adj" fmla="val 5769"/>
            </a:avLst>
          </a:prstGeom>
          <a:solidFill>
            <a:srgbClr val="FEEFEF"/>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4"/>
          <p:cNvSpPr/>
          <p:nvPr/>
        </p:nvSpPr>
        <p:spPr>
          <a:xfrm>
            <a:off x="3474720" y="1600200"/>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96167"/>
              </a:buClr>
              <a:buSzPts val="1250"/>
              <a:buFont typeface="Calibri"/>
              <a:buNone/>
            </a:pPr>
            <a:r>
              <a:rPr lang="en-US" sz="1250" b="1" i="0" u="none" strike="noStrike" cap="none">
                <a:solidFill>
                  <a:srgbClr val="F96167"/>
                </a:solidFill>
                <a:latin typeface="Calibri"/>
                <a:ea typeface="Calibri"/>
                <a:cs typeface="Calibri"/>
                <a:sym typeface="Calibri"/>
              </a:rPr>
              <a:t>Is it payday yet?</a:t>
            </a:r>
            <a:endParaRPr sz="1250" b="0" i="0" u="none" strike="noStrike" cap="none">
              <a:solidFill>
                <a:schemeClr val="dk1"/>
              </a:solidFill>
              <a:latin typeface="Calibri"/>
              <a:ea typeface="Calibri"/>
              <a:cs typeface="Calibri"/>
              <a:sym typeface="Calibri"/>
            </a:endParaRPr>
          </a:p>
        </p:txBody>
      </p:sp>
      <p:sp>
        <p:nvSpPr>
          <p:cNvPr id="384" name="Google Shape;384;p14"/>
          <p:cNvSpPr/>
          <p:nvPr/>
        </p:nvSpPr>
        <p:spPr>
          <a:xfrm>
            <a:off x="3474720" y="2048256"/>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Asked this before the 20th of the month. Bonus point if you asked payroll directly.</a:t>
            </a:r>
            <a:endParaRPr sz="1050" b="0" i="0" u="none" strike="noStrike" cap="none">
              <a:solidFill>
                <a:schemeClr val="dk1"/>
              </a:solidFill>
              <a:latin typeface="Calibri"/>
              <a:ea typeface="Calibri"/>
              <a:cs typeface="Calibri"/>
              <a:sym typeface="Calibri"/>
            </a:endParaRPr>
          </a:p>
        </p:txBody>
      </p:sp>
      <p:sp>
        <p:nvSpPr>
          <p:cNvPr id="385" name="Google Shape;385;p14"/>
          <p:cNvSpPr/>
          <p:nvPr/>
        </p:nvSpPr>
        <p:spPr>
          <a:xfrm>
            <a:off x="6135624" y="1481328"/>
            <a:ext cx="2633472" cy="1426464"/>
          </a:xfrm>
          <a:prstGeom prst="roundRect">
            <a:avLst>
              <a:gd name="adj" fmla="val 5769"/>
            </a:avLst>
          </a:prstGeom>
          <a:solidFill>
            <a:srgbClr val="F0EBFA"/>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4"/>
          <p:cNvSpPr/>
          <p:nvPr/>
        </p:nvSpPr>
        <p:spPr>
          <a:xfrm>
            <a:off x="6291072" y="1600200"/>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C4AB6"/>
              </a:buClr>
              <a:buSzPts val="1250"/>
              <a:buFont typeface="Calibri"/>
              <a:buNone/>
            </a:pPr>
            <a:r>
              <a:rPr lang="en-US" sz="1250" b="1" i="0" u="none" strike="noStrike" cap="none">
                <a:solidFill>
                  <a:srgbClr val="6C4AB6"/>
                </a:solidFill>
                <a:latin typeface="Calibri"/>
                <a:ea typeface="Calibri"/>
                <a:cs typeface="Calibri"/>
                <a:sym typeface="Calibri"/>
              </a:rPr>
              <a:t>The blurry screenshot</a:t>
            </a:r>
            <a:endParaRPr sz="1250" b="0" i="0" u="none" strike="noStrike" cap="none">
              <a:solidFill>
                <a:schemeClr val="dk1"/>
              </a:solidFill>
              <a:latin typeface="Calibri"/>
              <a:ea typeface="Calibri"/>
              <a:cs typeface="Calibri"/>
              <a:sym typeface="Calibri"/>
            </a:endParaRPr>
          </a:p>
        </p:txBody>
      </p:sp>
      <p:sp>
        <p:nvSpPr>
          <p:cNvPr id="387" name="Google Shape;387;p14"/>
          <p:cNvSpPr/>
          <p:nvPr/>
        </p:nvSpPr>
        <p:spPr>
          <a:xfrm>
            <a:off x="6291072" y="2048256"/>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Sent your bank details as a photo of a screen. Of another photo.</a:t>
            </a:r>
            <a:endParaRPr sz="1050" b="0" i="0" u="none" strike="noStrike" cap="none">
              <a:solidFill>
                <a:schemeClr val="dk1"/>
              </a:solidFill>
              <a:latin typeface="Calibri"/>
              <a:ea typeface="Calibri"/>
              <a:cs typeface="Calibri"/>
              <a:sym typeface="Calibri"/>
            </a:endParaRPr>
          </a:p>
        </p:txBody>
      </p:sp>
      <p:sp>
        <p:nvSpPr>
          <p:cNvPr id="388" name="Google Shape;388;p14"/>
          <p:cNvSpPr/>
          <p:nvPr/>
        </p:nvSpPr>
        <p:spPr>
          <a:xfrm>
            <a:off x="502920" y="3054096"/>
            <a:ext cx="2633472" cy="1426464"/>
          </a:xfrm>
          <a:prstGeom prst="roundRect">
            <a:avLst>
              <a:gd name="adj" fmla="val 5769"/>
            </a:avLst>
          </a:prstGeom>
          <a:solidFill>
            <a:srgbClr val="EAF6F0"/>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4"/>
          <p:cNvSpPr/>
          <p:nvPr/>
        </p:nvSpPr>
        <p:spPr>
          <a:xfrm>
            <a:off x="658368" y="3172968"/>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E9E6B"/>
              </a:buClr>
              <a:buSzPts val="1250"/>
              <a:buFont typeface="Calibri"/>
              <a:buNone/>
            </a:pPr>
            <a:r>
              <a:rPr lang="en-US" sz="1250" b="1" i="0" u="none" strike="noStrike" cap="none">
                <a:solidFill>
                  <a:srgbClr val="2E9E6B"/>
                </a:solidFill>
                <a:latin typeface="Calibri"/>
                <a:ea typeface="Calibri"/>
                <a:cs typeface="Calibri"/>
                <a:sym typeface="Calibri"/>
              </a:rPr>
              <a:t>One-number reader</a:t>
            </a:r>
            <a:endParaRPr sz="1250" b="0" i="0" u="none" strike="noStrike" cap="none">
              <a:solidFill>
                <a:schemeClr val="dk1"/>
              </a:solidFill>
              <a:latin typeface="Calibri"/>
              <a:ea typeface="Calibri"/>
              <a:cs typeface="Calibri"/>
              <a:sym typeface="Calibri"/>
            </a:endParaRPr>
          </a:p>
        </p:txBody>
      </p:sp>
      <p:sp>
        <p:nvSpPr>
          <p:cNvPr id="390" name="Google Shape;390;p14"/>
          <p:cNvSpPr/>
          <p:nvPr/>
        </p:nvSpPr>
        <p:spPr>
          <a:xfrm>
            <a:off x="658368" y="3621024"/>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Opened the payslip, checked exactly one number, closed it forever.</a:t>
            </a:r>
            <a:endParaRPr sz="1050" b="0" i="0" u="none" strike="noStrike" cap="none">
              <a:solidFill>
                <a:schemeClr val="dk1"/>
              </a:solidFill>
              <a:latin typeface="Calibri"/>
              <a:ea typeface="Calibri"/>
              <a:cs typeface="Calibri"/>
              <a:sym typeface="Calibri"/>
            </a:endParaRPr>
          </a:p>
        </p:txBody>
      </p:sp>
      <p:sp>
        <p:nvSpPr>
          <p:cNvPr id="391" name="Google Shape;391;p14"/>
          <p:cNvSpPr/>
          <p:nvPr/>
        </p:nvSpPr>
        <p:spPr>
          <a:xfrm>
            <a:off x="3319272" y="3054096"/>
            <a:ext cx="2633472" cy="1426464"/>
          </a:xfrm>
          <a:prstGeom prst="roundRect">
            <a:avLst>
              <a:gd name="adj" fmla="val 5769"/>
            </a:avLst>
          </a:prstGeom>
          <a:solidFill>
            <a:srgbClr val="FDF1E4"/>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4"/>
          <p:cNvSpPr/>
          <p:nvPr/>
        </p:nvSpPr>
        <p:spPr>
          <a:xfrm>
            <a:off x="3474720" y="3172968"/>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67E22"/>
              </a:buClr>
              <a:buSzPts val="1250"/>
              <a:buFont typeface="Calibri"/>
              <a:buNone/>
            </a:pPr>
            <a:r>
              <a:rPr lang="en-US" sz="1250" b="1" i="0" u="none" strike="noStrike" cap="none">
                <a:solidFill>
                  <a:srgbClr val="E67E22"/>
                </a:solidFill>
                <a:latin typeface="Calibri"/>
                <a:ea typeface="Calibri"/>
                <a:cs typeface="Calibri"/>
                <a:sym typeface="Calibri"/>
              </a:rPr>
              <a:t>Midnight calculator</a:t>
            </a:r>
            <a:endParaRPr sz="1250" b="0" i="0" u="none" strike="noStrike" cap="none">
              <a:solidFill>
                <a:schemeClr val="dk1"/>
              </a:solidFill>
              <a:latin typeface="Calibri"/>
              <a:ea typeface="Calibri"/>
              <a:cs typeface="Calibri"/>
              <a:sym typeface="Calibri"/>
            </a:endParaRPr>
          </a:p>
        </p:txBody>
      </p:sp>
      <p:sp>
        <p:nvSpPr>
          <p:cNvPr id="393" name="Google Shape;393;p14"/>
          <p:cNvSpPr/>
          <p:nvPr/>
        </p:nvSpPr>
        <p:spPr>
          <a:xfrm>
            <a:off x="3474720" y="3621024"/>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Googled 'CTC vs in-hand calculator' at least once in your life. Twice in January.</a:t>
            </a:r>
            <a:endParaRPr sz="1050" b="0" i="0" u="none" strike="noStrike" cap="none">
              <a:solidFill>
                <a:schemeClr val="dk1"/>
              </a:solidFill>
              <a:latin typeface="Calibri"/>
              <a:ea typeface="Calibri"/>
              <a:cs typeface="Calibri"/>
              <a:sym typeface="Calibri"/>
            </a:endParaRPr>
          </a:p>
        </p:txBody>
      </p:sp>
      <p:sp>
        <p:nvSpPr>
          <p:cNvPr id="394" name="Google Shape;394;p14"/>
          <p:cNvSpPr/>
          <p:nvPr/>
        </p:nvSpPr>
        <p:spPr>
          <a:xfrm>
            <a:off x="6135624" y="3054096"/>
            <a:ext cx="2633472" cy="1426464"/>
          </a:xfrm>
          <a:prstGeom prst="roundRect">
            <a:avLst>
              <a:gd name="adj" fmla="val 5769"/>
            </a:avLst>
          </a:prstGeom>
          <a:solidFill>
            <a:srgbClr val="FBEAF2"/>
          </a:solidFill>
          <a:ln>
            <a:noFill/>
          </a:ln>
          <a:effectLst>
            <a:outerShdw blurRad="88900" dist="25400" dir="2700000" algn="bl" rotWithShape="0">
              <a:srgbClr val="000000">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4"/>
          <p:cNvSpPr/>
          <p:nvPr/>
        </p:nvSpPr>
        <p:spPr>
          <a:xfrm>
            <a:off x="6291072" y="3172968"/>
            <a:ext cx="2340864" cy="4754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63384"/>
              </a:buClr>
              <a:buSzPts val="1250"/>
              <a:buFont typeface="Calibri"/>
              <a:buNone/>
            </a:pPr>
            <a:r>
              <a:rPr lang="en-US" sz="1250" b="1" i="0" u="none" strike="noStrike" cap="none">
                <a:solidFill>
                  <a:srgbClr val="D63384"/>
                </a:solidFill>
                <a:latin typeface="Calibri"/>
                <a:ea typeface="Calibri"/>
                <a:cs typeface="Calibri"/>
                <a:sym typeface="Calibri"/>
              </a:rPr>
              <a:t>Reply after deadline</a:t>
            </a:r>
            <a:endParaRPr sz="1250" b="0" i="0" u="none" strike="noStrike" cap="none">
              <a:solidFill>
                <a:schemeClr val="dk1"/>
              </a:solidFill>
              <a:latin typeface="Calibri"/>
              <a:ea typeface="Calibri"/>
              <a:cs typeface="Calibri"/>
              <a:sym typeface="Calibri"/>
            </a:endParaRPr>
          </a:p>
        </p:txBody>
      </p:sp>
      <p:sp>
        <p:nvSpPr>
          <p:cNvPr id="396" name="Google Shape;396;p14"/>
          <p:cNvSpPr/>
          <p:nvPr/>
        </p:nvSpPr>
        <p:spPr>
          <a:xfrm>
            <a:off x="6291072" y="3621024"/>
            <a:ext cx="2340864"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3283F"/>
              </a:buClr>
              <a:buSzPts val="1050"/>
              <a:buFont typeface="Calibri"/>
              <a:buNone/>
            </a:pPr>
            <a:r>
              <a:rPr lang="en-US" sz="1050" b="0" i="0" u="none" strike="noStrike" cap="none">
                <a:solidFill>
                  <a:srgbClr val="23283F"/>
                </a:solidFill>
                <a:latin typeface="Calibri"/>
                <a:ea typeface="Calibri"/>
                <a:cs typeface="Calibri"/>
                <a:sym typeface="Calibri"/>
              </a:rPr>
              <a:t>Replied to a payroll deadline reminder... after the deadline it was reminding you about.</a:t>
            </a:r>
            <a:endParaRPr sz="1050" b="0" i="0" u="none" strike="noStrike" cap="none">
              <a:solidFill>
                <a:schemeClr val="dk1"/>
              </a:solidFill>
              <a:latin typeface="Calibri"/>
              <a:ea typeface="Calibri"/>
              <a:cs typeface="Calibri"/>
              <a:sym typeface="Calibri"/>
            </a:endParaRPr>
          </a:p>
        </p:txBody>
      </p:sp>
      <p:sp>
        <p:nvSpPr>
          <p:cNvPr id="397" name="Google Shape;397;p14"/>
          <p:cNvSpPr/>
          <p:nvPr/>
        </p:nvSpPr>
        <p:spPr>
          <a:xfrm>
            <a:off x="8641080" y="4773168"/>
            <a:ext cx="365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F6785"/>
              </a:buClr>
              <a:buSzPts val="1000"/>
              <a:buFont typeface="Calibri"/>
              <a:buNone/>
            </a:pPr>
            <a:r>
              <a:rPr lang="en-US" sz="1000" b="0" i="0" u="none" strike="noStrike" cap="none">
                <a:solidFill>
                  <a:srgbClr val="5F6785"/>
                </a:solidFill>
                <a:latin typeface="Calibri"/>
                <a:ea typeface="Calibri"/>
                <a:cs typeface="Calibri"/>
                <a:sym typeface="Calibri"/>
              </a:rPr>
              <a:t>15</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2500</Words>
  <Application>Microsoft Office PowerPoint</Application>
  <PresentationFormat>On-screen Show (16:9)</PresentationFormat>
  <Paragraphs>279</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Prabha Gupta</cp:lastModifiedBy>
  <cp:revision>1</cp:revision>
  <dcterms:modified xsi:type="dcterms:W3CDTF">2026-07-14T08:46:40Z</dcterms:modified>
</cp:coreProperties>
</file>